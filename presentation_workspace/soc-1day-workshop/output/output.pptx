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6fabc63634b73" /><Relationship Type="http://schemas.openxmlformats.org/officeDocument/2006/relationships/extended-properties" Target="/docProps/app.xml" Id="R49288c8c7dc84d21" /><Relationship Type="http://schemas.openxmlformats.org/officeDocument/2006/relationships/officeDocument" Target="/ppt/presentation.xml" Id="Rd65e94888bf148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8cdc900014988"/>
  </p:sldMasterIdLst>
  <p:notesMasterIdLst>
    <p:notesMasterId xmlns:r="http://schemas.openxmlformats.org/officeDocument/2006/relationships" r:id="R283af13108f940a6"/>
  </p:notesMasterIdLst>
  <p:sldIdLst>
    <p:sldId xmlns:r="http://schemas.openxmlformats.org/officeDocument/2006/relationships" id="256" r:id="R7805be9d2629459d"/>
    <p:sldId xmlns:r="http://schemas.openxmlformats.org/officeDocument/2006/relationships" id="257" r:id="R9b84aa0791904456"/>
    <p:sldId xmlns:r="http://schemas.openxmlformats.org/officeDocument/2006/relationships" id="258" r:id="R781c3c1e6d8d4a5c"/>
    <p:sldId xmlns:r="http://schemas.openxmlformats.org/officeDocument/2006/relationships" id="259" r:id="Rf716772865604d43"/>
    <p:sldId xmlns:r="http://schemas.openxmlformats.org/officeDocument/2006/relationships" id="260" r:id="R9b9a9658cfb54e64"/>
    <p:sldId xmlns:r="http://schemas.openxmlformats.org/officeDocument/2006/relationships" id="261" r:id="R2ee845aeb41f4bf0"/>
    <p:sldId xmlns:r="http://schemas.openxmlformats.org/officeDocument/2006/relationships" id="262" r:id="Rbb34aca8a75c479f"/>
    <p:sldId xmlns:r="http://schemas.openxmlformats.org/officeDocument/2006/relationships" id="263" r:id="R6ab52914837e40d5"/>
    <p:sldId xmlns:r="http://schemas.openxmlformats.org/officeDocument/2006/relationships" id="264" r:id="R1c5698aba3984cc3"/>
    <p:sldId xmlns:r="http://schemas.openxmlformats.org/officeDocument/2006/relationships" id="265" r:id="R80ee5ba3f443496d"/>
    <p:sldId xmlns:r="http://schemas.openxmlformats.org/officeDocument/2006/relationships" id="266" r:id="R06dd28652e4a490e"/>
    <p:sldId xmlns:r="http://schemas.openxmlformats.org/officeDocument/2006/relationships" id="267" r:id="R493597991a824ce5"/>
    <p:sldId xmlns:r="http://schemas.openxmlformats.org/officeDocument/2006/relationships" id="268" r:id="R8d29617e9dc14cae"/>
    <p:sldId xmlns:r="http://schemas.openxmlformats.org/officeDocument/2006/relationships" id="269" r:id="Rab334b9eca7b4f13"/>
    <p:sldId xmlns:r="http://schemas.openxmlformats.org/officeDocument/2006/relationships" id="270" r:id="Rfd900af1b79945e1"/>
    <p:sldId xmlns:r="http://schemas.openxmlformats.org/officeDocument/2006/relationships" id="271" r:id="R51d3a67a3dbd4e45"/>
    <p:sldId xmlns:r="http://schemas.openxmlformats.org/officeDocument/2006/relationships" id="272" r:id="Rd79af524cca14a6f"/>
    <p:sldId xmlns:r="http://schemas.openxmlformats.org/officeDocument/2006/relationships" id="273" r:id="R7be9482464fa42e5"/>
    <p:sldId xmlns:r="http://schemas.openxmlformats.org/officeDocument/2006/relationships" id="274" r:id="R2acfb4bc4f744e0d"/>
    <p:sldId xmlns:r="http://schemas.openxmlformats.org/officeDocument/2006/relationships" id="275" r:id="R09a528130f574bb5"/>
    <p:sldId xmlns:r="http://schemas.openxmlformats.org/officeDocument/2006/relationships" id="276" r:id="Raaca05175e824e2f"/>
    <p:sldId xmlns:r="http://schemas.openxmlformats.org/officeDocument/2006/relationships" id="277" r:id="Rfd506c2fccb9420e"/>
    <p:sldId xmlns:r="http://schemas.openxmlformats.org/officeDocument/2006/relationships" id="278" r:id="Rec33350c02274022"/>
    <p:sldId xmlns:r="http://schemas.openxmlformats.org/officeDocument/2006/relationships" id="279" r:id="Rea7b744b6f594311"/>
    <p:sldId xmlns:r="http://schemas.openxmlformats.org/officeDocument/2006/relationships" id="280" r:id="R36b2380d4bdd4745"/>
    <p:sldId xmlns:r="http://schemas.openxmlformats.org/officeDocument/2006/relationships" id="281" r:id="R11b1722f48fa4a4c"/>
    <p:sldId xmlns:r="http://schemas.openxmlformats.org/officeDocument/2006/relationships" id="282" r:id="R87d7b6cac7f84869"/>
    <p:sldId xmlns:r="http://schemas.openxmlformats.org/officeDocument/2006/relationships" id="283" r:id="R65e763bae58841ea"/>
    <p:sldId xmlns:r="http://schemas.openxmlformats.org/officeDocument/2006/relationships" id="284" r:id="Re048ee116e5c4804"/>
    <p:sldId xmlns:r="http://schemas.openxmlformats.org/officeDocument/2006/relationships" id="285" r:id="R6324097b7fe942a4"/>
    <p:sldId xmlns:r="http://schemas.openxmlformats.org/officeDocument/2006/relationships" id="286" r:id="Ra0666c0650544729"/>
    <p:sldId xmlns:r="http://schemas.openxmlformats.org/officeDocument/2006/relationships" id="287" r:id="R885b062803024ccf"/>
    <p:sldId xmlns:r="http://schemas.openxmlformats.org/officeDocument/2006/relationships" id="288" r:id="Rc06d6055fa0d4e2e"/>
    <p:sldId xmlns:r="http://schemas.openxmlformats.org/officeDocument/2006/relationships" id="289" r:id="Re155fe36655c48f2"/>
    <p:sldId xmlns:r="http://schemas.openxmlformats.org/officeDocument/2006/relationships" id="290" r:id="R4a2d91b12c7d41d3"/>
    <p:sldId xmlns:r="http://schemas.openxmlformats.org/officeDocument/2006/relationships" id="291" r:id="Rfbec570e80854273"/>
    <p:sldId xmlns:r="http://schemas.openxmlformats.org/officeDocument/2006/relationships" id="292" r:id="Rd23e08a6899e4481"/>
    <p:sldId xmlns:r="http://schemas.openxmlformats.org/officeDocument/2006/relationships" id="293" r:id="R747cc06814c34c24"/>
    <p:sldId xmlns:r="http://schemas.openxmlformats.org/officeDocument/2006/relationships" id="294" r:id="R31e1ccd9e4254cf4"/>
    <p:sldId xmlns:r="http://schemas.openxmlformats.org/officeDocument/2006/relationships" id="295" r:id="Rd8a9d4edee944367"/>
    <p:sldId xmlns:r="http://schemas.openxmlformats.org/officeDocument/2006/relationships" id="296" r:id="R0cec5546591d4e61"/>
    <p:sldId xmlns:r="http://schemas.openxmlformats.org/officeDocument/2006/relationships" id="297" r:id="Raa84eb4a84994da5"/>
    <p:sldId xmlns:r="http://schemas.openxmlformats.org/officeDocument/2006/relationships" id="298" r:id="R318ff1bfc33c45f0"/>
    <p:sldId xmlns:r="http://schemas.openxmlformats.org/officeDocument/2006/relationships" id="299" r:id="R33ad0e4bf8f54d4e"/>
    <p:sldId xmlns:r="http://schemas.openxmlformats.org/officeDocument/2006/relationships" id="300" r:id="Rce74316282004b43"/>
    <p:sldId xmlns:r="http://schemas.openxmlformats.org/officeDocument/2006/relationships" id="301" r:id="Rc4d6a97c9adf4f12"/>
    <p:sldId xmlns:r="http://schemas.openxmlformats.org/officeDocument/2006/relationships" id="302" r:id="R2a300dfa4b3e4a5c"/>
    <p:sldId xmlns:r="http://schemas.openxmlformats.org/officeDocument/2006/relationships" id="303" r:id="Rc24a4270ef2e4377"/>
    <p:sldId xmlns:r="http://schemas.openxmlformats.org/officeDocument/2006/relationships" id="304" r:id="Rbccda993876543f1"/>
    <p:sldId xmlns:r="http://schemas.openxmlformats.org/officeDocument/2006/relationships" id="305" r:id="R6e01e63a952a4c71"/>
    <p:sldId xmlns:r="http://schemas.openxmlformats.org/officeDocument/2006/relationships" id="306" r:id="R59de2e4bfaed4d37"/>
    <p:sldId xmlns:r="http://schemas.openxmlformats.org/officeDocument/2006/relationships" id="307" r:id="R8ac51d7ddcab486d"/>
    <p:sldId xmlns:r="http://schemas.openxmlformats.org/officeDocument/2006/relationships" id="308" r:id="R09e52b7880184648"/>
    <p:sldId xmlns:r="http://schemas.openxmlformats.org/officeDocument/2006/relationships" id="309" r:id="R773337f1f854478f"/>
    <p:sldId xmlns:r="http://schemas.openxmlformats.org/officeDocument/2006/relationships" id="310" r:id="R3a205b9ec1d94ce0"/>
    <p:sldId xmlns:r="http://schemas.openxmlformats.org/officeDocument/2006/relationships" id="311" r:id="R04bcb6cb5dc54783"/>
    <p:sldId xmlns:r="http://schemas.openxmlformats.org/officeDocument/2006/relationships" id="312" r:id="Red57280b9aa54df4"/>
    <p:sldId xmlns:r="http://schemas.openxmlformats.org/officeDocument/2006/relationships" id="313" r:id="R0eaa73d6676944b7"/>
    <p:sldId xmlns:r="http://schemas.openxmlformats.org/officeDocument/2006/relationships" id="314" r:id="R2c37655c27984c26"/>
    <p:sldId xmlns:r="http://schemas.openxmlformats.org/officeDocument/2006/relationships" id="315" r:id="R0cbaf2c4abce40c3"/>
    <p:sldId xmlns:r="http://schemas.openxmlformats.org/officeDocument/2006/relationships" id="316" r:id="Re760d4b6b17648f5"/>
    <p:sldId xmlns:r="http://schemas.openxmlformats.org/officeDocument/2006/relationships" id="317" r:id="R1d43ee9ffaa04e4b"/>
    <p:sldId xmlns:r="http://schemas.openxmlformats.org/officeDocument/2006/relationships" id="318" r:id="R75d9434a10f0466e"/>
    <p:sldId xmlns:r="http://schemas.openxmlformats.org/officeDocument/2006/relationships" id="319" r:id="Rbbb0fd6c57664b18"/>
    <p:sldId xmlns:r="http://schemas.openxmlformats.org/officeDocument/2006/relationships" id="320" r:id="R6bd40dd28aa943a5"/>
    <p:sldId xmlns:r="http://schemas.openxmlformats.org/officeDocument/2006/relationships" id="321" r:id="Rdedd3e1463954329"/>
    <p:sldId xmlns:r="http://schemas.openxmlformats.org/officeDocument/2006/relationships" id="322" r:id="R3400043b79a841c9"/>
    <p:sldId xmlns:r="http://schemas.openxmlformats.org/officeDocument/2006/relationships" id="323" r:id="R29ebbbbba6a0403c"/>
    <p:sldId xmlns:r="http://schemas.openxmlformats.org/officeDocument/2006/relationships" id="324" r:id="R7457d6f518904f40"/>
    <p:sldId xmlns:r="http://schemas.openxmlformats.org/officeDocument/2006/relationships" id="325" r:id="R4096ca05a25d4e59"/>
    <p:sldId xmlns:r="http://schemas.openxmlformats.org/officeDocument/2006/relationships" id="326" r:id="Ra9bdd0b64fb44ceb"/>
    <p:sldId xmlns:r="http://schemas.openxmlformats.org/officeDocument/2006/relationships" id="327" r:id="R23df757974b947d4"/>
    <p:sldId xmlns:r="http://schemas.openxmlformats.org/officeDocument/2006/relationships" id="328" r:id="R43d0fbb59a284891"/>
    <p:sldId xmlns:r="http://schemas.openxmlformats.org/officeDocument/2006/relationships" id="329" r:id="Rfd176fa0202a44a0"/>
    <p:sldId xmlns:r="http://schemas.openxmlformats.org/officeDocument/2006/relationships" id="330" r:id="R30301b3f8d92437a"/>
    <p:sldId xmlns:r="http://schemas.openxmlformats.org/officeDocument/2006/relationships" id="331" r:id="R6ae917856ac2476b"/>
    <p:sldId xmlns:r="http://schemas.openxmlformats.org/officeDocument/2006/relationships" id="332" r:id="R3201aafe65304f25"/>
    <p:sldId xmlns:r="http://schemas.openxmlformats.org/officeDocument/2006/relationships" id="333" r:id="Rfe71bba8a19b452f"/>
    <p:sldId xmlns:r="http://schemas.openxmlformats.org/officeDocument/2006/relationships" id="334" r:id="R2f11f2ea33734431"/>
    <p:sldId xmlns:r="http://schemas.openxmlformats.org/officeDocument/2006/relationships" id="335" r:id="Re2f19532bd944160"/>
    <p:sldId xmlns:r="http://schemas.openxmlformats.org/officeDocument/2006/relationships" id="336" r:id="Rcc0bd9d94c6c40cb"/>
    <p:sldId xmlns:r="http://schemas.openxmlformats.org/officeDocument/2006/relationships" id="337" r:id="Rb92bf5d390e847b9"/>
    <p:sldId xmlns:r="http://schemas.openxmlformats.org/officeDocument/2006/relationships" id="338" r:id="R09cbffb4e0034787"/>
    <p:sldId xmlns:r="http://schemas.openxmlformats.org/officeDocument/2006/relationships" id="339" r:id="R03639feae0954b9e"/>
    <p:sldId xmlns:r="http://schemas.openxmlformats.org/officeDocument/2006/relationships" id="340" r:id="R2edf84fc5ed2459b"/>
    <p:sldId xmlns:r="http://schemas.openxmlformats.org/officeDocument/2006/relationships" id="341" r:id="Ra88a5a9dcd2b4973"/>
    <p:sldId xmlns:r="http://schemas.openxmlformats.org/officeDocument/2006/relationships" id="342" r:id="R3017f4d1dfbd4dff"/>
    <p:sldId xmlns:r="http://schemas.openxmlformats.org/officeDocument/2006/relationships" id="343" r:id="R8e2c0f854a7246d2"/>
    <p:sldId xmlns:r="http://schemas.openxmlformats.org/officeDocument/2006/relationships" id="344" r:id="R55fa020dd36d4999"/>
    <p:sldId xmlns:r="http://schemas.openxmlformats.org/officeDocument/2006/relationships" id="345" r:id="R5f287b881030411f"/>
    <p:sldId xmlns:r="http://schemas.openxmlformats.org/officeDocument/2006/relationships" id="346" r:id="R9330ceb24f664cd3"/>
    <p:sldId xmlns:r="http://schemas.openxmlformats.org/officeDocument/2006/relationships" id="347" r:id="Rd91253d3f15a4fc0"/>
    <p:sldId xmlns:r="http://schemas.openxmlformats.org/officeDocument/2006/relationships" id="348" r:id="Rffdbd8eb97004574"/>
    <p:sldId xmlns:r="http://schemas.openxmlformats.org/officeDocument/2006/relationships" id="349" r:id="R2afe5719b37b404a"/>
    <p:sldId xmlns:r="http://schemas.openxmlformats.org/officeDocument/2006/relationships" id="350" r:id="R3f8eb637016b4aa1"/>
    <p:sldId xmlns:r="http://schemas.openxmlformats.org/officeDocument/2006/relationships" id="351" r:id="Raa578c073bb64001"/>
    <p:sldId xmlns:r="http://schemas.openxmlformats.org/officeDocument/2006/relationships" id="352" r:id="R4d2e135453284e7f"/>
    <p:sldId xmlns:r="http://schemas.openxmlformats.org/officeDocument/2006/relationships" id="353" r:id="Rd1668fcf4da84122"/>
    <p:sldId xmlns:r="http://schemas.openxmlformats.org/officeDocument/2006/relationships" id="354" r:id="Reddb1298f7614bb6"/>
    <p:sldId xmlns:r="http://schemas.openxmlformats.org/officeDocument/2006/relationships" id="355" r:id="Rbe38f72fb1af47e3"/>
    <p:sldId xmlns:r="http://schemas.openxmlformats.org/officeDocument/2006/relationships" id="356" r:id="R334eae74ac1b42a0"/>
    <p:sldId xmlns:r="http://schemas.openxmlformats.org/officeDocument/2006/relationships" id="357" r:id="R8105476092cb498f"/>
    <p:sldId xmlns:r="http://schemas.openxmlformats.org/officeDocument/2006/relationships" id="358" r:id="Rdd4e5e4f188f4b0c"/>
    <p:sldId xmlns:r="http://schemas.openxmlformats.org/officeDocument/2006/relationships" id="359" r:id="R3283b21bb21445c2"/>
    <p:sldId xmlns:r="http://schemas.openxmlformats.org/officeDocument/2006/relationships" id="360" r:id="R6c77238c1f1c4666"/>
    <p:sldId xmlns:r="http://schemas.openxmlformats.org/officeDocument/2006/relationships" id="361" r:id="Rbf41492028b2474d"/>
    <p:sldId xmlns:r="http://schemas.openxmlformats.org/officeDocument/2006/relationships" id="362" r:id="R7cf61cffaa114388"/>
    <p:sldId xmlns:r="http://schemas.openxmlformats.org/officeDocument/2006/relationships" id="363" r:id="R4f0a6e551dba434e"/>
    <p:sldId xmlns:r="http://schemas.openxmlformats.org/officeDocument/2006/relationships" id="364" r:id="Rd5422c769d594b04"/>
    <p:sldId xmlns:r="http://schemas.openxmlformats.org/officeDocument/2006/relationships" id="365" r:id="R49510e7e11934750"/>
    <p:sldId xmlns:r="http://schemas.openxmlformats.org/officeDocument/2006/relationships" id="366" r:id="R08a9b62e13284b0e"/>
    <p:sldId xmlns:r="http://schemas.openxmlformats.org/officeDocument/2006/relationships" id="367" r:id="R087968e6cc8046d5"/>
    <p:sldId xmlns:r="http://schemas.openxmlformats.org/officeDocument/2006/relationships" id="368" r:id="R8919fa8248f14088"/>
    <p:sldId xmlns:r="http://schemas.openxmlformats.org/officeDocument/2006/relationships" id="369" r:id="R576afd3aa32b44b4"/>
    <p:sldId xmlns:r="http://schemas.openxmlformats.org/officeDocument/2006/relationships" id="370" r:id="R43b384f121ef49da"/>
    <p:sldId xmlns:r="http://schemas.openxmlformats.org/officeDocument/2006/relationships" id="371" r:id="R61fc8698609c4381"/>
    <p:sldId xmlns:r="http://schemas.openxmlformats.org/officeDocument/2006/relationships" id="372" r:id="R6d0e8020981241fd"/>
    <p:sldId xmlns:r="http://schemas.openxmlformats.org/officeDocument/2006/relationships" id="373" r:id="R0db612681af74f6d"/>
    <p:sldId xmlns:r="http://schemas.openxmlformats.org/officeDocument/2006/relationships" id="374" r:id="Re12300d936974a56"/>
    <p:sldId xmlns:r="http://schemas.openxmlformats.org/officeDocument/2006/relationships" id="375" r:id="R3703f90c9867402c"/>
    <p:sldId xmlns:r="http://schemas.openxmlformats.org/officeDocument/2006/relationships" id="376" r:id="Red957c53ed574b60"/>
    <p:sldId xmlns:r="http://schemas.openxmlformats.org/officeDocument/2006/relationships" id="377" r:id="Re82ae21ee1ac4472"/>
    <p:sldId xmlns:r="http://schemas.openxmlformats.org/officeDocument/2006/relationships" id="378" r:id="R4ea52f6655384d77"/>
    <p:sldId xmlns:r="http://schemas.openxmlformats.org/officeDocument/2006/relationships" id="379" r:id="R18d31eaa3f5d440e"/>
    <p:sldId xmlns:r="http://schemas.openxmlformats.org/officeDocument/2006/relationships" id="380" r:id="R1fc8afc6f0534185"/>
    <p:sldId xmlns:r="http://schemas.openxmlformats.org/officeDocument/2006/relationships" id="381" r:id="R9e8a5f0e6d3447e5"/>
    <p:sldId xmlns:r="http://schemas.openxmlformats.org/officeDocument/2006/relationships" id="382" r:id="R76123e7ac3444300"/>
    <p:sldId xmlns:r="http://schemas.openxmlformats.org/officeDocument/2006/relationships" id="383" r:id="R8b56ed9779c74762"/>
    <p:sldId xmlns:r="http://schemas.openxmlformats.org/officeDocument/2006/relationships" id="384" r:id="Ra125a3ac031a41f8"/>
    <p:sldId xmlns:r="http://schemas.openxmlformats.org/officeDocument/2006/relationships" id="385" r:id="R5671b638b86d41d7"/>
    <p:sldId xmlns:r="http://schemas.openxmlformats.org/officeDocument/2006/relationships" id="386" r:id="R0d7ff1a39e8a4dcd"/>
    <p:sldId xmlns:r="http://schemas.openxmlformats.org/officeDocument/2006/relationships" id="387" r:id="R6ff5746a47144d8c"/>
    <p:sldId xmlns:r="http://schemas.openxmlformats.org/officeDocument/2006/relationships" id="388" r:id="Rd84309ffef18414c"/>
    <p:sldId xmlns:r="http://schemas.openxmlformats.org/officeDocument/2006/relationships" id="389" r:id="R1e9352fc441c4bfe"/>
    <p:sldId xmlns:r="http://schemas.openxmlformats.org/officeDocument/2006/relationships" id="390" r:id="R4c81414030e04a29"/>
    <p:sldId xmlns:r="http://schemas.openxmlformats.org/officeDocument/2006/relationships" id="391" r:id="R2398370683e04036"/>
    <p:sldId xmlns:r="http://schemas.openxmlformats.org/officeDocument/2006/relationships" id="392" r:id="Rb63fed0402904178"/>
    <p:sldId xmlns:r="http://schemas.openxmlformats.org/officeDocument/2006/relationships" id="393" r:id="R588e13c4e2354da5"/>
    <p:sldId xmlns:r="http://schemas.openxmlformats.org/officeDocument/2006/relationships" id="394" r:id="Re6388eda408a4166"/>
    <p:sldId xmlns:r="http://schemas.openxmlformats.org/officeDocument/2006/relationships" id="395" r:id="R81657e486aaa4403"/>
    <p:sldId xmlns:r="http://schemas.openxmlformats.org/officeDocument/2006/relationships" id="396" r:id="Ra17ccc7c4a414830"/>
    <p:sldId xmlns:r="http://schemas.openxmlformats.org/officeDocument/2006/relationships" id="397" r:id="R761f923978e74a2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8cdc900014988" /><Relationship Type="http://schemas.openxmlformats.org/officeDocument/2006/relationships/theme" Target="/ppt/theme/theme1.xml" Id="Reb4885c753154c84" /><Relationship Type="http://schemas.openxmlformats.org/officeDocument/2006/relationships/notesMaster" Target="/ppt/notesMasters/notesMaster1.xml" Id="R283af13108f940a6" /><Relationship Type="http://schemas.openxmlformats.org/officeDocument/2006/relationships/presProps" Target="/ppt/presProps.xml" Id="Rd011ce795b92478b" /><Relationship Type="http://schemas.openxmlformats.org/officeDocument/2006/relationships/viewProps" Target="/ppt/viewProps.xml" Id="R491feae312964319" /><Relationship Type="http://schemas.openxmlformats.org/officeDocument/2006/relationships/tableStyles" Target="/ppt/tableStyles.xml" Id="Rd4a1e73bf2214388" /><Relationship Type="http://schemas.openxmlformats.org/officeDocument/2006/relationships/slide" Target="/ppt/slides/slide1.xml" Id="R7805be9d2629459d" /><Relationship Type="http://schemas.openxmlformats.org/officeDocument/2006/relationships/slide" Target="/ppt/slides/slide2.xml" Id="R9b84aa0791904456" /><Relationship Type="http://schemas.openxmlformats.org/officeDocument/2006/relationships/slide" Target="/ppt/slides/slide3.xml" Id="R781c3c1e6d8d4a5c" /><Relationship Type="http://schemas.openxmlformats.org/officeDocument/2006/relationships/slide" Target="/ppt/slides/slide4.xml" Id="Rf716772865604d43" /><Relationship Type="http://schemas.openxmlformats.org/officeDocument/2006/relationships/slide" Target="/ppt/slides/slide5.xml" Id="R9b9a9658cfb54e64" /><Relationship Type="http://schemas.openxmlformats.org/officeDocument/2006/relationships/slide" Target="/ppt/slides/slide6.xml" Id="R2ee845aeb41f4bf0" /><Relationship Type="http://schemas.openxmlformats.org/officeDocument/2006/relationships/slide" Target="/ppt/slides/slide7.xml" Id="Rbb34aca8a75c479f" /><Relationship Type="http://schemas.openxmlformats.org/officeDocument/2006/relationships/slide" Target="/ppt/slides/slide8.xml" Id="R6ab52914837e40d5" /><Relationship Type="http://schemas.openxmlformats.org/officeDocument/2006/relationships/slide" Target="/ppt/slides/slide9.xml" Id="R1c5698aba3984cc3" /><Relationship Type="http://schemas.openxmlformats.org/officeDocument/2006/relationships/slide" Target="/ppt/slides/slide10.xml" Id="R80ee5ba3f443496d" /><Relationship Type="http://schemas.openxmlformats.org/officeDocument/2006/relationships/slide" Target="/ppt/slides/slide11.xml" Id="R06dd28652e4a490e" /><Relationship Type="http://schemas.openxmlformats.org/officeDocument/2006/relationships/slide" Target="/ppt/slides/slide12.xml" Id="R493597991a824ce5" /><Relationship Type="http://schemas.openxmlformats.org/officeDocument/2006/relationships/slide" Target="/ppt/slides/slide13.xml" Id="R8d29617e9dc14cae" /><Relationship Type="http://schemas.openxmlformats.org/officeDocument/2006/relationships/slide" Target="/ppt/slides/slide14.xml" Id="Rab334b9eca7b4f13" /><Relationship Type="http://schemas.openxmlformats.org/officeDocument/2006/relationships/slide" Target="/ppt/slides/slide15.xml" Id="Rfd900af1b79945e1" /><Relationship Type="http://schemas.openxmlformats.org/officeDocument/2006/relationships/slide" Target="/ppt/slides/slide16.xml" Id="R51d3a67a3dbd4e45" /><Relationship Type="http://schemas.openxmlformats.org/officeDocument/2006/relationships/slide" Target="/ppt/slides/slide17.xml" Id="Rd79af524cca14a6f" /><Relationship Type="http://schemas.openxmlformats.org/officeDocument/2006/relationships/slide" Target="/ppt/slides/slide18.xml" Id="R7be9482464fa42e5" /><Relationship Type="http://schemas.openxmlformats.org/officeDocument/2006/relationships/slide" Target="/ppt/slides/slide19.xml" Id="R2acfb4bc4f744e0d" /><Relationship Type="http://schemas.openxmlformats.org/officeDocument/2006/relationships/slide" Target="/ppt/slides/slide20.xml" Id="R09a528130f574bb5" /><Relationship Type="http://schemas.openxmlformats.org/officeDocument/2006/relationships/slide" Target="/ppt/slides/slide21.xml" Id="Raaca05175e824e2f" /><Relationship Type="http://schemas.openxmlformats.org/officeDocument/2006/relationships/slide" Target="/ppt/slides/slide22.xml" Id="Rfd506c2fccb9420e" /><Relationship Type="http://schemas.openxmlformats.org/officeDocument/2006/relationships/slide" Target="/ppt/slides/slide23.xml" Id="Rec33350c02274022" /><Relationship Type="http://schemas.openxmlformats.org/officeDocument/2006/relationships/slide" Target="/ppt/slides/slide24.xml" Id="Rea7b744b6f594311" /><Relationship Type="http://schemas.openxmlformats.org/officeDocument/2006/relationships/slide" Target="/ppt/slides/slide25.xml" Id="R36b2380d4bdd4745" /><Relationship Type="http://schemas.openxmlformats.org/officeDocument/2006/relationships/slide" Target="/ppt/slides/slide26.xml" Id="R11b1722f48fa4a4c" /><Relationship Type="http://schemas.openxmlformats.org/officeDocument/2006/relationships/slide" Target="/ppt/slides/slide27.xml" Id="R87d7b6cac7f84869" /><Relationship Type="http://schemas.openxmlformats.org/officeDocument/2006/relationships/slide" Target="/ppt/slides/slide28.xml" Id="R65e763bae58841ea" /><Relationship Type="http://schemas.openxmlformats.org/officeDocument/2006/relationships/slide" Target="/ppt/slides/slide29.xml" Id="Re048ee116e5c4804" /><Relationship Type="http://schemas.openxmlformats.org/officeDocument/2006/relationships/slide" Target="/ppt/slides/slide30.xml" Id="R6324097b7fe942a4" /><Relationship Type="http://schemas.openxmlformats.org/officeDocument/2006/relationships/slide" Target="/ppt/slides/slide31.xml" Id="Ra0666c0650544729" /><Relationship Type="http://schemas.openxmlformats.org/officeDocument/2006/relationships/slide" Target="/ppt/slides/slide32.xml" Id="R885b062803024ccf" /><Relationship Type="http://schemas.openxmlformats.org/officeDocument/2006/relationships/slide" Target="/ppt/slides/slide33.xml" Id="Rc06d6055fa0d4e2e" /><Relationship Type="http://schemas.openxmlformats.org/officeDocument/2006/relationships/slide" Target="/ppt/slides/slide34.xml" Id="Re155fe36655c48f2" /><Relationship Type="http://schemas.openxmlformats.org/officeDocument/2006/relationships/slide" Target="/ppt/slides/slide35.xml" Id="R4a2d91b12c7d41d3" /><Relationship Type="http://schemas.openxmlformats.org/officeDocument/2006/relationships/slide" Target="/ppt/slides/slide36.xml" Id="Rfbec570e80854273" /><Relationship Type="http://schemas.openxmlformats.org/officeDocument/2006/relationships/slide" Target="/ppt/slides/slide37.xml" Id="Rd23e08a6899e4481" /><Relationship Type="http://schemas.openxmlformats.org/officeDocument/2006/relationships/slide" Target="/ppt/slides/slide38.xml" Id="R747cc06814c34c24" /><Relationship Type="http://schemas.openxmlformats.org/officeDocument/2006/relationships/slide" Target="/ppt/slides/slide39.xml" Id="R31e1ccd9e4254cf4" /><Relationship Type="http://schemas.openxmlformats.org/officeDocument/2006/relationships/slide" Target="/ppt/slides/slide40.xml" Id="Rd8a9d4edee944367" /><Relationship Type="http://schemas.openxmlformats.org/officeDocument/2006/relationships/slide" Target="/ppt/slides/slide41.xml" Id="R0cec5546591d4e61" /><Relationship Type="http://schemas.openxmlformats.org/officeDocument/2006/relationships/slide" Target="/ppt/slides/slide42.xml" Id="Raa84eb4a84994da5" /><Relationship Type="http://schemas.openxmlformats.org/officeDocument/2006/relationships/slide" Target="/ppt/slides/slide43.xml" Id="R318ff1bfc33c45f0" /><Relationship Type="http://schemas.openxmlformats.org/officeDocument/2006/relationships/slide" Target="/ppt/slides/slide44.xml" Id="R33ad0e4bf8f54d4e" /><Relationship Type="http://schemas.openxmlformats.org/officeDocument/2006/relationships/slide" Target="/ppt/slides/slide45.xml" Id="Rce74316282004b43" /><Relationship Type="http://schemas.openxmlformats.org/officeDocument/2006/relationships/slide" Target="/ppt/slides/slide46.xml" Id="Rc4d6a97c9adf4f12" /><Relationship Type="http://schemas.openxmlformats.org/officeDocument/2006/relationships/slide" Target="/ppt/slides/slide47.xml" Id="R2a300dfa4b3e4a5c" /><Relationship Type="http://schemas.openxmlformats.org/officeDocument/2006/relationships/slide" Target="/ppt/slides/slide48.xml" Id="Rc24a4270ef2e4377" /><Relationship Type="http://schemas.openxmlformats.org/officeDocument/2006/relationships/slide" Target="/ppt/slides/slide49.xml" Id="Rbccda993876543f1" /><Relationship Type="http://schemas.openxmlformats.org/officeDocument/2006/relationships/slide" Target="/ppt/slides/slide50.xml" Id="R6e01e63a952a4c71" /><Relationship Type="http://schemas.openxmlformats.org/officeDocument/2006/relationships/slide" Target="/ppt/slides/slide51.xml" Id="R59de2e4bfaed4d37" /><Relationship Type="http://schemas.openxmlformats.org/officeDocument/2006/relationships/slide" Target="/ppt/slides/slide52.xml" Id="R8ac51d7ddcab486d" /><Relationship Type="http://schemas.openxmlformats.org/officeDocument/2006/relationships/slide" Target="/ppt/slides/slide53.xml" Id="R09e52b7880184648" /><Relationship Type="http://schemas.openxmlformats.org/officeDocument/2006/relationships/slide" Target="/ppt/slides/slide54.xml" Id="R773337f1f854478f" /><Relationship Type="http://schemas.openxmlformats.org/officeDocument/2006/relationships/slide" Target="/ppt/slides/slide55.xml" Id="R3a205b9ec1d94ce0" /><Relationship Type="http://schemas.openxmlformats.org/officeDocument/2006/relationships/slide" Target="/ppt/slides/slide56.xml" Id="R04bcb6cb5dc54783" /><Relationship Type="http://schemas.openxmlformats.org/officeDocument/2006/relationships/slide" Target="/ppt/slides/slide57.xml" Id="Red57280b9aa54df4" /><Relationship Type="http://schemas.openxmlformats.org/officeDocument/2006/relationships/slide" Target="/ppt/slides/slide58.xml" Id="R0eaa73d6676944b7" /><Relationship Type="http://schemas.openxmlformats.org/officeDocument/2006/relationships/slide" Target="/ppt/slides/slide59.xml" Id="R2c37655c27984c26" /><Relationship Type="http://schemas.openxmlformats.org/officeDocument/2006/relationships/slide" Target="/ppt/slides/slide60.xml" Id="R0cbaf2c4abce40c3" /><Relationship Type="http://schemas.openxmlformats.org/officeDocument/2006/relationships/slide" Target="/ppt/slides/slide61.xml" Id="Re760d4b6b17648f5" /><Relationship Type="http://schemas.openxmlformats.org/officeDocument/2006/relationships/slide" Target="/ppt/slides/slide62.xml" Id="R1d43ee9ffaa04e4b" /><Relationship Type="http://schemas.openxmlformats.org/officeDocument/2006/relationships/slide" Target="/ppt/slides/slide63.xml" Id="R75d9434a10f0466e" /><Relationship Type="http://schemas.openxmlformats.org/officeDocument/2006/relationships/slide" Target="/ppt/slides/slide64.xml" Id="Rbbb0fd6c57664b18" /><Relationship Type="http://schemas.openxmlformats.org/officeDocument/2006/relationships/slide" Target="/ppt/slides/slide65.xml" Id="R6bd40dd28aa943a5" /><Relationship Type="http://schemas.openxmlformats.org/officeDocument/2006/relationships/slide" Target="/ppt/slides/slide66.xml" Id="Rdedd3e1463954329" /><Relationship Type="http://schemas.openxmlformats.org/officeDocument/2006/relationships/slide" Target="/ppt/slides/slide67.xml" Id="R3400043b79a841c9" /><Relationship Type="http://schemas.openxmlformats.org/officeDocument/2006/relationships/slide" Target="/ppt/slides/slide68.xml" Id="R29ebbbbba6a0403c" /><Relationship Type="http://schemas.openxmlformats.org/officeDocument/2006/relationships/slide" Target="/ppt/slides/slide69.xml" Id="R7457d6f518904f40" /><Relationship Type="http://schemas.openxmlformats.org/officeDocument/2006/relationships/slide" Target="/ppt/slides/slide70.xml" Id="R4096ca05a25d4e59" /><Relationship Type="http://schemas.openxmlformats.org/officeDocument/2006/relationships/slide" Target="/ppt/slides/slide71.xml" Id="Ra9bdd0b64fb44ceb" /><Relationship Type="http://schemas.openxmlformats.org/officeDocument/2006/relationships/slide" Target="/ppt/slides/slide72.xml" Id="R23df757974b947d4" /><Relationship Type="http://schemas.openxmlformats.org/officeDocument/2006/relationships/slide" Target="/ppt/slides/slide73.xml" Id="R43d0fbb59a284891" /><Relationship Type="http://schemas.openxmlformats.org/officeDocument/2006/relationships/slide" Target="/ppt/slides/slide74.xml" Id="Rfd176fa0202a44a0" /><Relationship Type="http://schemas.openxmlformats.org/officeDocument/2006/relationships/slide" Target="/ppt/slides/slide75.xml" Id="R30301b3f8d92437a" /><Relationship Type="http://schemas.openxmlformats.org/officeDocument/2006/relationships/slide" Target="/ppt/slides/slide76.xml" Id="R6ae917856ac2476b" /><Relationship Type="http://schemas.openxmlformats.org/officeDocument/2006/relationships/slide" Target="/ppt/slides/slide77.xml" Id="R3201aafe65304f25" /><Relationship Type="http://schemas.openxmlformats.org/officeDocument/2006/relationships/slide" Target="/ppt/slides/slide78.xml" Id="Rfe71bba8a19b452f" /><Relationship Type="http://schemas.openxmlformats.org/officeDocument/2006/relationships/slide" Target="/ppt/slides/slide79.xml" Id="R2f11f2ea33734431" /><Relationship Type="http://schemas.openxmlformats.org/officeDocument/2006/relationships/slide" Target="/ppt/slides/slide80.xml" Id="Re2f19532bd944160" /><Relationship Type="http://schemas.openxmlformats.org/officeDocument/2006/relationships/slide" Target="/ppt/slides/slide81.xml" Id="Rcc0bd9d94c6c40cb" /><Relationship Type="http://schemas.openxmlformats.org/officeDocument/2006/relationships/slide" Target="/ppt/slides/slide82.xml" Id="Rb92bf5d390e847b9" /><Relationship Type="http://schemas.openxmlformats.org/officeDocument/2006/relationships/slide" Target="/ppt/slides/slide83.xml" Id="R09cbffb4e0034787" /><Relationship Type="http://schemas.openxmlformats.org/officeDocument/2006/relationships/slide" Target="/ppt/slides/slide84.xml" Id="R03639feae0954b9e" /><Relationship Type="http://schemas.openxmlformats.org/officeDocument/2006/relationships/slide" Target="/ppt/slides/slide85.xml" Id="R2edf84fc5ed2459b" /><Relationship Type="http://schemas.openxmlformats.org/officeDocument/2006/relationships/slide" Target="/ppt/slides/slide86.xml" Id="Ra88a5a9dcd2b4973" /><Relationship Type="http://schemas.openxmlformats.org/officeDocument/2006/relationships/slide" Target="/ppt/slides/slide87.xml" Id="R3017f4d1dfbd4dff" /><Relationship Type="http://schemas.openxmlformats.org/officeDocument/2006/relationships/slide" Target="/ppt/slides/slide88.xml" Id="R8e2c0f854a7246d2" /><Relationship Type="http://schemas.openxmlformats.org/officeDocument/2006/relationships/slide" Target="/ppt/slides/slide89.xml" Id="R55fa020dd36d4999" /><Relationship Type="http://schemas.openxmlformats.org/officeDocument/2006/relationships/slide" Target="/ppt/slides/slide90.xml" Id="R5f287b881030411f" /><Relationship Type="http://schemas.openxmlformats.org/officeDocument/2006/relationships/slide" Target="/ppt/slides/slide91.xml" Id="R9330ceb24f664cd3" /><Relationship Type="http://schemas.openxmlformats.org/officeDocument/2006/relationships/slide" Target="/ppt/slides/slide92.xml" Id="Rd91253d3f15a4fc0" /><Relationship Type="http://schemas.openxmlformats.org/officeDocument/2006/relationships/slide" Target="/ppt/slides/slide93.xml" Id="Rffdbd8eb97004574" /><Relationship Type="http://schemas.openxmlformats.org/officeDocument/2006/relationships/slide" Target="/ppt/slides/slide94.xml" Id="R2afe5719b37b404a" /><Relationship Type="http://schemas.openxmlformats.org/officeDocument/2006/relationships/slide" Target="/ppt/slides/slide95.xml" Id="R3f8eb637016b4aa1" /><Relationship Type="http://schemas.openxmlformats.org/officeDocument/2006/relationships/slide" Target="/ppt/slides/slide96.xml" Id="Raa578c073bb64001" /><Relationship Type="http://schemas.openxmlformats.org/officeDocument/2006/relationships/slide" Target="/ppt/slides/slide97.xml" Id="R4d2e135453284e7f" /><Relationship Type="http://schemas.openxmlformats.org/officeDocument/2006/relationships/slide" Target="/ppt/slides/slide98.xml" Id="Rd1668fcf4da84122" /><Relationship Type="http://schemas.openxmlformats.org/officeDocument/2006/relationships/slide" Target="/ppt/slides/slide99.xml" Id="Reddb1298f7614bb6" /><Relationship Type="http://schemas.openxmlformats.org/officeDocument/2006/relationships/slide" Target="/ppt/slides/slide100.xml" Id="Rbe38f72fb1af47e3" /><Relationship Type="http://schemas.openxmlformats.org/officeDocument/2006/relationships/slide" Target="/ppt/slides/slide101.xml" Id="R334eae74ac1b42a0" /><Relationship Type="http://schemas.openxmlformats.org/officeDocument/2006/relationships/slide" Target="/ppt/slides/slide102.xml" Id="R8105476092cb498f" /><Relationship Type="http://schemas.openxmlformats.org/officeDocument/2006/relationships/slide" Target="/ppt/slides/slide103.xml" Id="Rdd4e5e4f188f4b0c" /><Relationship Type="http://schemas.openxmlformats.org/officeDocument/2006/relationships/slide" Target="/ppt/slides/slide104.xml" Id="R3283b21bb21445c2" /><Relationship Type="http://schemas.openxmlformats.org/officeDocument/2006/relationships/slide" Target="/ppt/slides/slide105.xml" Id="R6c77238c1f1c4666" /><Relationship Type="http://schemas.openxmlformats.org/officeDocument/2006/relationships/slide" Target="/ppt/slides/slide106.xml" Id="Rbf41492028b2474d" /><Relationship Type="http://schemas.openxmlformats.org/officeDocument/2006/relationships/slide" Target="/ppt/slides/slide107.xml" Id="R7cf61cffaa114388" /><Relationship Type="http://schemas.openxmlformats.org/officeDocument/2006/relationships/slide" Target="/ppt/slides/slide108.xml" Id="R4f0a6e551dba434e" /><Relationship Type="http://schemas.openxmlformats.org/officeDocument/2006/relationships/slide" Target="/ppt/slides/slide109.xml" Id="Rd5422c769d594b04" /><Relationship Type="http://schemas.openxmlformats.org/officeDocument/2006/relationships/slide" Target="/ppt/slides/slide110.xml" Id="R49510e7e11934750" /><Relationship Type="http://schemas.openxmlformats.org/officeDocument/2006/relationships/slide" Target="/ppt/slides/slide111.xml" Id="R08a9b62e13284b0e" /><Relationship Type="http://schemas.openxmlformats.org/officeDocument/2006/relationships/slide" Target="/ppt/slides/slide112.xml" Id="R087968e6cc8046d5" /><Relationship Type="http://schemas.openxmlformats.org/officeDocument/2006/relationships/slide" Target="/ppt/slides/slide113.xml" Id="R8919fa8248f14088" /><Relationship Type="http://schemas.openxmlformats.org/officeDocument/2006/relationships/slide" Target="/ppt/slides/slide114.xml" Id="R576afd3aa32b44b4" /><Relationship Type="http://schemas.openxmlformats.org/officeDocument/2006/relationships/slide" Target="/ppt/slides/slide115.xml" Id="R43b384f121ef49da" /><Relationship Type="http://schemas.openxmlformats.org/officeDocument/2006/relationships/slide" Target="/ppt/slides/slide116.xml" Id="R61fc8698609c4381" /><Relationship Type="http://schemas.openxmlformats.org/officeDocument/2006/relationships/slide" Target="/ppt/slides/slide117.xml" Id="R6d0e8020981241fd" /><Relationship Type="http://schemas.openxmlformats.org/officeDocument/2006/relationships/slide" Target="/ppt/slides/slide118.xml" Id="R0db612681af74f6d" /><Relationship Type="http://schemas.openxmlformats.org/officeDocument/2006/relationships/slide" Target="/ppt/slides/slide119.xml" Id="Re12300d936974a56" /><Relationship Type="http://schemas.openxmlformats.org/officeDocument/2006/relationships/slide" Target="/ppt/slides/slide120.xml" Id="R3703f90c9867402c" /><Relationship Type="http://schemas.openxmlformats.org/officeDocument/2006/relationships/slide" Target="/ppt/slides/slide121.xml" Id="Red957c53ed574b60" /><Relationship Type="http://schemas.openxmlformats.org/officeDocument/2006/relationships/slide" Target="/ppt/slides/slide122.xml" Id="Re82ae21ee1ac4472" /><Relationship Type="http://schemas.openxmlformats.org/officeDocument/2006/relationships/slide" Target="/ppt/slides/slide123.xml" Id="R4ea52f6655384d77" /><Relationship Type="http://schemas.openxmlformats.org/officeDocument/2006/relationships/slide" Target="/ppt/slides/slide124.xml" Id="R18d31eaa3f5d440e" /><Relationship Type="http://schemas.openxmlformats.org/officeDocument/2006/relationships/slide" Target="/ppt/slides/slide125.xml" Id="R1fc8afc6f0534185" /><Relationship Type="http://schemas.openxmlformats.org/officeDocument/2006/relationships/slide" Target="/ppt/slides/slide126.xml" Id="R9e8a5f0e6d3447e5" /><Relationship Type="http://schemas.openxmlformats.org/officeDocument/2006/relationships/slide" Target="/ppt/slides/slide127.xml" Id="R76123e7ac3444300" /><Relationship Type="http://schemas.openxmlformats.org/officeDocument/2006/relationships/slide" Target="/ppt/slides/slide128.xml" Id="R8b56ed9779c74762" /><Relationship Type="http://schemas.openxmlformats.org/officeDocument/2006/relationships/slide" Target="/ppt/slides/slide129.xml" Id="Ra125a3ac031a41f8" /><Relationship Type="http://schemas.openxmlformats.org/officeDocument/2006/relationships/slide" Target="/ppt/slides/slide130.xml" Id="R5671b638b86d41d7" /><Relationship Type="http://schemas.openxmlformats.org/officeDocument/2006/relationships/slide" Target="/ppt/slides/slide131.xml" Id="R0d7ff1a39e8a4dcd" /><Relationship Type="http://schemas.openxmlformats.org/officeDocument/2006/relationships/slide" Target="/ppt/slides/slide132.xml" Id="R6ff5746a47144d8c" /><Relationship Type="http://schemas.openxmlformats.org/officeDocument/2006/relationships/slide" Target="/ppt/slides/slide133.xml" Id="Rd84309ffef18414c" /><Relationship Type="http://schemas.openxmlformats.org/officeDocument/2006/relationships/slide" Target="/ppt/slides/slide134.xml" Id="R1e9352fc441c4bfe" /><Relationship Type="http://schemas.openxmlformats.org/officeDocument/2006/relationships/slide" Target="/ppt/slides/slide135.xml" Id="R4c81414030e04a29" /><Relationship Type="http://schemas.openxmlformats.org/officeDocument/2006/relationships/slide" Target="/ppt/slides/slide136.xml" Id="R2398370683e04036" /><Relationship Type="http://schemas.openxmlformats.org/officeDocument/2006/relationships/slide" Target="/ppt/slides/slide137.xml" Id="Rb63fed0402904178" /><Relationship Type="http://schemas.openxmlformats.org/officeDocument/2006/relationships/slide" Target="/ppt/slides/slide138.xml" Id="R588e13c4e2354da5" /><Relationship Type="http://schemas.openxmlformats.org/officeDocument/2006/relationships/slide" Target="/ppt/slides/slide139.xml" Id="Re6388eda408a4166" /><Relationship Type="http://schemas.openxmlformats.org/officeDocument/2006/relationships/slide" Target="/ppt/slides/slide140.xml" Id="R81657e486aaa4403" /><Relationship Type="http://schemas.openxmlformats.org/officeDocument/2006/relationships/slide" Target="/ppt/slides/slide141.xml" Id="Ra17ccc7c4a414830" /><Relationship Type="http://schemas.openxmlformats.org/officeDocument/2006/relationships/slide" Target="/ppt/slides/slide142.xml" Id="R761f923978e7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a063b5ea6e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147a7d21c4901" /><Relationship Type="http://schemas.openxmlformats.org/officeDocument/2006/relationships/notesMaster" Target="/ppt/notesMasters/notesMaster1.xml" Id="Rcdcefefac55144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8a29477e64ab7" /><Relationship Type="http://schemas.openxmlformats.org/officeDocument/2006/relationships/notesMaster" Target="/ppt/notesMasters/notesMaster1.xml" Id="R0f9be3954a2f4c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c8fbbe3fd64a79" /><Relationship Type="http://schemas.openxmlformats.org/officeDocument/2006/relationships/notesMaster" Target="/ppt/notesMasters/notesMaster1.xml" Id="R41d79dae5e8e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979e5cc1a44ba" /><Relationship Type="http://schemas.openxmlformats.org/officeDocument/2006/relationships/notesMaster" Target="/ppt/notesMasters/notesMaster1.xml" Id="R17a5e93bcbc9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58990d70114558" /><Relationship Type="http://schemas.openxmlformats.org/officeDocument/2006/relationships/notesMaster" Target="/ppt/notesMasters/notesMaster1.xml" Id="Rae722e15b66a44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85a9f0c114cfa" /><Relationship Type="http://schemas.openxmlformats.org/officeDocument/2006/relationships/notesMaster" Target="/ppt/notesMasters/notesMaster1.xml" Id="R7797fd2317a249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0d60e8a1d458d" /><Relationship Type="http://schemas.openxmlformats.org/officeDocument/2006/relationships/notesMaster" Target="/ppt/notesMasters/notesMaster1.xml" Id="Rf0aa7cab77fb4c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16ec5bf3d4d8e" /><Relationship Type="http://schemas.openxmlformats.org/officeDocument/2006/relationships/notesMaster" Target="/ppt/notesMasters/notesMaster1.xml" Id="R5ecbae1be7c94e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0b85e4b24c472f" /><Relationship Type="http://schemas.openxmlformats.org/officeDocument/2006/relationships/notesMaster" Target="/ppt/notesMasters/notesMaster1.xml" Id="R228c003a749046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f31a762b2d4c8a" /><Relationship Type="http://schemas.openxmlformats.org/officeDocument/2006/relationships/notesMaster" Target="/ppt/notesMasters/notesMaster1.xml" Id="Rdfddae304f5e49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6e05bec05f4f2d" /><Relationship Type="http://schemas.openxmlformats.org/officeDocument/2006/relationships/notesMaster" Target="/ppt/notesMasters/notesMaster1.xml" Id="R43254ce73f2743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6dcbc196e84e0f" /><Relationship Type="http://schemas.openxmlformats.org/officeDocument/2006/relationships/notesMaster" Target="/ppt/notesMasters/notesMaster1.xml" Id="Rd4d6af6d1ac042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1dd04031aa40ed" /><Relationship Type="http://schemas.openxmlformats.org/officeDocument/2006/relationships/notesMaster" Target="/ppt/notesMasters/notesMaster1.xml" Id="R74fb2714257e4a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3cbbee737d4a0a" /><Relationship Type="http://schemas.openxmlformats.org/officeDocument/2006/relationships/notesMaster" Target="/ppt/notesMasters/notesMaster1.xml" Id="R0e0a13ee212d4d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cedf0417db46fc" /><Relationship Type="http://schemas.openxmlformats.org/officeDocument/2006/relationships/notesMaster" Target="/ppt/notesMasters/notesMaster1.xml" Id="R0c31dac0ab9145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3f178266664dc0" /><Relationship Type="http://schemas.openxmlformats.org/officeDocument/2006/relationships/notesMaster" Target="/ppt/notesMasters/notesMaster1.xml" Id="R9cdfe31752414c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f5831591a94690" /><Relationship Type="http://schemas.openxmlformats.org/officeDocument/2006/relationships/notesMaster" Target="/ppt/notesMasters/notesMaster1.xml" Id="Rf4e5788169d941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05e59aa29e40e9" /><Relationship Type="http://schemas.openxmlformats.org/officeDocument/2006/relationships/notesMaster" Target="/ppt/notesMasters/notesMaster1.xml" Id="Rd3cfec4e054043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4e54429972450d" /><Relationship Type="http://schemas.openxmlformats.org/officeDocument/2006/relationships/notesMaster" Target="/ppt/notesMasters/notesMaster1.xml" Id="R0486ed10ce4644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0f1bf916e3423c" /><Relationship Type="http://schemas.openxmlformats.org/officeDocument/2006/relationships/notesMaster" Target="/ppt/notesMasters/notesMaster1.xml" Id="R45aca080f3e347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973eefe0634a60" /><Relationship Type="http://schemas.openxmlformats.org/officeDocument/2006/relationships/notesMaster" Target="/ppt/notesMasters/notesMaster1.xml" Id="R29ab905cdace40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735459db5e44b8" /><Relationship Type="http://schemas.openxmlformats.org/officeDocument/2006/relationships/notesMaster" Target="/ppt/notesMasters/notesMaster1.xml" Id="R948961bf94aa48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6729979f89464f" /><Relationship Type="http://schemas.openxmlformats.org/officeDocument/2006/relationships/notesMaster" Target="/ppt/notesMasters/notesMaster1.xml" Id="R964634e738a34a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b0a53830154b49" /><Relationship Type="http://schemas.openxmlformats.org/officeDocument/2006/relationships/notesMaster" Target="/ppt/notesMasters/notesMaster1.xml" Id="Rfdd56c46079c4e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5f2a4b841d54d12" /><Relationship Type="http://schemas.openxmlformats.org/officeDocument/2006/relationships/notesMaster" Target="/ppt/notesMasters/notesMaster1.xml" Id="R4b3dfb7acf4245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1fb4d3e45948a2" /><Relationship Type="http://schemas.openxmlformats.org/officeDocument/2006/relationships/notesMaster" Target="/ppt/notesMasters/notesMaster1.xml" Id="R6d6e37158b7440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68dcddfc45a4089" /><Relationship Type="http://schemas.openxmlformats.org/officeDocument/2006/relationships/notesMaster" Target="/ppt/notesMasters/notesMaster1.xml" Id="Rfd43d307f03e48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ca562c4fe834e75" /><Relationship Type="http://schemas.openxmlformats.org/officeDocument/2006/relationships/notesMaster" Target="/ppt/notesMasters/notesMaster1.xml" Id="R7a676b6884c1477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d93cf0bb264e0b" /><Relationship Type="http://schemas.openxmlformats.org/officeDocument/2006/relationships/notesMaster" Target="/ppt/notesMasters/notesMaster1.xml" Id="R2c6fb7623a8f40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01c102d67147a4" /><Relationship Type="http://schemas.openxmlformats.org/officeDocument/2006/relationships/notesMaster" Target="/ppt/notesMasters/notesMaster1.xml" Id="R29270be719f84c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868fcb760754dd8" /><Relationship Type="http://schemas.openxmlformats.org/officeDocument/2006/relationships/notesMaster" Target="/ppt/notesMasters/notesMaster1.xml" Id="Rc2ce9275409044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ffba9c6735d41db" /><Relationship Type="http://schemas.openxmlformats.org/officeDocument/2006/relationships/notesMaster" Target="/ppt/notesMasters/notesMaster1.xml" Id="R546d132a853c4c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53af7efcb37486a" /><Relationship Type="http://schemas.openxmlformats.org/officeDocument/2006/relationships/notesMaster" Target="/ppt/notesMasters/notesMaster1.xml" Id="R738a69adb522460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eb9c40ba34b463f" /><Relationship Type="http://schemas.openxmlformats.org/officeDocument/2006/relationships/notesMaster" Target="/ppt/notesMasters/notesMaster1.xml" Id="R1b0f97e4efa94dc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6d15c39aa44506" /><Relationship Type="http://schemas.openxmlformats.org/officeDocument/2006/relationships/notesMaster" Target="/ppt/notesMasters/notesMaster1.xml" Id="R53dfe7b613f44e3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89cf5c342b44b6d" /><Relationship Type="http://schemas.openxmlformats.org/officeDocument/2006/relationships/notesMaster" Target="/ppt/notesMasters/notesMaster1.xml" Id="Rf11d00bd636f4f4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baf15fc90c54c95" /><Relationship Type="http://schemas.openxmlformats.org/officeDocument/2006/relationships/notesMaster" Target="/ppt/notesMasters/notesMaster1.xml" Id="R5e04e090318c4d8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023dabc64046a6" /><Relationship Type="http://schemas.openxmlformats.org/officeDocument/2006/relationships/notesMaster" Target="/ppt/notesMasters/notesMaster1.xml" Id="Rd768375d762a4da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5146286a0249f6" /><Relationship Type="http://schemas.openxmlformats.org/officeDocument/2006/relationships/notesMaster" Target="/ppt/notesMasters/notesMaster1.xml" Id="R227d460ff262419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32bed1240d64b30" /><Relationship Type="http://schemas.openxmlformats.org/officeDocument/2006/relationships/notesMaster" Target="/ppt/notesMasters/notesMaster1.xml" Id="R0a070657eb39485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d0787db1df54ebd" /><Relationship Type="http://schemas.openxmlformats.org/officeDocument/2006/relationships/notesMaster" Target="/ppt/notesMasters/notesMaster1.xml" Id="R34aed1c577b9491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1706d1bcce245ad" /><Relationship Type="http://schemas.openxmlformats.org/officeDocument/2006/relationships/notesMaster" Target="/ppt/notesMasters/notesMaster1.xml" Id="Re2cfbe4c60b5429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b1240460d574ea5" /><Relationship Type="http://schemas.openxmlformats.org/officeDocument/2006/relationships/notesMaster" Target="/ppt/notesMasters/notesMaster1.xml" Id="R8fc65010ed0540b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9329417a79e47dc" /><Relationship Type="http://schemas.openxmlformats.org/officeDocument/2006/relationships/notesMaster" Target="/ppt/notesMasters/notesMaster1.xml" Id="R706f1811f83a48d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0306033a5884684" /><Relationship Type="http://schemas.openxmlformats.org/officeDocument/2006/relationships/notesMaster" Target="/ppt/notesMasters/notesMaster1.xml" Id="R60b37fce254a433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69c6ba6a8324ab1" /><Relationship Type="http://schemas.openxmlformats.org/officeDocument/2006/relationships/notesMaster" Target="/ppt/notesMasters/notesMaster1.xml" Id="R6024f98e49ad4d7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65b43fffe3d4987" /><Relationship Type="http://schemas.openxmlformats.org/officeDocument/2006/relationships/notesMaster" Target="/ppt/notesMasters/notesMaster1.xml" Id="Ra7f86fa9f9f94ef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7a7fb0cb94241a7" /><Relationship Type="http://schemas.openxmlformats.org/officeDocument/2006/relationships/notesMaster" Target="/ppt/notesMasters/notesMaster1.xml" Id="Rd7fe10c15e9c4e6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97c86630599497c" /><Relationship Type="http://schemas.openxmlformats.org/officeDocument/2006/relationships/notesMaster" Target="/ppt/notesMasters/notesMaster1.xml" Id="R71daa9d5ca06473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129209d84ac4e4a" /><Relationship Type="http://schemas.openxmlformats.org/officeDocument/2006/relationships/notesMaster" Target="/ppt/notesMasters/notesMaster1.xml" Id="Reec3a33c6c43465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97db8f0949a4bfe" /><Relationship Type="http://schemas.openxmlformats.org/officeDocument/2006/relationships/notesMaster" Target="/ppt/notesMasters/notesMaster1.xml" Id="R719be470a8ba4df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0033d2e284f4d3b" /><Relationship Type="http://schemas.openxmlformats.org/officeDocument/2006/relationships/notesMaster" Target="/ppt/notesMasters/notesMaster1.xml" Id="R8ed5fefd48e444d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42895d3afb040d4" /><Relationship Type="http://schemas.openxmlformats.org/officeDocument/2006/relationships/notesMaster" Target="/ppt/notesMasters/notesMaster1.xml" Id="Rafd2d5b1bbc6478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84045b3b9ff4dd3" /><Relationship Type="http://schemas.openxmlformats.org/officeDocument/2006/relationships/notesMaster" Target="/ppt/notesMasters/notesMaster1.xml" Id="Rcd2063fb1035421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bd5c80d58234a11" /><Relationship Type="http://schemas.openxmlformats.org/officeDocument/2006/relationships/notesMaster" Target="/ppt/notesMasters/notesMaster1.xml" Id="Ra24fc46921814eb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d8bdaa51f7d44d9" /><Relationship Type="http://schemas.openxmlformats.org/officeDocument/2006/relationships/notesMaster" Target="/ppt/notesMasters/notesMaster1.xml" Id="Rdd62584e3c4f4ad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85ab0f505404c67" /><Relationship Type="http://schemas.openxmlformats.org/officeDocument/2006/relationships/notesMaster" Target="/ppt/notesMasters/notesMaster1.xml" Id="R5807787a6c7c4f9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e225209e2d34093" /><Relationship Type="http://schemas.openxmlformats.org/officeDocument/2006/relationships/notesMaster" Target="/ppt/notesMasters/notesMaster1.xml" Id="Rce7528470e6b4ec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08ca651462b48d4" /><Relationship Type="http://schemas.openxmlformats.org/officeDocument/2006/relationships/notesMaster" Target="/ppt/notesMasters/notesMaster1.xml" Id="R2566113f0e374d3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1e7853c78ed47af" /><Relationship Type="http://schemas.openxmlformats.org/officeDocument/2006/relationships/notesMaster" Target="/ppt/notesMasters/notesMaster1.xml" Id="R4fbbbc5537dc483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baab32794ae4361" /><Relationship Type="http://schemas.openxmlformats.org/officeDocument/2006/relationships/notesMaster" Target="/ppt/notesMasters/notesMaster1.xml" Id="Rf6ee0325bb5d4e2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de29ce9ada84e7e" /><Relationship Type="http://schemas.openxmlformats.org/officeDocument/2006/relationships/notesMaster" Target="/ppt/notesMasters/notesMaster1.xml" Id="R3ddc17eb45134c4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603cbeb072e4476" /><Relationship Type="http://schemas.openxmlformats.org/officeDocument/2006/relationships/notesMaster" Target="/ppt/notesMasters/notesMaster1.xml" Id="R0676812f8bbd4c2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b2846eb5c5a4867" /><Relationship Type="http://schemas.openxmlformats.org/officeDocument/2006/relationships/notesMaster" Target="/ppt/notesMasters/notesMaster1.xml" Id="R99d8f1e6d727414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e207535fcc64d52" /><Relationship Type="http://schemas.openxmlformats.org/officeDocument/2006/relationships/notesMaster" Target="/ppt/notesMasters/notesMaster1.xml" Id="Recfbb306987c4fa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c40b95fbff04c56" /><Relationship Type="http://schemas.openxmlformats.org/officeDocument/2006/relationships/notesMaster" Target="/ppt/notesMasters/notesMaster1.xml" Id="Rc0164d743dda44d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d7c0535a09447f4" /><Relationship Type="http://schemas.openxmlformats.org/officeDocument/2006/relationships/notesMaster" Target="/ppt/notesMasters/notesMaster1.xml" Id="R01c73b2e45594a2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83d8562a20e46e1" /><Relationship Type="http://schemas.openxmlformats.org/officeDocument/2006/relationships/notesMaster" Target="/ppt/notesMasters/notesMaster1.xml" Id="Rd66ea2986a09498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1a4970d0ad14e8c" /><Relationship Type="http://schemas.openxmlformats.org/officeDocument/2006/relationships/notesMaster" Target="/ppt/notesMasters/notesMaster1.xml" Id="R36c1b66f22eb4f8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0bd9330f1b8417c" /><Relationship Type="http://schemas.openxmlformats.org/officeDocument/2006/relationships/notesMaster" Target="/ppt/notesMasters/notesMaster1.xml" Id="Rb996a5389bbc46b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158ee5e802047c7" /><Relationship Type="http://schemas.openxmlformats.org/officeDocument/2006/relationships/notesMaster" Target="/ppt/notesMasters/notesMaster1.xml" Id="R330ea667106342c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6e66476adf646e9" /><Relationship Type="http://schemas.openxmlformats.org/officeDocument/2006/relationships/notesMaster" Target="/ppt/notesMasters/notesMaster1.xml" Id="Rcea61535566544c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84d1d9e2882426d" /><Relationship Type="http://schemas.openxmlformats.org/officeDocument/2006/relationships/notesMaster" Target="/ppt/notesMasters/notesMaster1.xml" Id="Rb3b2ddbab5bc4cf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881e1182eed4974" /><Relationship Type="http://schemas.openxmlformats.org/officeDocument/2006/relationships/notesMaster" Target="/ppt/notesMasters/notesMaster1.xml" Id="Rcefa6f15eb3e4a9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97840d3e1064418" /><Relationship Type="http://schemas.openxmlformats.org/officeDocument/2006/relationships/notesMaster" Target="/ppt/notesMasters/notesMaster1.xml" Id="R0ecd7da371864f7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5cb9ad1b1f442a3" /><Relationship Type="http://schemas.openxmlformats.org/officeDocument/2006/relationships/notesMaster" Target="/ppt/notesMasters/notesMaster1.xml" Id="Rc6abd9cb1e434dd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26d49b66c4b4521" /><Relationship Type="http://schemas.openxmlformats.org/officeDocument/2006/relationships/notesMaster" Target="/ppt/notesMasters/notesMaster1.xml" Id="R8406d40e91304cf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6ed960aa08c4bd7" /><Relationship Type="http://schemas.openxmlformats.org/officeDocument/2006/relationships/notesMaster" Target="/ppt/notesMasters/notesMaster1.xml" Id="Rbcffbec2e22a47e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41a2d2b15a24302" /><Relationship Type="http://schemas.openxmlformats.org/officeDocument/2006/relationships/notesMaster" Target="/ppt/notesMasters/notesMaster1.xml" Id="R6e3c6611f0254e1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b20bcc31ec54726" /><Relationship Type="http://schemas.openxmlformats.org/officeDocument/2006/relationships/notesMaster" Target="/ppt/notesMasters/notesMaster1.xml" Id="R685640fd2fe14ce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3ce2d2ce3dc4067" /><Relationship Type="http://schemas.openxmlformats.org/officeDocument/2006/relationships/notesMaster" Target="/ppt/notesMasters/notesMaster1.xml" Id="R3b64559b6743474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2355a6fa7bd4c51" /><Relationship Type="http://schemas.openxmlformats.org/officeDocument/2006/relationships/notesMaster" Target="/ppt/notesMasters/notesMaster1.xml" Id="R37cafaeae2454310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00ef997e16eb41e1" /><Relationship Type="http://schemas.openxmlformats.org/officeDocument/2006/relationships/notesMaster" Target="/ppt/notesMasters/notesMaster1.xml" Id="R1314c39938b047c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b192eeecefa4cfe" /><Relationship Type="http://schemas.openxmlformats.org/officeDocument/2006/relationships/notesMaster" Target="/ppt/notesMasters/notesMaster1.xml" Id="Rb346d47ce7944c20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cfa91ce0c3714ee4" /><Relationship Type="http://schemas.openxmlformats.org/officeDocument/2006/relationships/notesMaster" Target="/ppt/notesMasters/notesMaster1.xml" Id="Rb549002182fb4a4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83d08ce796044483" /><Relationship Type="http://schemas.openxmlformats.org/officeDocument/2006/relationships/notesMaster" Target="/ppt/notesMasters/notesMaster1.xml" Id="Rb1698f423cd246a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46f04fa46dd24621" /><Relationship Type="http://schemas.openxmlformats.org/officeDocument/2006/relationships/notesMaster" Target="/ppt/notesMasters/notesMaster1.xml" Id="R0a65a910dd41457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9f8e84b662740db" /><Relationship Type="http://schemas.openxmlformats.org/officeDocument/2006/relationships/notesMaster" Target="/ppt/notesMasters/notesMaster1.xml" Id="Rbd1e7ba16e3f4489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e45269bf24b848b7" /><Relationship Type="http://schemas.openxmlformats.org/officeDocument/2006/relationships/notesMaster" Target="/ppt/notesMasters/notesMaster1.xml" Id="R4ff27439bb97447c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b61c3f8398744500" /><Relationship Type="http://schemas.openxmlformats.org/officeDocument/2006/relationships/notesMaster" Target="/ppt/notesMasters/notesMaster1.xml" Id="R45e42919e9a4491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10fa244ce3b4c5f" /><Relationship Type="http://schemas.openxmlformats.org/officeDocument/2006/relationships/notesMaster" Target="/ppt/notesMasters/notesMaster1.xml" Id="Rfcc61da7249842e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9306e2accb349a0" /><Relationship Type="http://schemas.openxmlformats.org/officeDocument/2006/relationships/notesMaster" Target="/ppt/notesMasters/notesMaster1.xml" Id="R2d5cb674acd743ba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5867a0ad0e84ab8" /><Relationship Type="http://schemas.openxmlformats.org/officeDocument/2006/relationships/notesMaster" Target="/ppt/notesMasters/notesMaster1.xml" Id="R0213083cb6324e5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5465020d3154323" /><Relationship Type="http://schemas.openxmlformats.org/officeDocument/2006/relationships/notesMaster" Target="/ppt/notesMasters/notesMaster1.xml" Id="R5af9de0ea1e84db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23bfc2874204cc2" /><Relationship Type="http://schemas.openxmlformats.org/officeDocument/2006/relationships/notesMaster" Target="/ppt/notesMasters/notesMaster1.xml" Id="R246d08ce476e4ed1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d801aa454c248b7" /><Relationship Type="http://schemas.openxmlformats.org/officeDocument/2006/relationships/notesMaster" Target="/ppt/notesMasters/notesMaster1.xml" Id="Ra7a24a010042428e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242c11aae4e941dd" /><Relationship Type="http://schemas.openxmlformats.org/officeDocument/2006/relationships/notesMaster" Target="/ppt/notesMasters/notesMaster1.xml" Id="R6f56f3a244474a30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2a25a6b9ab1d44e0" /><Relationship Type="http://schemas.openxmlformats.org/officeDocument/2006/relationships/notesMaster" Target="/ppt/notesMasters/notesMaster1.xml" Id="R37a008dfa0fe4bb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99165b5ced44a12" /><Relationship Type="http://schemas.openxmlformats.org/officeDocument/2006/relationships/notesMaster" Target="/ppt/notesMasters/notesMaster1.xml" Id="Rcd243daa418d4e40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c20c7a64355f4684" /><Relationship Type="http://schemas.openxmlformats.org/officeDocument/2006/relationships/notesMaster" Target="/ppt/notesMasters/notesMaster1.xml" Id="Ra6f3d5873a47465c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681266a505c4a46" /><Relationship Type="http://schemas.openxmlformats.org/officeDocument/2006/relationships/notesMaster" Target="/ppt/notesMasters/notesMaster1.xml" Id="R41b0c92d5c0d425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979d964fd5a4a04" /><Relationship Type="http://schemas.openxmlformats.org/officeDocument/2006/relationships/notesMaster" Target="/ppt/notesMasters/notesMaster1.xml" Id="R089a7b7ec00c4eec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4737fcc6c6434d46" /><Relationship Type="http://schemas.openxmlformats.org/officeDocument/2006/relationships/notesMaster" Target="/ppt/notesMasters/notesMaster1.xml" Id="Rf80ec7fe0b4948fa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a136709a4cec47f9" /><Relationship Type="http://schemas.openxmlformats.org/officeDocument/2006/relationships/notesMaster" Target="/ppt/notesMasters/notesMaster1.xml" Id="Rbef8540aa219442d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e439bac2a0474f95" /><Relationship Type="http://schemas.openxmlformats.org/officeDocument/2006/relationships/notesMaster" Target="/ppt/notesMasters/notesMaster1.xml" Id="R2fbc734275374164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bcb51af5b2a4a5d" /><Relationship Type="http://schemas.openxmlformats.org/officeDocument/2006/relationships/notesMaster" Target="/ppt/notesMasters/notesMaster1.xml" Id="R9e65b04f4674418e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2b271632fdb43e3" /><Relationship Type="http://schemas.openxmlformats.org/officeDocument/2006/relationships/notesMaster" Target="/ppt/notesMasters/notesMaster1.xml" Id="R7d918ed0d55e418a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327e5d3a6b04067" /><Relationship Type="http://schemas.openxmlformats.org/officeDocument/2006/relationships/notesMaster" Target="/ppt/notesMasters/notesMaster1.xml" Id="R68810c2f57f9414c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8cb10c94f39b4bb0" /><Relationship Type="http://schemas.openxmlformats.org/officeDocument/2006/relationships/notesMaster" Target="/ppt/notesMasters/notesMaster1.xml" Id="Rd9f278e2c6d54656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851a97882224652" /><Relationship Type="http://schemas.openxmlformats.org/officeDocument/2006/relationships/notesMaster" Target="/ppt/notesMasters/notesMaster1.xml" Id="R1551c3a4b24b4f1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bcd16a694584042" /><Relationship Type="http://schemas.openxmlformats.org/officeDocument/2006/relationships/notesMaster" Target="/ppt/notesMasters/notesMaster1.xml" Id="R3478766226404b8b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ea3e4577795b4191" /><Relationship Type="http://schemas.openxmlformats.org/officeDocument/2006/relationships/notesMaster" Target="/ppt/notesMasters/notesMaster1.xml" Id="R6575195c429844e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5a472012629046fc" /><Relationship Type="http://schemas.openxmlformats.org/officeDocument/2006/relationships/notesMaster" Target="/ppt/notesMasters/notesMaster1.xml" Id="Rb6918a25302240c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92e93cb260894bcc" /><Relationship Type="http://schemas.openxmlformats.org/officeDocument/2006/relationships/notesMaster" Target="/ppt/notesMasters/notesMaster1.xml" Id="R60618760f4b44497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d541893165614038" /><Relationship Type="http://schemas.openxmlformats.org/officeDocument/2006/relationships/notesMaster" Target="/ppt/notesMasters/notesMaster1.xml" Id="Re17ded761a2d444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08065b198bcd4250" /><Relationship Type="http://schemas.openxmlformats.org/officeDocument/2006/relationships/notesMaster" Target="/ppt/notesMasters/notesMaster1.xml" Id="R0a6e82dff3b04066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84dbcc4d3f354688" /><Relationship Type="http://schemas.openxmlformats.org/officeDocument/2006/relationships/notesMaster" Target="/ppt/notesMasters/notesMaster1.xml" Id="Re443be93f439434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7af14031a7f84bc2" /><Relationship Type="http://schemas.openxmlformats.org/officeDocument/2006/relationships/notesMaster" Target="/ppt/notesMasters/notesMaster1.xml" Id="R1cd819dd13d24a7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40b27e1f5ea14f25" /><Relationship Type="http://schemas.openxmlformats.org/officeDocument/2006/relationships/notesMaster" Target="/ppt/notesMasters/notesMaster1.xml" Id="Rf27278e384d74b2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53575495d8f74be1" /><Relationship Type="http://schemas.openxmlformats.org/officeDocument/2006/relationships/notesMaster" Target="/ppt/notesMasters/notesMaster1.xml" Id="Rcc45c50c926e406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721e66ab170a4775" /><Relationship Type="http://schemas.openxmlformats.org/officeDocument/2006/relationships/notesMaster" Target="/ppt/notesMasters/notesMaster1.xml" Id="Re9833b8c10db4fd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2669ef96864f4752" /><Relationship Type="http://schemas.openxmlformats.org/officeDocument/2006/relationships/notesMaster" Target="/ppt/notesMasters/notesMaster1.xml" Id="Rd226a0964b3446ea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4dd471b3f4fa4781" /><Relationship Type="http://schemas.openxmlformats.org/officeDocument/2006/relationships/notesMaster" Target="/ppt/notesMasters/notesMaster1.xml" Id="R9b2126d3db774b28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b4d4f612771a4982" /><Relationship Type="http://schemas.openxmlformats.org/officeDocument/2006/relationships/notesMaster" Target="/ppt/notesMasters/notesMaster1.xml" Id="R34f8126bbbbe4bff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87962915ffde4f9a" /><Relationship Type="http://schemas.openxmlformats.org/officeDocument/2006/relationships/notesMaster" Target="/ppt/notesMasters/notesMaster1.xml" Id="R53733e407ae846d5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8d780f6d543b4b61" /><Relationship Type="http://schemas.openxmlformats.org/officeDocument/2006/relationships/notesMaster" Target="/ppt/notesMasters/notesMaster1.xml" Id="Rac647c531a604c61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39788bfaff24cfb" /><Relationship Type="http://schemas.openxmlformats.org/officeDocument/2006/relationships/notesMaster" Target="/ppt/notesMasters/notesMaster1.xml" Id="R964eaad9a3c949c6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6a6b7b3925494fba" /><Relationship Type="http://schemas.openxmlformats.org/officeDocument/2006/relationships/notesMaster" Target="/ppt/notesMasters/notesMaster1.xml" Id="Rcb899b4cc1774118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04cea81606b04994" /><Relationship Type="http://schemas.openxmlformats.org/officeDocument/2006/relationships/notesMaster" Target="/ppt/notesMasters/notesMaster1.xml" Id="R2f0f45bdaa2740ae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aa540744f05c4626" /><Relationship Type="http://schemas.openxmlformats.org/officeDocument/2006/relationships/notesMaster" Target="/ppt/notesMasters/notesMaster1.xml" Id="Rc7cdec11c3994cb3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ebfe7aaf3e4d474f" /><Relationship Type="http://schemas.openxmlformats.org/officeDocument/2006/relationships/notesMaster" Target="/ppt/notesMasters/notesMaster1.xml" Id="Rc1a1ed4c72514d9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363f04758af4250" /><Relationship Type="http://schemas.openxmlformats.org/officeDocument/2006/relationships/notesMaster" Target="/ppt/notesMasters/notesMaster1.xml" Id="Rf0b45af7e3714310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fb4d52564e58466a" /><Relationship Type="http://schemas.openxmlformats.org/officeDocument/2006/relationships/notesMaster" Target="/ppt/notesMasters/notesMaster1.xml" Id="R559a6386436b4cc9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d171b0dc412b4656" /><Relationship Type="http://schemas.openxmlformats.org/officeDocument/2006/relationships/notesMaster" Target="/ppt/notesMasters/notesMaster1.xml" Id="Rdc344496e26c4076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7b20c2676b72437d" /><Relationship Type="http://schemas.openxmlformats.org/officeDocument/2006/relationships/notesMaster" Target="/ppt/notesMasters/notesMaster1.xml" Id="R7fb03a47addf45a3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9535a22c3a574f75" /><Relationship Type="http://schemas.openxmlformats.org/officeDocument/2006/relationships/notesMaster" Target="/ppt/notesMasters/notesMaster1.xml" Id="R97a376a83fce4dac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ed852bb041b14328" /><Relationship Type="http://schemas.openxmlformats.org/officeDocument/2006/relationships/notesMaster" Target="/ppt/notesMasters/notesMaster1.xml" Id="R3d8ae946b95c4608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d75e43ac6d24fe4" /><Relationship Type="http://schemas.openxmlformats.org/officeDocument/2006/relationships/notesMaster" Target="/ppt/notesMasters/notesMaster1.xml" Id="R9a14f5adc4a14b56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29858c4744ca4b51" /><Relationship Type="http://schemas.openxmlformats.org/officeDocument/2006/relationships/notesMaster" Target="/ppt/notesMasters/notesMaster1.xml" Id="R357112fa1c514ce4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723ae555935498f" /><Relationship Type="http://schemas.openxmlformats.org/officeDocument/2006/relationships/notesMaster" Target="/ppt/notesMasters/notesMaster1.xml" Id="R180ee7cd2d934e43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d2dc400860d54ea0" /><Relationship Type="http://schemas.openxmlformats.org/officeDocument/2006/relationships/notesMaster" Target="/ppt/notesMasters/notesMaster1.xml" Id="Rad9c74383e6a4e2a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6298b321b6774309" /><Relationship Type="http://schemas.openxmlformats.org/officeDocument/2006/relationships/notesMaster" Target="/ppt/notesMasters/notesMaster1.xml" Id="Rfab37472005c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1: 1-Day SOC Building and Operations Workshop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2: Why this workshop exists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Most SOC failures are operating-model failures before they are tool failures.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3: Audience map by role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CISO owns risk appetite, funding, executive escalation, and external posture.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4: Learning outcomes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Design a SOC blueprint with scope, telemetry, tools, and ownership.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5: Full-day agenda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6: How to use this deck during the workshop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7: How this repo maps to the workshop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Build content comes from SOC fundamentals, budget, architecture, and technology guides.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8: Workshop rules: practical outputs, not theory only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9: What a SOC is and is not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 SOC is an operating capability, not a room with dashboards.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10: Business outcomes of a SOC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Reduce detection and response time for priority threats.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11: SOC service boundaries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Define which assets, identities, services, cloud workloads, and data classes are in scope.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12: SOC maturity stages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Foundation: scope, minimum telemetry, triage routine, and severity model.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13: In-house vs MSSP vs hybrid model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In-house maximizes control but requires staffing, management, and content maturity.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14: When each operating model fails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In-house fails when coverage expands faster than staffing and process quality.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15: Minimum viable SOC vs mature SOC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Minimum viable means critical logs, critical detections, triage, severity, and escalation.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16: Core SOC services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Monitoring and triage: alert intake, enrichment, severity, and routing.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17: People, process, technology operating triangle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People decide and execute; process makes decisions repeatable; technology provides evidence.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18: Common early-stage mistakes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Tool-first implementation without mission, scope, or log-source priorities.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19: Common scale-stage mistakes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Alert volume grows but tuning, coverage management, and handoff quality do not.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20: SOC maturity comparison matrix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21: operating model comparison table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22: Workshop: define SOC scope and target state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23: What a practical SOC blueprint looks like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It shows systems, telemetry, tools, ownership, workflows, and escalation boundaries.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24: High-level SOC architecture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Telemetry sources feed collection, normalization, analytics, enrichment, case management, and response.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25: Telemetry pipeline overview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Collect only what has an investigation, compliance, or detection use case.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26: Endpoint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Prioritize process execution, parent-child process chains, file writes, persistence, and isolation state.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27: Identity and authentication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Collect successful and failed login, MFA events, privilege changes, token activity, and risky sign-ins.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28: Network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Network visibility supports C2, DNS tunneling, exfiltration, scanning, and lateral movement.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29: Email and collaboration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Email is the front door for phishing, BEC, malware delivery, and social engineering.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30: Cloud and SaaS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Cloud incidents often start as identity, API, storage exposure, or configuration events.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31: Application and database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Application logs prove user action, transaction context, data access, and abuse patterns.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32: Alerting and enrichment flow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Alert quality improves when enrichment adds asset criticality, identity role, vulnerability, and threat intel.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33: Case management and response flow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The case record is the operational source of truth for decisions and evidence.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34: Log-source prioritization model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Start with identity, endpoint, firewall, email, cloud control plane, DNS, and proxy.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35: Trust boundaries and data sensitivity zones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Mark where personal data, regulated records, privileged admin paths, and third-party access live.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36: architecture pattern comparison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37: telemetry coverage and blind spots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38: Worksheet: draft target-state architecture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39: SOC organization structure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Separate monitoring, engineering, IR, management, and executive decision ownership.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40: Role map: CISO to analyst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CISO sets risk appetite, escalation expectations, funding, and executive commitments.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41: Tier 1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Monitor queues, validate alert context, classify obvious false positives, and escalate confirmed risk.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42: Tier 2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Perform deeper investigation across identity, endpoint, network, cloud, and application evidence.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43: Tier 3 / IR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Lead complex incidents, containment strategy, eradication, recovery validation, and PIR.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44: Security engineering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Own telemetry onboarding, parser quality, detection deployment, tuning, and automation guardrails.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45: SOC Manager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Own workflow quality, staffing, escalation discipline, metrics, and service expectations.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46: CISO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Own risk decisions, external posture, board visibility, and investment priorities.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47: Skill matrix across roles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Analysts need triage, log reading, evidence notes, and escalation judgment.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48: Staffing model basics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Calculate coverage by seat-hours, not by job titles.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49: 8x5 vs extended-hours vs 24x7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8x5 works when after-hours risk is accepted or covered externally.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50: Shift design patterns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Design shifts around alert volume, business hours, service criticality, and fatigue management.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51: Shift handoff model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Handoff should transfer active incidents, pending decisions, fragile services, and open evidence requests.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52: staffing benchmark examples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53: role-to-responsibility matrix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54: Workshop: design staffing and shift coverage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55: Core SOC tool categories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SIEM centralizes searchable evidence and detection correlation.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56: SIEM: job and selection criteria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The SIEM's job is searchable evidence, correlation, dashboards, and investigation continuity.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57: EDR/XDR: job and selection criteria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Endpoint tooling must support process context, isolation, collection, and response audit trail.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58: SOAR/automation: when it helps and when it hurts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Automation helps repeat enrichment, routing, evidence collection, and low-risk containment.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59: Threat intelligence platform and feeds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Threat intelligence should answer prioritized questions, not flood the SOC with indicators.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60: Case management and knowledge base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The case system preserves timeline, evidence, ownership, approvals, and closure rationale.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61: DLP, IAM, vulnerability, and supporting control data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Supporting control data turns alerts into risk context.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62: Tool integration sequence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Connect identity, endpoint, network, email, and cloud before advanced automation.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63: Build-vs-buy and complexity tradeoffs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Build when team skill, ownership, and maintenance capacity are real.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64: Budget categories: people, platform, content, operations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People costs usually dominate a sustainable SOC budget.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65: Phased budget model by maturity stage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Foundation funds minimum people, critical telemetry, SIEM/EDR, and core SOPs.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66: tool evaluation scorecard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67: budget allocation example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68: Worksheet: prioritize tools and budget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69: SOC operating model in production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Production SOC work is queue discipline, investigation quality, escalation, reporting, and improvement.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70: Service catalog and what the SOC owns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The service catalog defines what the SOC monitors, responds to, reports, and improves.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71: Alert intake to triage flow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Every alert needs source, confidence, affected asset, identity, severity, and routing.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72: Escalation path and authority boundaries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Escalation is about decision rights, not just notification.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73: Shift handoff operational pattern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Handoff transfers active work, fragile services, unresolved decisions, and monitoring priorities.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74: KPI model: MTTD, MTTR, quality, backlog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Time metrics matter, but quality metrics show whether the work is trusted.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75: Detection backlog management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Backlog items need threat rationale, telemetry dependency, owner, priority, and validation plan.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76: Telemetry onboarding lifecycle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Onboarding is request, owner approval, parsing, validation, use case mapping, and health monitoring.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77: Alert tuning lifecycle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Tuning starts from observed false positives and missed true positives.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78: Governance cadence: daily, weekly, monthly, quarterly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Daily manages active operations and incidents.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79: Control ownership and accountability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Every control needs business owner, technical owner, evidence owner, and escalation owner.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80: governance operating calendar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81: service ownership / RACI example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82: Workshop: map your operating workflow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83: Detection engineering mission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Detection engineering converts risk hypotheses into tested, maintainable monitoring content.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84: Use case lifecycle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Start with threat or business risk, then define data, logic, test, owner, and response.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85: Mapping to ATT&amp;CK and business risk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ATT&amp;CK gives technique language; business risk gives prioritization.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86: Telemetry dependency model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 detection is only as strong as the source, parser, retention, and context behind it.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87: Sigma and YARA in the operating model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Sigma expresses log detections in a portable way; YARA expresses file or malware signatures.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88: Detection content quality attributes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Good content is specific, explainable, testable, maintainable, and mapped to response.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89: False positive reduction loop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Classify why the alert fired and why it was not actionable.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90: Coverage matrix concept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Coverage is a matrix of risk, technique, telemetry, detection, playbook, and owner.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91: Prioritizing detections by threat and asset value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Start with high-impact assets, likely attack paths, and recent incident lessons.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92: Detection testing and validation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Test with controlled simulations, historical data, and expected false-positive examples.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93: Promotion workflow: idea to production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Idea, design, data validation, test, peer review, staged release, monitoring, and review.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94: sample use case hierarchy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95: sample coverage matrix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96: Worksheet: identify coverage gaps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97: IR lifecycle overview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preparation, detection, analysis, containment, eradication, recovery, and lessons learned.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98: Severity model and classification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Severity should reflect business impact, data impact, spread, privilege, and service disruption.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99: Decision authority in incidents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High-impact actions require named approvers before the incident occurs.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100: Analyst-to-IR escalation model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Escalate when scope expands, containment is needed, evidence may be legal, or severity exceeds queue handling.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101: Runbooks vs playbooks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Runbooks guide routine analyst actions by tier and workflow.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102: Playbook operating pattern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Trigger, triage, analysis, containment, eradication, recovery, communication, and closure.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103: Containment decision logic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Containment balances risk reduction against business disruption and evidence preservation.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104: Eradication and recovery logic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Eradication removes attacker access, persistence, malicious artifacts, and exploited weakness.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105: Evidence handling and preservation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Preserve logs, artifacts, screenshots, hashes, requests, and decision records early.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106: Chain of custody basics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Record who collected, transferred, stored, accessed, and released each evidence item.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107: Decision logging during incidents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Log what was known, what was assumed, who approved, and what happens next.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108: Crisis command / war room model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Activate when severity, service impact, external pressure, or uncertainty exceeds normal workflow.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109: Closure, PIR, and lessons learned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Closure needs technical recovery, monitoring exit, communications completion, and outstanding risk decisions.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110: severity matrix view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111: evidence and decision chain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112: Workshop block 3 debrief: alert-to-incident operating exercise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113: Why Thai compliance belongs in SOC operations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SOC produces the facts needed for Legal, DPO, CISO, and executives to decide.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114: PDPA operating checkpoint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Open when personal data or sensitive personal data may be exposed, altered, destroyed, or accessed.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115: Computer-Related Crime Act operating checkpoint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Open when unauthorized access, data alteration, malicious tooling, disruption, or traffic-data requests are involved.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116: Cybersecurity Act operating checkpoint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Open when a cyber threat may affect critical service, public-facing service, or public safety.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117: Electronic Transactions Act and evidentiary integrity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Electronic records may need integrity, authenticity, time source, and system-of-record proof.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118: NCSA / ThaiCERT coordination path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when national or sectoral coordination, advisory response, IOC sharing, or major incident support is needed.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119: Thai legal trigger-to-action model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Trigger identifies whether privacy, computer crime, cybersecurity, electronic evidence, or coordination path opens.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120: Notification decision and evidence package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Decision states notify, defer, or not required, with approver and next review time.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121: Thai legal escalation template in use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122: Workshop: legal-impact and escalation decisions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123: Incident report structure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Report what happened, when detected, systems affected, evidence, impact, actions, and status.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124: Incident decision log structure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Capture decision, options considered, evidence reviewed, approver, time, and next review.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125: Monthly SOC report structure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Report incidents, alert quality, backlog, telemetry health, detection changes, and remediation movement.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126: Executive dashboard view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Executives need risk posture, trend, major incidents, open decisions, and resource needs.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127: Board-level decision pack view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DECISION</a:t>
            </a:r>
          </a:p>
          <a:p xmlns:a="http://schemas.openxmlformats.org/drawingml/2006/main">
            <a:r>
              <a:t>เวลาแนะนำ: 4 นาทีอธิบาย / 2 นาทีถาม decision checkpoint</a:t>
            </a:r>
          </a:p>
          <a:p xmlns:a="http://schemas.openxmlformats.org/drawingml/2006/main">
            <a:r>
              <a:t>แนวทางผู้สอน: หยุดถาม decision point ก่อนอธิบายต่อ เพื่อให้ผู้เรียนคิดจากบริบทองค์กรจริง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Board material should show material risk, control gaps, accepted risk, funded actions, and progress.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128: Communicating facts vs assumptions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Facts are observed and evidenced; assumptions are current interpretations that may change.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129: reporting template map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130: Worksheet: executive escalation brief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131: SOC onboarding path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Onboarding should move from access and process awareness to shadowing, guided work, and independent handling.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132: Analyst development and cross-skilling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Develop analysts from queue handling toward investigation, detection logic, and incident coordination.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133: Simulation and purple-team cadence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Simulations test people, process, telemetry, detections, playbooks, and reporting.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134: Certification path and capability-building logic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Certifications support a skill path but do not replace hands-on operating practice.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135: Lessons learned into operational improvement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Lessons learned should create owned actions with due dates and governance follow-up.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136: training and maturity alignment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โหมดการสอน: REFERENCE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137: Capstone scenario setup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โหมดการสอน: DEBRIEF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Scenario: credential stuffing on a public customer portal followed by successful logins and invoice downloads.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138: Team task: architecture, staffing, detection, IR, legal, reporting decisions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Identify missing telemetry, current owners, shift path, and required containment decision.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139: Team task: evidence and escalation decisions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List the first evidence package: timeline, accounts, IPs, user actions, data accessed, logs, and custody.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140: Debrief framework by role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โหมดการสอน: DEBRIEF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CISO: risk decision, executive message, and external posture.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141: 30/60/90-day action plan output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โหมดการสอน: EXERCISE</a:t>
            </a:r>
          </a:p>
          <a:p xmlns:a="http://schemas.openxmlformats.org/drawingml/2006/main">
            <a:r>
              <a:t>เวลาแนะนำ: 3 นาทีตั้งโจทย์ / 10-15 นาทีทำกลุ่ม / 3 นาที debrief</a:t>
            </a:r>
          </a:p>
          <a:p xmlns:a="http://schemas.openxmlformats.org/drawingml/2006/main">
            <a:r>
              <a:t>แนวทางผู้สอน: ให้แบ่งกลุ่ม ทำ artifact จริง และบังคับให้ระบุ owner/evidence/next action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30 days: fix critical visibility, severity, handoff, and top playbooks.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142: Final takeaways and repo re-entry map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โหมดการสอน: TEACH</a:t>
            </a:r>
          </a:p>
          <a:p xmlns:a="http://schemas.openxmlformats.org/drawingml/2006/main">
            <a:r>
              <a:t>เวลาแนะนำ: 3-5 นาทีอธิบาย แล้วถามตัวอย่างจากองค์กรผู้เรียน</a:t>
            </a:r>
          </a:p>
          <a:p xmlns:a="http://schemas.openxmlformats.org/drawingml/2006/main">
            <a:r>
              <a:t>แนวทางผู้สอน: เล่าเป็น operating pattern แล้วโยงไปยัง workshop output ที่ต้องได้</a:t>
            </a:r>
          </a:p>
          <a:p xmlns:a="http://schemas.openxmlformats.org/drawingml/2006/main">
            <a:r>
              <a:t>โยงกับบทบาท: CISO ตัดสินใจความเสี่ยง, SOC Manager คุม workflow, Analyst/Engineer/IR สร้าง evidence และ action</a:t>
            </a:r>
          </a:p>
          <a:p xmlns:a="http://schemas.openxmlformats.org/drawingml/2006/main">
            <a:r>
              <a:t>ประเด็นหลัก: Use the repo as the operating manual, not as a document archive.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จุดที่มักพลาด: ตอบเป็นชื่อ tool แทนที่จะตอบเป็น workflow, evidence, authority และ owner</a:t>
            </a:r>
          </a:p>
          <a:p xmlns:a="http://schemas.openxmlformats.org/drawingml/2006/main">
            <a:r>
              <a:t>คำตอบที่คาดหวัง: ระบุ decision, owner, evidence path, missing facts และ next review</a:t>
            </a:r>
          </a:p>
          <a:p xmlns:a="http://schemas.openxmlformats.org/drawingml/2006/main">
            <a:r>
              <a:t>ผลลัพธ์ที่ต้องได้: workshop output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8a9a7f639485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ed7aeb92114165" /><Relationship Type="http://schemas.openxmlformats.org/officeDocument/2006/relationships/slideLayout" Target="/ppt/slideLayouts/slideLayout2.xml" Id="R35eb8051370c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b8051370c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341832720a4f7e" /><Relationship Type="http://schemas.openxmlformats.org/officeDocument/2006/relationships/image" Target="/ppt/media/image.jpeg" Id="R8f74be956b7b4ee2" /><Relationship Type="http://schemas.openxmlformats.org/officeDocument/2006/relationships/notesSlide" Target="/ppt/notesSlides/notesSlide1.xml" Id="Rcd32c43653fc4f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e1ecb2d454202" /><Relationship Type="http://schemas.openxmlformats.org/officeDocument/2006/relationships/notesSlide" Target="/ppt/notesSlides/notesSlide2.xml" Id="R15e0d266895c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ad9b9198f4775" /><Relationship Type="http://schemas.openxmlformats.org/officeDocument/2006/relationships/notesSlide" Target="/ppt/notesSlides/notesSlide3.xml" Id="Rcd7f51a2838048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18d7e80fe6418b" /><Relationship Type="http://schemas.openxmlformats.org/officeDocument/2006/relationships/notesSlide" Target="/ppt/notesSlides/notesSlide4.xml" Id="R179ca619552b48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44efb9f364bdb" /><Relationship Type="http://schemas.openxmlformats.org/officeDocument/2006/relationships/notesSlide" Target="/ppt/notesSlides/notesSlide5.xml" Id="R07eb1bd3b08841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5bb86f5b774a97" /><Relationship Type="http://schemas.openxmlformats.org/officeDocument/2006/relationships/notesSlide" Target="/ppt/notesSlides/notesSlide6.xml" Id="R84f71216e80649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7523d89fb4b6d" /><Relationship Type="http://schemas.openxmlformats.org/officeDocument/2006/relationships/image" Target="/ppt/media/image2.jpeg" Id="R7dcf6a5692574936" /><Relationship Type="http://schemas.openxmlformats.org/officeDocument/2006/relationships/notesSlide" Target="/ppt/notesSlides/notesSlide7.xml" Id="Rf594b3e26aca4e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9d35606c194bcb" /><Relationship Type="http://schemas.openxmlformats.org/officeDocument/2006/relationships/notesSlide" Target="/ppt/notesSlides/notesSlide8.xml" Id="R57da721a5f714f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07e62e3f64e24" /><Relationship Type="http://schemas.openxmlformats.org/officeDocument/2006/relationships/notesSlide" Target="/ppt/notesSlides/notesSlide9.xml" Id="R8da878211e924b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b40d2e01045a3" /><Relationship Type="http://schemas.openxmlformats.org/officeDocument/2006/relationships/notesSlide" Target="/ppt/notesSlides/notesSlide10.xml" Id="R9671a9e46f3443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d99569dc3b41ba" /><Relationship Type="http://schemas.openxmlformats.org/officeDocument/2006/relationships/notesSlide" Target="/ppt/notesSlides/notesSlide11.xml" Id="R8ab5ab782e144c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f6ac2eeb2d488e" /><Relationship Type="http://schemas.openxmlformats.org/officeDocument/2006/relationships/notesSlide" Target="/ppt/notesSlides/notesSlide12.xml" Id="R15920758f44448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c2f0d608b848e9" /><Relationship Type="http://schemas.openxmlformats.org/officeDocument/2006/relationships/notesSlide" Target="/ppt/notesSlides/notesSlide13.xml" Id="R7f70c43b96d444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039fc8cfd3419a" /><Relationship Type="http://schemas.openxmlformats.org/officeDocument/2006/relationships/notesSlide" Target="/ppt/notesSlides/notesSlide14.xml" Id="Ra335f55488ed46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025b83f8514362" /><Relationship Type="http://schemas.openxmlformats.org/officeDocument/2006/relationships/notesSlide" Target="/ppt/notesSlides/notesSlide15.xml" Id="R14fbf54812e648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51ec206529484a" /><Relationship Type="http://schemas.openxmlformats.org/officeDocument/2006/relationships/notesSlide" Target="/ppt/notesSlides/notesSlide16.xml" Id="Rcd12323e1e454b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58bfe00a44fdb" /><Relationship Type="http://schemas.openxmlformats.org/officeDocument/2006/relationships/notesSlide" Target="/ppt/notesSlides/notesSlide17.xml" Id="R670b53e48d2e4f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79f7071e2a4d5a" /><Relationship Type="http://schemas.openxmlformats.org/officeDocument/2006/relationships/notesSlide" Target="/ppt/notesSlides/notesSlide18.xml" Id="R37aec50d47ad48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349632a1e447b0" /><Relationship Type="http://schemas.openxmlformats.org/officeDocument/2006/relationships/notesSlide" Target="/ppt/notesSlides/notesSlide19.xml" Id="Rf7532ed978464e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38718f27f4162" /><Relationship Type="http://schemas.openxmlformats.org/officeDocument/2006/relationships/notesSlide" Target="/ppt/notesSlides/notesSlide20.xml" Id="R0b64ccd94fa842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1f13deba244d18" /><Relationship Type="http://schemas.openxmlformats.org/officeDocument/2006/relationships/notesSlide" Target="/ppt/notesSlides/notesSlide21.xml" Id="R8794df9249c948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151f1b38a4a38" /><Relationship Type="http://schemas.openxmlformats.org/officeDocument/2006/relationships/notesSlide" Target="/ppt/notesSlides/notesSlide22.xml" Id="R86a6ffb7de9a4d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644bda120f4b09" /><Relationship Type="http://schemas.openxmlformats.org/officeDocument/2006/relationships/notesSlide" Target="/ppt/notesSlides/notesSlide23.xml" Id="Rea20f20f275e47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8375a5ab44acf" /><Relationship Type="http://schemas.openxmlformats.org/officeDocument/2006/relationships/notesSlide" Target="/ppt/notesSlides/notesSlide24.xml" Id="R158b8ca10cef4d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2f95cfbe6c4497" /><Relationship Type="http://schemas.openxmlformats.org/officeDocument/2006/relationships/notesSlide" Target="/ppt/notesSlides/notesSlide25.xml" Id="Rd36121e1a34e40b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9c529106f41b1" /><Relationship Type="http://schemas.openxmlformats.org/officeDocument/2006/relationships/notesSlide" Target="/ppt/notesSlides/notesSlide26.xml" Id="R72f1edd0b2784e2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996d8dfbd4942" /><Relationship Type="http://schemas.openxmlformats.org/officeDocument/2006/relationships/notesSlide" Target="/ppt/notesSlides/notesSlide27.xml" Id="Ra974fae3ca0942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905d453154cf4" /><Relationship Type="http://schemas.openxmlformats.org/officeDocument/2006/relationships/notesSlide" Target="/ppt/notesSlides/notesSlide28.xml" Id="R721c081fe8ce4f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7f4b003a8d4020" /><Relationship Type="http://schemas.openxmlformats.org/officeDocument/2006/relationships/notesSlide" Target="/ppt/notesSlides/notesSlide29.xml" Id="R82aa5f71443f4e0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41b1a243c409b" /><Relationship Type="http://schemas.openxmlformats.org/officeDocument/2006/relationships/notesSlide" Target="/ppt/notesSlides/notesSlide30.xml" Id="R62dfd6b5ff0744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88df184f684614" /><Relationship Type="http://schemas.openxmlformats.org/officeDocument/2006/relationships/notesSlide" Target="/ppt/notesSlides/notesSlide31.xml" Id="Rf729fad602704ca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d59a345bd4f9f" /><Relationship Type="http://schemas.openxmlformats.org/officeDocument/2006/relationships/notesSlide" Target="/ppt/notesSlides/notesSlide32.xml" Id="R1c6911a5f60f4f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b8cd9286c4560" /><Relationship Type="http://schemas.openxmlformats.org/officeDocument/2006/relationships/notesSlide" Target="/ppt/notesSlides/notesSlide33.xml" Id="R049fcf1a36cf4d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ccc3e8641a485d" /><Relationship Type="http://schemas.openxmlformats.org/officeDocument/2006/relationships/notesSlide" Target="/ppt/notesSlides/notesSlide34.xml" Id="R42c582a2808d4c4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c0d782e91948df" /><Relationship Type="http://schemas.openxmlformats.org/officeDocument/2006/relationships/notesSlide" Target="/ppt/notesSlides/notesSlide35.xml" Id="Rd584ea60e509401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60c2be9f34e10" /><Relationship Type="http://schemas.openxmlformats.org/officeDocument/2006/relationships/notesSlide" Target="/ppt/notesSlides/notesSlide36.xml" Id="R45ee7387a3de4da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eb113ab7846c0" /><Relationship Type="http://schemas.openxmlformats.org/officeDocument/2006/relationships/notesSlide" Target="/ppt/notesSlides/notesSlide37.xml" Id="R450adfc5223d4b5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3165a266d4b3d" /><Relationship Type="http://schemas.openxmlformats.org/officeDocument/2006/relationships/notesSlide" Target="/ppt/notesSlides/notesSlide38.xml" Id="R1aa13e204e6e426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f4894fb9d4d8c" /><Relationship Type="http://schemas.openxmlformats.org/officeDocument/2006/relationships/notesSlide" Target="/ppt/notesSlides/notesSlide39.xml" Id="Ra6dc70be1ec34d4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9f1270fc84940" /><Relationship Type="http://schemas.openxmlformats.org/officeDocument/2006/relationships/notesSlide" Target="/ppt/notesSlides/notesSlide40.xml" Id="R0f5028a43bea44a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ad78464b474a5f" /><Relationship Type="http://schemas.openxmlformats.org/officeDocument/2006/relationships/notesSlide" Target="/ppt/notesSlides/notesSlide41.xml" Id="R6ea6d9e044e7499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1cc33d017421d" /><Relationship Type="http://schemas.openxmlformats.org/officeDocument/2006/relationships/notesSlide" Target="/ppt/notesSlides/notesSlide42.xml" Id="Rd9ed715d9d3c428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3029b179db4d40" /><Relationship Type="http://schemas.openxmlformats.org/officeDocument/2006/relationships/notesSlide" Target="/ppt/notesSlides/notesSlide43.xml" Id="Rc43112e524844be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db62a981f4052" /><Relationship Type="http://schemas.openxmlformats.org/officeDocument/2006/relationships/notesSlide" Target="/ppt/notesSlides/notesSlide44.xml" Id="R363f164dc2894b2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032dbca2a44ab" /><Relationship Type="http://schemas.openxmlformats.org/officeDocument/2006/relationships/notesSlide" Target="/ppt/notesSlides/notesSlide45.xml" Id="R8dda70324e8543e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c80785da8488b" /><Relationship Type="http://schemas.openxmlformats.org/officeDocument/2006/relationships/notesSlide" Target="/ppt/notesSlides/notesSlide46.xml" Id="Rfa17947ae00d4f7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e58ed8e2b44fa" /><Relationship Type="http://schemas.openxmlformats.org/officeDocument/2006/relationships/notesSlide" Target="/ppt/notesSlides/notesSlide47.xml" Id="R302765a1794a4da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1701ff0bb4917" /><Relationship Type="http://schemas.openxmlformats.org/officeDocument/2006/relationships/notesSlide" Target="/ppt/notesSlides/notesSlide48.xml" Id="R823a706c17e3474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7c83013c6c4ef4" /><Relationship Type="http://schemas.openxmlformats.org/officeDocument/2006/relationships/notesSlide" Target="/ppt/notesSlides/notesSlide49.xml" Id="R7d24571e1d7445d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06ec487a424658" /><Relationship Type="http://schemas.openxmlformats.org/officeDocument/2006/relationships/notesSlide" Target="/ppt/notesSlides/notesSlide50.xml" Id="R5f17cfffa020484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437ec33134c56" /><Relationship Type="http://schemas.openxmlformats.org/officeDocument/2006/relationships/notesSlide" Target="/ppt/notesSlides/notesSlide51.xml" Id="Ra35ae158e42c405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5fb3696e1047be" /><Relationship Type="http://schemas.openxmlformats.org/officeDocument/2006/relationships/notesSlide" Target="/ppt/notesSlides/notesSlide52.xml" Id="R799beae417214b2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91ba1919474404" /><Relationship Type="http://schemas.openxmlformats.org/officeDocument/2006/relationships/notesSlide" Target="/ppt/notesSlides/notesSlide53.xml" Id="R17a73725c813424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66cd9714154e3e" /><Relationship Type="http://schemas.openxmlformats.org/officeDocument/2006/relationships/notesSlide" Target="/ppt/notesSlides/notesSlide54.xml" Id="R9b3293688860412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76382106a4250" /><Relationship Type="http://schemas.openxmlformats.org/officeDocument/2006/relationships/notesSlide" Target="/ppt/notesSlides/notesSlide55.xml" Id="Re94f651fd01848e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f56b65c1734058" /><Relationship Type="http://schemas.openxmlformats.org/officeDocument/2006/relationships/notesSlide" Target="/ppt/notesSlides/notesSlide56.xml" Id="R6685dc37925e405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3c484e359429a" /><Relationship Type="http://schemas.openxmlformats.org/officeDocument/2006/relationships/notesSlide" Target="/ppt/notesSlides/notesSlide57.xml" Id="Ra2c63599f4df4e3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a3fffbb9b4acb" /><Relationship Type="http://schemas.openxmlformats.org/officeDocument/2006/relationships/notesSlide" Target="/ppt/notesSlides/notesSlide58.xml" Id="Rd2c4ce4823f94b8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97da208894a5b" /><Relationship Type="http://schemas.openxmlformats.org/officeDocument/2006/relationships/notesSlide" Target="/ppt/notesSlides/notesSlide59.xml" Id="R480c00b6f67743b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13220a3a04b5c" /><Relationship Type="http://schemas.openxmlformats.org/officeDocument/2006/relationships/notesSlide" Target="/ppt/notesSlides/notesSlide60.xml" Id="R418d1735dd9a4c4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743fa07fa4072" /><Relationship Type="http://schemas.openxmlformats.org/officeDocument/2006/relationships/notesSlide" Target="/ppt/notesSlides/notesSlide61.xml" Id="Rdf8f9f59d384422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5d771419c6442c" /><Relationship Type="http://schemas.openxmlformats.org/officeDocument/2006/relationships/notesSlide" Target="/ppt/notesSlides/notesSlide62.xml" Id="R985bffa4eb594f1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b39556787a4d2d" /><Relationship Type="http://schemas.openxmlformats.org/officeDocument/2006/relationships/notesSlide" Target="/ppt/notesSlides/notesSlide63.xml" Id="R5b3ccdd8d4b2405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a0260e9284ac1" /><Relationship Type="http://schemas.openxmlformats.org/officeDocument/2006/relationships/notesSlide" Target="/ppt/notesSlides/notesSlide64.xml" Id="Rf9feb8a4d42049f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d03686ccb44ca2" /><Relationship Type="http://schemas.openxmlformats.org/officeDocument/2006/relationships/notesSlide" Target="/ppt/notesSlides/notesSlide65.xml" Id="R69dad57b563444e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e852280034fab" /><Relationship Type="http://schemas.openxmlformats.org/officeDocument/2006/relationships/notesSlide" Target="/ppt/notesSlides/notesSlide66.xml" Id="R3a6d7862140d406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6aec8ca234c7a" /><Relationship Type="http://schemas.openxmlformats.org/officeDocument/2006/relationships/notesSlide" Target="/ppt/notesSlides/notesSlide67.xml" Id="R3daae88c0bd3478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1925cc40b24ac9" /><Relationship Type="http://schemas.openxmlformats.org/officeDocument/2006/relationships/notesSlide" Target="/ppt/notesSlides/notesSlide68.xml" Id="R7b4b6f743426426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cdb3d9d724dbe" /><Relationship Type="http://schemas.openxmlformats.org/officeDocument/2006/relationships/notesSlide" Target="/ppt/notesSlides/notesSlide69.xml" Id="R8a9a987f89504ae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2b34fcf69342e5" /><Relationship Type="http://schemas.openxmlformats.org/officeDocument/2006/relationships/notesSlide" Target="/ppt/notesSlides/notesSlide70.xml" Id="R72bc358621884c69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ab5c7ef1541ac" /><Relationship Type="http://schemas.openxmlformats.org/officeDocument/2006/relationships/notesSlide" Target="/ppt/notesSlides/notesSlide71.xml" Id="Rc1bea4a5d035408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30778eafb546f3" /><Relationship Type="http://schemas.openxmlformats.org/officeDocument/2006/relationships/notesSlide" Target="/ppt/notesSlides/notesSlide72.xml" Id="R76c312d436804fa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8fe9480734772" /><Relationship Type="http://schemas.openxmlformats.org/officeDocument/2006/relationships/notesSlide" Target="/ppt/notesSlides/notesSlide73.xml" Id="R5b61711f084848b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d33f1e6784a07" /><Relationship Type="http://schemas.openxmlformats.org/officeDocument/2006/relationships/notesSlide" Target="/ppt/notesSlides/notesSlide74.xml" Id="R511b26bb4ddd4e7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558ebc9ba4e28" /><Relationship Type="http://schemas.openxmlformats.org/officeDocument/2006/relationships/notesSlide" Target="/ppt/notesSlides/notesSlide75.xml" Id="R427b01ae3ead4f7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f2b10e9d774e3e" /><Relationship Type="http://schemas.openxmlformats.org/officeDocument/2006/relationships/notesSlide" Target="/ppt/notesSlides/notesSlide76.xml" Id="R01cacacd13b4412c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4f196d8d454416" /><Relationship Type="http://schemas.openxmlformats.org/officeDocument/2006/relationships/notesSlide" Target="/ppt/notesSlides/notesSlide77.xml" Id="Ra714b529a77b479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567b3d8c44b1b" /><Relationship Type="http://schemas.openxmlformats.org/officeDocument/2006/relationships/notesSlide" Target="/ppt/notesSlides/notesSlide78.xml" Id="Rfbd2c0e3075849d1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3d9fa0725243fc" /><Relationship Type="http://schemas.openxmlformats.org/officeDocument/2006/relationships/notesSlide" Target="/ppt/notesSlides/notesSlide79.xml" Id="R129b10d3a32c4f8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1a9d0ce534d82" /><Relationship Type="http://schemas.openxmlformats.org/officeDocument/2006/relationships/notesSlide" Target="/ppt/notesSlides/notesSlide80.xml" Id="R4dee8ac28a754e8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de648af0c4dc7" /><Relationship Type="http://schemas.openxmlformats.org/officeDocument/2006/relationships/notesSlide" Target="/ppt/notesSlides/notesSlide81.xml" Id="Rebfa0f3ba4d84c5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361666ee54300" /><Relationship Type="http://schemas.openxmlformats.org/officeDocument/2006/relationships/notesSlide" Target="/ppt/notesSlides/notesSlide82.xml" Id="R3cdd736278e14a6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0cfe879d564536" /><Relationship Type="http://schemas.openxmlformats.org/officeDocument/2006/relationships/notesSlide" Target="/ppt/notesSlides/notesSlide83.xml" Id="Rebb8b1a8cdec458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5f78d92d0d4d5d" /><Relationship Type="http://schemas.openxmlformats.org/officeDocument/2006/relationships/notesSlide" Target="/ppt/notesSlides/notesSlide84.xml" Id="R0a4fa28f9ea8457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2b5861219c4586" /><Relationship Type="http://schemas.openxmlformats.org/officeDocument/2006/relationships/notesSlide" Target="/ppt/notesSlides/notesSlide85.xml" Id="Re78807ba0020487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1b4f899834aaa" /><Relationship Type="http://schemas.openxmlformats.org/officeDocument/2006/relationships/notesSlide" Target="/ppt/notesSlides/notesSlide86.xml" Id="R1ec98c5287ac4479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101b4406b4827" /><Relationship Type="http://schemas.openxmlformats.org/officeDocument/2006/relationships/notesSlide" Target="/ppt/notesSlides/notesSlide87.xml" Id="R6b69d4a63af6477d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c98ac0afa4732" /><Relationship Type="http://schemas.openxmlformats.org/officeDocument/2006/relationships/notesSlide" Target="/ppt/notesSlides/notesSlide88.xml" Id="Rc11d682766394c7a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815ef9bba4a44" /><Relationship Type="http://schemas.openxmlformats.org/officeDocument/2006/relationships/notesSlide" Target="/ppt/notesSlides/notesSlide89.xml" Id="Ra9d68158d1e04603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82587718794f7b" /><Relationship Type="http://schemas.openxmlformats.org/officeDocument/2006/relationships/notesSlide" Target="/ppt/notesSlides/notesSlide90.xml" Id="R7fe4bbbf0d754b71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65cd73c16432a" /><Relationship Type="http://schemas.openxmlformats.org/officeDocument/2006/relationships/notesSlide" Target="/ppt/notesSlides/notesSlide91.xml" Id="Rc19093df4e514192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bb983a01614fc9" /><Relationship Type="http://schemas.openxmlformats.org/officeDocument/2006/relationships/notesSlide" Target="/ppt/notesSlides/notesSlide92.xml" Id="Rddaab7b73b6d4d82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64e22629746be" /><Relationship Type="http://schemas.openxmlformats.org/officeDocument/2006/relationships/notesSlide" Target="/ppt/notesSlides/notesSlide93.xml" Id="R375e620992ea4af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e08f0b48a44bf" /><Relationship Type="http://schemas.openxmlformats.org/officeDocument/2006/relationships/notesSlide" Target="/ppt/notesSlides/notesSlide94.xml" Id="R88c179362f32489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1af3f48f60479d" /><Relationship Type="http://schemas.openxmlformats.org/officeDocument/2006/relationships/notesSlide" Target="/ppt/notesSlides/notesSlide95.xml" Id="R7ffd5a8aabac4171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4eda6fa724a6b" /><Relationship Type="http://schemas.openxmlformats.org/officeDocument/2006/relationships/notesSlide" Target="/ppt/notesSlides/notesSlide96.xml" Id="Rf2aab16b51e3483d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ce95140cb4a91" /><Relationship Type="http://schemas.openxmlformats.org/officeDocument/2006/relationships/notesSlide" Target="/ppt/notesSlides/notesSlide97.xml" Id="R5111be8693534aab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ca4b1c2e6489d" /><Relationship Type="http://schemas.openxmlformats.org/officeDocument/2006/relationships/notesSlide" Target="/ppt/notesSlides/notesSlide98.xml" Id="R971c12a8e0c04ff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6bc387acd3465c" /><Relationship Type="http://schemas.openxmlformats.org/officeDocument/2006/relationships/notesSlide" Target="/ppt/notesSlides/notesSlide99.xml" Id="R556b5b54f4a7466c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3dd9ac58a4f1f" /><Relationship Type="http://schemas.openxmlformats.org/officeDocument/2006/relationships/notesSlide" Target="/ppt/notesSlides/notesSlide100.xml" Id="Re1b74cf818a14cd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676ca400864ef2" /><Relationship Type="http://schemas.openxmlformats.org/officeDocument/2006/relationships/notesSlide" Target="/ppt/notesSlides/notesSlide101.xml" Id="R2f7d2a230cb94cd0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3cc053b654d79" /><Relationship Type="http://schemas.openxmlformats.org/officeDocument/2006/relationships/notesSlide" Target="/ppt/notesSlides/notesSlide102.xml" Id="Rf1d331c4e24d4cf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7c94f0cb1c4f8b" /><Relationship Type="http://schemas.openxmlformats.org/officeDocument/2006/relationships/notesSlide" Target="/ppt/notesSlides/notesSlide103.xml" Id="R64b87e1ababf4d1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e1260ab544d37" /><Relationship Type="http://schemas.openxmlformats.org/officeDocument/2006/relationships/notesSlide" Target="/ppt/notesSlides/notesSlide104.xml" Id="R8631cd3e83c441de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e429b56c140be" /><Relationship Type="http://schemas.openxmlformats.org/officeDocument/2006/relationships/notesSlide" Target="/ppt/notesSlides/notesSlide105.xml" Id="R69a27ea7370a460f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f893e4db642cc" /><Relationship Type="http://schemas.openxmlformats.org/officeDocument/2006/relationships/notesSlide" Target="/ppt/notesSlides/notesSlide106.xml" Id="R5a83060c8ab648c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5f42b3d12f4a93" /><Relationship Type="http://schemas.openxmlformats.org/officeDocument/2006/relationships/notesSlide" Target="/ppt/notesSlides/notesSlide107.xml" Id="Ra89e40cd30fa42dd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a9c7835c9455d" /><Relationship Type="http://schemas.openxmlformats.org/officeDocument/2006/relationships/notesSlide" Target="/ppt/notesSlides/notesSlide108.xml" Id="R36c4f001f8e047dc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2310fb30b447d9" /><Relationship Type="http://schemas.openxmlformats.org/officeDocument/2006/relationships/notesSlide" Target="/ppt/notesSlides/notesSlide109.xml" Id="R4d95490d0bc64c98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57ea60e8f4531" /><Relationship Type="http://schemas.openxmlformats.org/officeDocument/2006/relationships/notesSlide" Target="/ppt/notesSlides/notesSlide110.xml" Id="R37d5b246b18e45d7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24998430f4c78" /><Relationship Type="http://schemas.openxmlformats.org/officeDocument/2006/relationships/notesSlide" Target="/ppt/notesSlides/notesSlide111.xml" Id="R0fb8e72785a344d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e97258850343eb" /><Relationship Type="http://schemas.openxmlformats.org/officeDocument/2006/relationships/notesSlide" Target="/ppt/notesSlides/notesSlide112.xml" Id="R34fbaae0f9384671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6291a80a94b26" /><Relationship Type="http://schemas.openxmlformats.org/officeDocument/2006/relationships/notesSlide" Target="/ppt/notesSlides/notesSlide113.xml" Id="Rc51c23e770de447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b91a7160f4530" /><Relationship Type="http://schemas.openxmlformats.org/officeDocument/2006/relationships/notesSlide" Target="/ppt/notesSlides/notesSlide114.xml" Id="R718c295c82644e64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8b57f7ee747b0" /><Relationship Type="http://schemas.openxmlformats.org/officeDocument/2006/relationships/notesSlide" Target="/ppt/notesSlides/notesSlide115.xml" Id="Reb968881b7eb4193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6021f7adff4529" /><Relationship Type="http://schemas.openxmlformats.org/officeDocument/2006/relationships/notesSlide" Target="/ppt/notesSlides/notesSlide116.xml" Id="Rcd461ee1e19a4a66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f25f85e30949d4" /><Relationship Type="http://schemas.openxmlformats.org/officeDocument/2006/relationships/notesSlide" Target="/ppt/notesSlides/notesSlide117.xml" Id="R2f88d209f1484cd2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b9ad0c636b4f48" /><Relationship Type="http://schemas.openxmlformats.org/officeDocument/2006/relationships/notesSlide" Target="/ppt/notesSlides/notesSlide118.xml" Id="R48afdbbc828f4e3e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c486173174fd7" /><Relationship Type="http://schemas.openxmlformats.org/officeDocument/2006/relationships/notesSlide" Target="/ppt/notesSlides/notesSlide119.xml" Id="R919d8c576fdb4fe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5f137629b249c0" /><Relationship Type="http://schemas.openxmlformats.org/officeDocument/2006/relationships/notesSlide" Target="/ppt/notesSlides/notesSlide120.xml" Id="Ra08f0d2ea00f436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4ba6074b849e9" /><Relationship Type="http://schemas.openxmlformats.org/officeDocument/2006/relationships/notesSlide" Target="/ppt/notesSlides/notesSlide121.xml" Id="R116eb32f502343fe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e53221d7654c49" /><Relationship Type="http://schemas.openxmlformats.org/officeDocument/2006/relationships/notesSlide" Target="/ppt/notesSlides/notesSlide122.xml" Id="Rd38fa4fec52346db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79066690149ee" /><Relationship Type="http://schemas.openxmlformats.org/officeDocument/2006/relationships/notesSlide" Target="/ppt/notesSlides/notesSlide123.xml" Id="R286af7578ff84dbe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77d3f7f16c433e" /><Relationship Type="http://schemas.openxmlformats.org/officeDocument/2006/relationships/notesSlide" Target="/ppt/notesSlides/notesSlide124.xml" Id="Rccd2e033fa934480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44a4aa5339497f" /><Relationship Type="http://schemas.openxmlformats.org/officeDocument/2006/relationships/notesSlide" Target="/ppt/notesSlides/notesSlide125.xml" Id="Rbd7365080a5f41ef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9831dd4a14668" /><Relationship Type="http://schemas.openxmlformats.org/officeDocument/2006/relationships/notesSlide" Target="/ppt/notesSlides/notesSlide126.xml" Id="R9dfae159045f4893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fa802ec644242" /><Relationship Type="http://schemas.openxmlformats.org/officeDocument/2006/relationships/notesSlide" Target="/ppt/notesSlides/notesSlide127.xml" Id="Rb8c3aff9a3eb40e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beaa1edc94faf" /><Relationship Type="http://schemas.openxmlformats.org/officeDocument/2006/relationships/notesSlide" Target="/ppt/notesSlides/notesSlide128.xml" Id="R8f2eceb508b04bdb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86e3490e34fde" /><Relationship Type="http://schemas.openxmlformats.org/officeDocument/2006/relationships/notesSlide" Target="/ppt/notesSlides/notesSlide129.xml" Id="Rb19d77e6eb384d55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21cbaa4996409f" /><Relationship Type="http://schemas.openxmlformats.org/officeDocument/2006/relationships/notesSlide" Target="/ppt/notesSlides/notesSlide130.xml" Id="R66a889dc7c514c08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cc7017bc6044ae" /><Relationship Type="http://schemas.openxmlformats.org/officeDocument/2006/relationships/notesSlide" Target="/ppt/notesSlides/notesSlide131.xml" Id="R961c5b5c3fa54b6c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5bfbe773d4e47" /><Relationship Type="http://schemas.openxmlformats.org/officeDocument/2006/relationships/notesSlide" Target="/ppt/notesSlides/notesSlide132.xml" Id="R7fe7745aa4dd43fd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350969bd845d2" /><Relationship Type="http://schemas.openxmlformats.org/officeDocument/2006/relationships/notesSlide" Target="/ppt/notesSlides/notesSlide133.xml" Id="R13663625987e430a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adc53d01d4aad" /><Relationship Type="http://schemas.openxmlformats.org/officeDocument/2006/relationships/notesSlide" Target="/ppt/notesSlides/notesSlide134.xml" Id="R896b1157aac34354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0611804a242bf" /><Relationship Type="http://schemas.openxmlformats.org/officeDocument/2006/relationships/notesSlide" Target="/ppt/notesSlides/notesSlide135.xml" Id="R0206cb1726eb4dd4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9f30f395140e5" /><Relationship Type="http://schemas.openxmlformats.org/officeDocument/2006/relationships/notesSlide" Target="/ppt/notesSlides/notesSlide136.xml" Id="Rbd45f6c73db54db8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9bf7792e84046" /><Relationship Type="http://schemas.openxmlformats.org/officeDocument/2006/relationships/notesSlide" Target="/ppt/notesSlides/notesSlide137.xml" Id="Ra81671d625af4fac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70f67662fa4d32" /><Relationship Type="http://schemas.openxmlformats.org/officeDocument/2006/relationships/notesSlide" Target="/ppt/notesSlides/notesSlide138.xml" Id="R981d1ab257c04b8d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18767bef4462d" /><Relationship Type="http://schemas.openxmlformats.org/officeDocument/2006/relationships/notesSlide" Target="/ppt/notesSlides/notesSlide139.xml" Id="R958be1da62184dd5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974adce9164589" /><Relationship Type="http://schemas.openxmlformats.org/officeDocument/2006/relationships/notesSlide" Target="/ppt/notesSlides/notesSlide140.xml" Id="Ra153ace7857544ed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48c5123f454e58" /><Relationship Type="http://schemas.openxmlformats.org/officeDocument/2006/relationships/notesSlide" Target="/ppt/notesSlides/notesSlide141.xml" Id="R2f61ae91adfb467e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d365f4a254de6" /><Relationship Type="http://schemas.openxmlformats.org/officeDocument/2006/relationships/image" Target="/ppt/media/image3.jpeg" Id="R2d158a22fcb4442b" /><Relationship Type="http://schemas.openxmlformats.org/officeDocument/2006/relationships/notesSlide" Target="/ppt/notesSlides/notesSlide142.xml" Id="Raf4b7038eda94b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084AC-796F-40D2-8268-FB1B78D3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88011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202A"/>
                </a:solidFill>
              </a:defRPr>
            </a:pPr>
            <a:r>
              <a:rPr sz="5400" b="1">
                <a:solidFill>
                  <a:srgbClr val="17202A"/>
                </a:solidFill>
              </a:rPr>
              <a:t>1-Day SOC Building and Operations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FACB7-DF11-4B1E-950B-4975CA00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1A27B-44DD-461A-B97F-5B700681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8401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616B"/>
                </a:solidFill>
              </a:defRPr>
            </a:pPr>
            <a:r>
              <a:rPr sz="2550" b="0">
                <a:solidFill>
                  <a:srgbClr val="52616B"/>
                </a:solidFill>
              </a:rPr>
              <a:t>Build, run, detect, respond, govern, train, and report using the full SOCSOP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E533D-9953-4B85-AACB-54C8BD7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800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For CISO, SOC Manager, SOC Analyst, Security Engineer, and IR Engineer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672B5-C4E2-4A0B-BF29-8CC1458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880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English slides with Thai facilitator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AC0B4-7CBC-4344-93EF-FFF98D8A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85800"/>
            <a:ext cx="5334000" cy="533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pic>
        <p:nvPicPr>
          <p:cNvPr id="7" name="repo-soc-header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4be956b7b4e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0800" y="6858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A13E2-87A5-44D6-9617-8BC6039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030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Practical outputs, not theory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F81C9-E6A8-447D-B3D7-0087BC90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67500"/>
            <a:ext cx="7200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Visual asset source: SOCSOP GitHub repo / assets</a:t>
            </a:r>
          </a:p>
        </p:txBody>
      </p:sp>
    </p:spTree>
    <p:extLst>
      <p:ext uri="{BB962C8B-B14F-4D97-AF65-F5344CB8AC3E}">
        <p14:creationId xmlns:p14="http://schemas.microsoft.com/office/powerpoint/2010/main" val="8728270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8644EF-697E-4752-8C1B-245243C0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Why this workshop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4C977-4C78-43C6-BA21-F888880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4FA8A-CB71-42B5-82A6-E2C884A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7A283-DD44-4B63-B57F-FDA29E6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EA3A2-19B1-4F9B-BC80-0E9683A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A6AC3-3B74-4326-8C6E-4D1F69AB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0DD52-8B2D-4066-AD02-DAF3EB0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41161-1C3B-431F-8318-935E25A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Most SOC failures are operating-model failures before they are tool failures.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1A230-C972-4DBA-80F9-EE317BF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37C21-A11E-4135-BC56-026E7E2C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677EF-F741-48D7-AB64-2D5872F4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This workshop turns the SOP repo into decisions, artifacts, and working routines.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D75F1-9A4F-42B4-88DD-85BE8F3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651CF-00D1-4671-B083-15AF8ECF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237DF-B620-47EB-9356-CEB5AB4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section ends with something the team can reuse after class.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279CA-2919-4BC9-B013-F1BB598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D5C16-25CE-459C-BB09-6D76D831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28A9B-B7BC-46E3-8748-67FA88FE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F5D35-EABA-4829-A736-689D493F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D8338-906D-4DBA-BF56-B5125766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D33D3-3B12-4717-BA62-6DBC5714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5C784-73D9-46AE-9DED-651E3A51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9AAD3-3C87-4511-B328-9BDCDDA9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36BBB-9188-475D-95C6-B52879C4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002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9CCEF-AE4C-4BD8-8E63-B67CC456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63372-E67E-4A1F-B2CC-1DDDBFA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1892076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51BE19-1E0B-4794-AF70-DD20BE1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Audience map by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C0711-DAE2-4530-8585-E8E1C79A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FEFE2-27A3-46AF-807A-98CCF3B6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8DE9A-F8D8-4BB2-A503-332F517A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90E27-6006-468E-B2F7-DCD3DA4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E1A5A-7EFD-4953-922B-82AE703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134350" cy="7629525"/>
          </a:xfrm>
          <a:prstGeom xmlns:a="http://schemas.openxmlformats.org/drawingml/2006/main" prst="roundRect">
            <a:avLst>
              <a:gd name="adj" fmla="val 174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C02F8-250C-466D-B10A-EBD87A7B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Artifact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82BAA-689F-48AC-B789-D4D3B15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24050"/>
            <a:ext cx="622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BEDC6-3873-469D-AD48-9D4CAC7D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A3407-6291-4E96-87A5-2BEB36D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8A01-18D7-4804-A2FA-81C33D94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050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5271A-BA28-48CD-A0E1-30B56398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31B7E-4903-411E-9967-C6AF788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8C6D-1A30-4293-8309-7C02DEC0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5A8AD-5506-4695-8C3D-6E6E326C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318E0-7688-4EE1-A79E-46132C82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715E7-1DB5-4CC4-A25E-AB78A860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195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45288-97C2-4879-A13C-78D4BA3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E8890-E398-4DC6-B14A-79E9C8E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F5480-1A6A-4662-B36F-CDE990C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C2410-A189-4022-A58D-1C862286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this slide as the shape of the document, dashboard, queue, or checklist participants should create.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B9DD3-8525-42F6-B77A-F1D6BF9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What participants should take 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AE37D-7C93-465E-9AE3-0B591B6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B822D-0AB4-46B4-95BB-D1B1F38C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771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CISO owns risk appetite, funding, executive escalation, and external posture.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7EA75-9F72-4806-8C82-B3382F7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3850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47242-BD9E-45FC-B860-8F01D54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9950"/>
            <a:ext cx="771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SOC Manager owns workflow, staffing, quality, handoff, and service delivery.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75529-58B2-4B5F-9647-619D1CE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005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E8ACD-C97A-4815-A817-4B0234DA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0"/>
            <a:ext cx="771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Analysts, engineers, and IR roles turn alerts into evidence-backed action.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7AAF7-FCA1-4A11-82DF-5D83F40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003 / 142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DA43B9-B21D-4051-AF5D-0C5448D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47C3D-BE24-425E-B506-8C6FEC8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7879521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D8A275-90A5-437C-BC0D-0E5A9AA0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B7ECD-16EF-4E07-8488-26D6D4DD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FE4C2-3F0D-4128-AD3B-29FEC55F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B44E0-ADBE-4654-A5E9-E7F83EE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3F892-D395-4948-BC00-77C81A58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81708-1B53-4DA6-88D8-D59ABC57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D0CEB-D93D-4A04-9513-A82932DF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1A437-ED6A-4068-8724-C6BD4DBF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Design a SOC blueprint with scope, telemetry, tools, and ownership.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8EFEB-3AED-46C9-87DB-0E9074EC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7A81C-D85C-42C3-8B89-D560A04B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72E60-00D5-4267-B64E-DFDAE82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Operate alert triage, detection engineering, playbooks, reporting, and governance.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83881-0E35-4B8B-9D01-0B9D7CB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E7FFD-BF46-4E69-B786-08CCE7C0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A6B0D-39E6-465B-94CF-2B8AE33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Make defensible legal, executive, and technical decisions during incidents.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99660-F627-4ED8-B312-23E96CB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E260A-8F62-4262-B629-BC0562A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05D37-545B-4458-A7B4-9F8A6CF3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4564A-326A-44D6-97FC-292CD1F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DC0BF-9471-4B5B-8625-312496E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F9D0F-05A4-4CA3-9045-A6425F6E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92D06-4720-4C50-8CB8-C4358EBB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58C64-C84A-49B3-AFB2-5814D6D4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8975A-4BF9-4424-906E-71F229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004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F0CF4-59EF-45CA-8200-B706C1AC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8C8A3-34DA-4577-B965-3A1E0799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5910212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71F842-EE71-4D7A-BE09-F1F5D98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Full-day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B10C1-8B8F-40C5-9AD3-CAAF6EB9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2C39C-80B2-4F3D-BB87-1BE7287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EDD9D-9210-422F-A971-4268A100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4C67E-8F4F-44D6-8EB0-2F1B3F7F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1-day teaching cadence with embedded workshop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6E9CA-B17F-4B43-8320-F077D542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09:00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2B809-FEE6-4FB4-B598-8D84720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573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97E55-144E-49AE-9234-A7E4DF15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5735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Outcomes, roles, repo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463B3-4E9A-4E7C-9769-917C473A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09:35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4BF77-9283-4745-87EF-6FEFDDC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6AA47-B11B-4EF5-8985-4ECA10F3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Foundation, blueprint,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29E2E-A621-4402-AAB8-CBC747BC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10:45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DF35D-C119-4E54-8CF6-703176D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137A0-8C33-42DD-819A-932F47F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People, shift, tools,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D1A4C-B379-48BE-BE8F-CCBF250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13:00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5FCFF-5A9F-44C9-A916-120038D9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34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39734-0327-4D0B-BB6E-E1A545DA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Workflow, detection, 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94C3E-5B37-45F1-B8A0-77AFF9DC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15:00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890EE-F03F-40C2-A35C-955E4A5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387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Govern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46006-2E4F-444B-9B21-143A9456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3875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Thai compliance and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04818-B350-4B7F-8416-ABCA94D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15:35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7C42B-E35A-4606-92D4-AED10493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341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479B7-72D0-44FF-8F8D-932BA497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3410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Capstone and action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F69BF-957E-4F20-B39F-A4A0A19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005 / 142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70644-B478-4FDB-B88E-EACF08E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CB6C0-D3D1-4C71-AD4C-E0DD6EF5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9395958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6BA3B-0F32-47F2-AE02-01453899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How to use this deck during the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569E-3D13-4548-BC34-BA466CE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00197-87E6-40C8-AFF5-D1D68ACE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3BCD6-ACBE-4DD4-B10C-12B500E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42A8B-9004-4EED-A61E-36204BF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B9B24-E31B-47BA-9B85-F3038DB0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02255-3BAB-4E0C-8047-5725A21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D8C2A-B9B3-4613-9137-AD3FAF91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the operating decision this topic must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3CBEA-02F0-45A5-A99D-117AF71B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E28F2-F8B6-4ACD-8473-FCBCC0A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E7231-F439-4875-BD90-286D412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Identify the owner, evidence, workflow, and expected artifact.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07555-38E0-436A-A116-78C36FAA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03F8-CF06-42BA-B965-F513D8C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5A1DC-A193-4C4B-B9DF-6AE7E5C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the gap that becomes backlog after the workshop.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577BA-5387-46D2-92FD-7FBC975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7AB0C-D1EC-4CAC-A874-349E380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82497-531C-4D26-8128-1E692C9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0ABE7-8C6A-4956-BF04-642854D0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FC32C-2CF8-4074-B11E-5E0CEBCF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2071C-0803-4667-AA80-F82B9592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4A95F-900B-4B17-9E2B-0D041CF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6B857-73F4-45E8-B39D-63B1F246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60F5-51E9-4B2A-85A4-F2B393F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006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E06BC-5A22-437A-B231-82AF2AA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9ED3B-847E-413E-958F-F10FFFFC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4308419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0D3404-5E7B-4938-8326-9141A871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How this repo maps to the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ED3EC-0FF9-4945-9CAB-742D34A6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B6094-1957-443D-B27A-603806C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4307D-8DBC-4B7F-9029-CD01AA5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5A1C0-FD2A-428F-B153-2325ECF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Visual repo anchor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24A11-4408-4FE9-B8E0-B2E70E4B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716661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pic>
        <p:nvPicPr>
          <p:cNvPr id="7" name="repo-soc-header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f6a5692574936"/>
          <a:srcRect xmlns:a="http://schemas.openxmlformats.org/drawingml/2006/main" l="0" t="16773" r="0" b="16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676400"/>
            <a:ext cx="716661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1775F-C576-45A6-954A-4E857177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716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visuals from the GitHub repo as proof that each module points back to a reusable SOP asset.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61608-B1A6-4B0D-B492-B2F3B4C1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912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7C66"/>
                </a:solidFill>
              </a:defRPr>
            </a:pPr>
            <a:r>
              <a:rPr sz="1875" b="1">
                <a:solidFill>
                  <a:srgbClr val="0D7C66"/>
                </a:solidFill>
              </a:rPr>
              <a:t>Repo-to-workshop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DE0F0-AC34-4D3F-8A09-8F204654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047875"/>
            <a:ext cx="819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C60A-780C-4161-9FAB-98B8EE6A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62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00-01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034D5-7B27-44FE-BD0E-8C3743A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Foundations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2D0DF-B06A-46CA-B8AB-92994AE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05740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scope, roadmap, budget, stack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5F3BE-3A2C-4DDD-8A80-C55E013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867025"/>
            <a:ext cx="819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A5BEC-EAE3-47B8-B541-EDBBBAA5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62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37B5B-8FBE-425B-9B16-D7E1F32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9FEC6-9B02-4498-B931-47DA3D02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87655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framework, runbooks, 50+ playbooks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3938A-B8CA-473F-88F9-F2477933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686175"/>
            <a:ext cx="819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C12BA-B530-4EE8-8965-6A3318DF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62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CD06E-E7E5-47F3-B03F-FE8282C3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85360-FFF2-4011-89F2-5662E7E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9570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handoff, metrics, governance,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558BC-30FC-4F4A-BAD6-D0E60947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4505325"/>
            <a:ext cx="819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6BF90-99BD-4AEB-AFA7-B288C37F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62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9AA1B-2477-4FD8-BF79-BDDBBF0F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148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Detection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5BBB1-F796-4D66-B133-B8033488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1485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coverage, Sigma, YARA, use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2689E-C00E-4D0B-A1CB-BB77DB4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5324475"/>
            <a:ext cx="819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C7467-F3C2-4CB1-BC9A-588B5122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48300"/>
            <a:ext cx="62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07/11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3217EC-8CAF-4CD2-9EA1-CD5726D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340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Govern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364C9-F702-492F-BC0D-77EE9BDF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3400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compliance, reports, executive packs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9DF97-B5AE-4067-A6F8-8C3AC013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6143625"/>
            <a:ext cx="819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1230F-3F4B-4287-93EB-53F1F605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67450"/>
            <a:ext cx="62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09/10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0F32A-A3D1-4FD2-9013-C7CF0442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1531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Improve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CF8FE-79BB-4A59-98DC-47727D88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5315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simulation, training, onboarding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EC446F-2933-481C-A924-4AF0F98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6962775"/>
            <a:ext cx="912114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EA257-D4FD-4AA6-AD14-1E9E5C3A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143750"/>
            <a:ext cx="870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Facilitator cue: point to the repo section participants should open after each exercise.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E5C39C-BE10-47CD-B7AB-C66F66D8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007 / 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6FC5B6-834D-41D8-878F-E5600BC9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5BCA76-B895-4325-A89D-C0FB3E16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8704273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64D542-2F1F-49E4-89FF-AE54D55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Workshop rules: practical outputs, not theory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42A16-D5ED-48C0-ACE8-A2A7AEE4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F9B82-3CD5-4AC2-AB4B-63F0A79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EBAB1-473C-47A3-AE66-FE2348D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FCB5E-5702-4F33-9EF0-21187A8A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ECCEC-D32E-48E1-8B5A-E7A240A5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8B88A-11A9-4EE2-9078-E4335EAB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8850-CF96-4D89-8B91-F66F4CCF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the operating decision this topic must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8EB12-266E-4C10-AF86-FDF83E8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40FBE-B737-4A6B-82A4-D31230F0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B1ABC-1101-4CD4-B0B0-FD7B1C6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Identify the owner, evidence, workflow, and expected artifact.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130B7-0BCD-4559-9850-1D65F1A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1F01A-9956-4A47-922C-076D998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838A4-6B04-46FE-846B-2DEE2109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the gap that becomes backlog after the workshop.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E247B-061F-40E3-A00D-7B1105A9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B9B08-C7FE-4741-A46F-ED1C8BD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AE648-6E3A-4C88-8284-DD04AD0B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A292C-D980-4C75-A7ED-4BA5FA3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7462B-6A4A-47E1-B4E7-40AE228F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51D2B-8F16-4E09-8997-06C6436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61114-E185-44EA-8EAE-47B19DDE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CD789-A085-4FE0-A3B0-59F6CB7D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D5C4B-536D-4CC4-94A6-8D2B9C4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008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6DF6E-32AD-4AAF-A990-DFBE6006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D659B-8805-4A7C-BFC9-7C392994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4162627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B119A-A32E-4B32-B643-346CE3B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8AAE3-DEEF-4364-935D-269D541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7285"/>
                </a:solidFill>
              </a:defRPr>
            </a:pPr>
            <a:r>
              <a:rPr sz="2550" b="1">
                <a:solidFill>
                  <a:srgbClr val="0B7285"/>
                </a:solidFill>
              </a:rPr>
              <a:t>009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0C7F0-125E-4A64-89FF-DCB7871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6C6E2-825B-47CD-81B8-72CCC9C6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B9A02-4EC2-4C99-BCB3-D53D8DB6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Choose the SOC mission, scope, and target operating model.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C28AAC-158D-423D-AA3D-7FEFD86B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What a SOC is and is not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5857D-F1B5-430A-BDEB-C51CA65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92964-7A15-4220-9B02-7D3831D5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DC52B-FD58-4259-8A3C-0BAFCEF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DA95-9032-4B66-BCC8-2005B22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23C97-7799-4165-8C15-6D5797B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Teaching job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F5050-6CA8-43C8-9537-659CFDF0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C1DB5-A164-422A-9366-D52F1F1E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12A68-5891-4A85-848B-30C91B22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SOC is an operating capability, not a room with dashboards.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91BD8-8C82-4EBA-AE4F-DD2B6D0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762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9B7B0-9517-4D13-8E82-548C79A6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C9D95-F69B-4ACB-B896-7018BFD5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6225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detects, triages, investigates, escalates, coordinates, and learns.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7FD07-C0C9-4902-9E52-15C35D1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352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F3245-A22B-4593-95CF-642AB5A4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29069-ABD6-4EDD-BE75-E35CBAF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is not a replacement for asset ownership, engineering hygiene, or business decisions.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EC7CB-7081-48A3-B9B3-04A2833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21005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DA912-3412-410D-9D37-00D64C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196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1DE40-0B2D-4DBB-B4D2-0D05DC8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E8F39-4A70-4942-B3BF-D5852E1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197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009 / 142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66D27-5028-4DF4-930F-FDD4FB34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6115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E35CE-BEAA-4653-855E-0D47427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61975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570027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A1EC35-6943-4630-BC4F-CB0C020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Business outcomes of a SOC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2CC97-2C13-425B-AE7C-23522CE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192AB-3BBF-4820-A050-94A67709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BB91C-C256-48B0-8F8A-7D436D16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55928-3B7F-427B-9E8F-D188673A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9DC5B-10FD-4A34-9BE6-20F3DEF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BEF91-2617-4FB5-8AE2-BF13B4A3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CE7EF-06DF-4B64-8BA4-39CF915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Reduce detection and response time for priority threats.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E4520-94B0-4624-99C0-73A2CA0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971A8-8304-4279-8CC4-599381EB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3BF42-B544-4746-A2BF-8C89535A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Create reliable evidence for risk, legal, compliance, and executive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79965-DFB5-435E-9B17-E8FB0BD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98F12-6A36-4A36-A726-347CA78E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0617A-CD75-4FB8-BD80-CE183868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Expose repeated weaknesses so remediation can be funded and tracked.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6CB44-3C5E-48B0-BB30-1536CAC1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670B0-5576-4336-90C6-8EEB82B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7603F-15AD-43F1-B076-404B76D0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BE2E5-586C-4465-8989-0A643E6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2165B-AC49-43EA-A69B-8C5E5A6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500EA-A2F4-4415-A133-BF3C1CA8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85584-8A74-4F31-B257-EEED1CD4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3AB77-F0DC-4197-A90A-8E977E9E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475A8-D781-4C13-AB84-7A5E02E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010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61AB6-CBE6-4D7E-AC3C-1C067057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01F3C-3D30-4481-ADC1-72BF2FE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8398011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D41275-0883-4427-99A7-C891E71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service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20D75-D74B-40B5-95FC-B18C739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B1E1F-5AEE-4171-9AAB-6A022080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123C5-56E8-425F-BF9C-8807906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1F091-1751-4659-994B-BA59CD15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F8249-E0DC-4683-A160-ED1D111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805672" cy="7667625"/>
          </a:xfrm>
          <a:prstGeom xmlns:a="http://schemas.openxmlformats.org/drawingml/2006/main" prst="roundRect">
            <a:avLst>
              <a:gd name="adj" fmla="val 198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F4944-30B4-41E6-A77B-207EC46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SOC scope canvas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0F168-EACE-4D94-A533-379F7D1C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372A4-2434-4B9B-A606-7B0277B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C767C-638D-4A96-8D41-998BD10B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32ACC-F910-4CAC-BE32-844C067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6F36-0B5F-4399-A680-66B22F46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32410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05B04-C4A2-42B7-9B5C-8314D1BC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652C8-D777-462D-8DF6-E5CB3E4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Out of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95BCE-8EA7-43B1-A86C-8D40AA3B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32410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199C7-363E-456B-94DC-F02AA0E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2760A-F833-4F61-AA4E-F36B8C8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Decision rights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CCB93-4E82-4B57-9161-4102D74F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32410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BCEA9-0C9C-4AD1-BD25-ABA0661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6BD4D-422F-4B18-805F-AC7520C9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74BCC-50C7-4B64-B1D4-BA8631C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D5DAA-EDD6-42A5-9080-7E443DF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D8408-DD79-46FC-B5DF-63B46BD2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091A8-8B39-44C0-9B1C-BA8BD21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767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43731-D5C8-43B4-999B-85F48FD2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910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71145-A295-4267-A796-E8C28C86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0767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3413A-7EC8-4151-9F07-DFDB991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910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Excluded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7FE38-EDD3-48B1-955D-7DE1FD8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0767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79F4A-607F-41CE-BD83-18EF89EC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910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30EE5-8C49-4B45-A415-402ED96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D12F97-59A8-4FAC-9ACB-B63337F3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Asset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1A89F4-BDE8-4903-BA1B-4354A19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815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6D865-BB17-4CC6-ABCB-8DA9E1B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958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[SYSTEM]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7D966-905D-473F-A80C-6CA1B709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815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209296-F7BD-4F6A-B352-F8F31AAE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958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[LEGACY]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9B0978-7099-4B64-90F4-F4508B92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815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0EC70D-ABF3-4EC6-A6F4-027A91E0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958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[OWNER]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0FAD02-8BC7-4EF4-A8EE-D9A1231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AFFB78-CA85-4253-B14A-771B0597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7C75CA-C3CE-471A-9DC9-CC06EA3F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864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C60579-02B6-41C7-B7B9-823CAD5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Monitor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E624A2-7925-4175-BA45-87CDDF4E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864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2D7566-5DB9-4C92-8FD8-8F5B38E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007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 contain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09CD9D-2458-4947-8B5A-1F58E2B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864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AFA6DC-0F21-420C-8B26-19BA6806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007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D7A79B-98F0-4933-9AF2-C9DCBCFF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F5E571-63A8-40CD-9542-DCCC439C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055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Review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58DA6A-37B3-4085-8DC5-CB19EC0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912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3B04A2-A0AF-4754-B3B8-31E097B5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3055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Monthly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B5309B-4FAD-49BD-83DF-BF258957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912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2D6E0B-A988-42D2-B45F-DF8566D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3055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By exception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E51CA6-DFBB-419F-989A-A77192EB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912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C46F89-34E8-4780-B4D8-D4204E93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3055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847C81-B12A-410B-B485-A8265D58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165735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3BB7A1-5458-4480-862E-6B3FD447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4785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9D86A3-4A7D-4AD3-A0A5-2B628E8F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Use this to stop scope drift before tools and shifts are designed.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699F02-34B2-498E-99E5-8948CDD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F532AC-6EF1-4694-B4BE-743BCE15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342900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CE6DC0-A70B-45AB-A569-2A7FD47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8140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Define which assets, identities, services, cloud workloads, and data classes are in scope.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450E3C-F70E-4BA6-BDBC-B4D6FED6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49580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2F73EC-963C-43F2-94E2-6328045B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4820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Define what the SOC can do directly versus what it must request from system owners.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C1D775-055A-490D-A8C3-E6041A3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56260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3E570E-AE55-4769-928A-F22C899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71500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Keep escalation paths explicit for containment, shutdown, notification, and public statements.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091987-A78A-47E1-A1B2-9C74AA0E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62940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69351F-25B9-4415-B044-F04B840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78180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Assets + Services + Owners +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AD7D0F-60BF-4AAC-B8C1-7968A9E6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011 / 142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7E4052-C59B-483B-9008-02CB197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4DC2EF-EDD9-4987-B70C-8A71D52A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0074471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1EFB56-EA41-4C59-89B8-2300A51F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maturity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2F9BC-F45E-4135-82C3-0037F6E8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BAC8F-1541-439F-84B2-E4CAE93A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2BE99-1556-4300-8295-E695E82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96570-D0E4-4C8A-8D4E-D62F9F4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E9AAB-E890-4F97-89B1-C75777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CE212-BADD-4E1F-8B7E-942A717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F7E5C-AD1C-44C4-8119-47C8B159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Foundation: scope, minimum telemetry, triage routine, and severity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9134A-4517-40A4-A11F-82A790E2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D2F47-4CD5-4606-A056-A4822CB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FCD1B-8031-4284-BAD9-4572A760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Operational: playbooks, ownership, tuning, reporting, and regular exercises.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380C6-9CEB-4B93-AC89-7C3F318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BCAE4-A4C4-455B-8F8B-459B185E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D266C-3CAD-4447-8A75-85FB0C89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Mature: coverage management, automation, threat hunting, governance, and measurable improvement.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E2331-E5AD-4B65-A815-FE0D13F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C3EEC-A1AD-41C3-B0CC-C95F4B62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18AD1-CCFE-4E57-B982-CB303051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96E0-46FB-45BF-B4C5-A39571C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B5862-85F4-4E54-B997-0AC4D04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A7500-E4DE-4D7D-B160-A21E742B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21A54-BB78-4578-A43C-7B88CB9E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90D5B-69EC-4C65-A068-C8DA9BC5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B9F8F-0EB2-4D0B-BAEC-BD10828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012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EDEAB-EDAF-415E-BD31-E53BDCB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1B184-16AE-4C0B-BB9F-44CA8A1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61288379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8EB4EB-CB85-4560-A460-6FF2EFD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In-house vs MSSP vs hybrid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B15E-A1B2-4217-AB8E-CCF9D20E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2400E-F857-4D21-84EB-1FFF710C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EB222-45EA-48A7-963E-1FB1FB6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E344A-314C-47CF-BE81-35FA1C0C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92AA9-75BC-4323-9CF6-F14A3448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8194A-F190-4686-BC2A-0DE8E5E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558D9-CD2E-45A2-8CFB-1FC73D0E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3C581-ACA3-4433-9162-8B863DE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A9C95-BFCA-4E2F-A498-93236AD0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83D13-4030-4216-85FF-FD9B25C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32ABD-56B4-48DE-B36B-8E3F0344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8BBA4-33B3-43FD-BD60-C7B50652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B1EC9-6FB4-4759-A9A1-81AF3270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C6EE1-F29B-4EDF-B296-04899AC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A34B1-C16E-4E84-8195-315F1AD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E1D3E-9245-41D4-B910-EC039CA1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BD87F-A40C-4804-88D8-A76269C3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EAC2B-DE42-47A7-A908-131AF09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09B6D-191B-4459-B703-0DC78B1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In-house maximizes control but requires staffing, management, and content maturity.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24E50-63D0-49EC-B3B1-D65C325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7C1EE-C1D4-4ED1-97E9-B684CD8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0764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FF784-416F-43F0-8C01-2B3765E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479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MSSP extends coverage but cannot own internal business context alone.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2965F-4D77-41E9-BCCA-2704BD96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2766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426D4-CDD0-40EA-95BA-E82B7E4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480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Hybrid works when internal owners handle decisions and the partner handles monitoring scale.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89539-AC80-4A87-AB7C-9CF1FE71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44767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60676-1C46-44F1-B46D-AB3A0EE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482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82AB8-AB4B-46E6-9308-31B3E498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013 / 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F4B1E-A468-4218-98A5-D09035CD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BE8A0-94AC-404F-AE1B-3B399A23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7856403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6F4C9E-53AC-46D5-B4CF-5DA2269A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When each operating model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AE51E-344C-4E63-998B-3E0E7BCC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9B132-F00C-4A16-A7BE-27B60C58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50235-7135-416F-8E3D-7E80388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002AE-367F-407F-906E-A261A2B9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F266E-30B2-4496-BF6E-4AEB1C15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E3F75-56B2-4139-8D6D-1585667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6CC46-287F-4E7A-B30F-9893E02F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2378-D625-4F39-96BF-F1DF4E3E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AC3C-AAB2-47E8-B561-C10DFD7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11DF7-84CB-4E7E-A2F9-554A7697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FF884-E7A5-4EAF-9EA7-0200914C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B35B7-E057-417E-AD1C-548828C8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F8536-A05F-464B-AD75-FFF37B70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74A7F-B932-4BE9-B6D2-FFD31D17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889A8-C9BC-4CE7-A2D5-12A6346B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AD03C-1AED-4E14-A0C6-FB40A2E5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1F9B8-89D3-416A-8600-8A6CABB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A5DE6-3B8B-4A7C-B07E-40D89916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BC845-22A0-416E-BDCC-E45C321C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In-house fails when coverage expands faster than staffing and process quality.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2A075-62BD-4582-91E4-C0757020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3FBC9-620F-4A16-B33C-49B0A839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0764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E21C0-98B5-4030-BF78-82DC5E6A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479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MSSP fails when escalations lack asset owners, authority, and evidence standards.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DE01D-4BF0-4FB9-97B7-01873922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2766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C23BD-BEF6-416E-B7D6-DFDBCFC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480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Hybrid fails when responsibilities are implied instead of contracted and rehearsed.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C7AF6-2C52-41E2-9976-5BBE50DC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44767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767B2-DFA1-4AEA-BE6F-50A043B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482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82F71-E4A9-4CBD-AF00-B65A1026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014 / 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56145-7B0F-49C2-A742-6188E6B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93025-0A03-456E-BD53-3A029A73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7763602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2CAE4A-AAEB-4080-8293-172348A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Minimum viable SOC vs mature SOC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DFBB2-ABC3-4C38-8CBD-24CD8763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AA116-4882-4D78-BC08-B32DB59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B8955-1447-470E-BCE9-CD44B12E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9CA45-0CBD-4D64-86D0-0A24EB4A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74919-C4EA-430E-B7AF-8AB1E8D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E2C56-3F9A-47A8-B578-9CD2D9B4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90B26-4619-4CFA-96CA-4CA61EB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Minimum viable means critical logs, critical detections, triage, severity, and escalation.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A0D98-AD9F-45D5-A015-E7634155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90001-96BD-4D12-ACAC-73BEAE4D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881E2-A952-4460-B7EF-45A4E99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Mature means coverage lifecycle, response governance, engineering feedback, and board-ready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C5FFC-FF49-4C9E-AAF4-67D7547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EDAC5-AC3E-47AD-A754-54C7E8F3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58CF8-E189-4C46-B0E8-66E34816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automate a workflow the team cannot explain manually.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EB9B5-903F-49D7-A85B-0905C08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2D1A1-7D69-4FCE-9458-B82FB343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07538-113F-43E0-B19A-95543EC8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ED475-696D-4CC1-ABCC-ACC816AF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1308E-178C-40CB-895A-D3F40BB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EC35A-A2DF-4B5E-A02D-AC7BE20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F7FE2-75AF-45EC-A520-AE42B87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21040-D1CB-4818-96F1-FB5169C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8697D-95C1-4AE6-8CF7-2A8C90E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015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42650-BEE3-4275-904A-0A1B462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7DFEA-43D1-4D46-BCC6-37388CE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54755257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F2F2FE-88F5-49C6-B1DF-17437E32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Core SOC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943A-1DAE-4A01-BC5E-A414A77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0C1DB-D662-4943-8BF8-B23A82C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FB06D-4888-4C9C-9529-1F80142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5ABC3-54A6-46E9-9AEC-0019CCB5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DE4E2-FDA9-48B9-BA7A-8C1DA33C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134350" cy="7629525"/>
          </a:xfrm>
          <a:prstGeom xmlns:a="http://schemas.openxmlformats.org/drawingml/2006/main" prst="roundRect">
            <a:avLst>
              <a:gd name="adj" fmla="val 174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83C81-B129-404E-8945-7253E10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Artifact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319D9-F313-4769-A17F-0FC722C2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24050"/>
            <a:ext cx="622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49797-148F-433C-8390-82E0339F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EE200-3353-45F0-964C-F20E952C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9A5D7-1160-4C59-AF2C-DF922935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050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995AB-224C-4BCA-AC95-B3CB360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9F493-394C-4CD6-BC3F-68A2CF5E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BA176-7D21-4AFC-B20D-44E167DA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A0F9F-3C2D-4F59-8804-414A57F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A029A-9318-4424-98BD-4D1C5B5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86A77-BB8A-405A-BB9C-863365B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195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88BEA-C185-4FB2-B8A2-FDD8C8A3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EAE50-7A80-4DF9-B58C-21D7421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0AF08-31AB-41D5-96AB-5CE56E74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FD209-2EE0-4E7E-9A68-4B33FD2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this slide as the shape of the document, dashboard, queue, or checklist participants should create.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277AB-A319-44B0-89D9-8E91750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What participants should take 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27002-79A7-4FFF-883C-CBDB922D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C3A37-37F6-4B2E-85FA-51A4E54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771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Monitoring and triage: alert intake, enrichment, severity, and routing.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3D623-CC8F-4E59-A3F9-9EDEAC7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3850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0F86A-DECE-462A-BA8F-127A9EB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995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Incident response coordination: containment, evidence, communication, and recovery tracking.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D5B5A-9E6F-4311-9CCC-49DD4A47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005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7E605-0814-44F9-A075-1A0C459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Continuous improvement: tuning, detection backlog, telemetry onboarding, and exercises.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A70F8-DEDC-4BED-A04C-A13D365E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016 / 142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4A04EC-51E9-402A-9029-2DA2E52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9521A-01A4-4E48-B8DC-126B396C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20616416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6A6C88-9F0F-4B14-9BC9-4E51ED8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People, process, technology operating triangle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FAE6E-9B58-42EE-A951-E07052D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7825E-A061-4CFB-B27A-D65CF45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5E3A-FEF3-4EF0-AC96-AC1A818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ADB55-A5BA-4365-8B51-7A49A24D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5EDA5-894F-4B5C-8C79-EC4AE11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44208-20E3-4DAE-A9EC-9BEDD49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02C41-9CF1-4B23-84F9-6CA89289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F7368-188A-4639-9DC2-A12A39F8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BF49-128C-4C49-82B9-79727EED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D4413-B11C-4FFB-8C73-BFDABF6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0C9BB-640B-46E9-A2CD-EF61E8AB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430A2-0FBF-4696-A30D-18EA3490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B7907-E60C-4611-93D5-147ED56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F3BA7-DF85-41DD-9D74-64517781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1AA1C-7396-45C7-AFD7-E489C75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1717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52D3C-5254-42F3-9E86-20038E3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038D0-84F9-420D-9392-5F660C8D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F8A9D-2E62-41BD-A443-50125D5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3AF7A-CA5A-4177-8E90-9333FFF3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People decide and execute; process makes decisions repeatable; technology provides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E07BA-9D22-485A-8328-B91A6AC8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CC5CD-8C1F-4382-BAE0-15C8FAD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0764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A0DD1-6D31-466B-8B36-FEE4D442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479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Buying tools cannot compensate for unclear ownership or weak escalation.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28294-54F5-4184-BC3D-93748C04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2766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AA139-8A8B-4465-A2A0-1EC20FA4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480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Strong SOC design balances all three before scaling volume.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70C7A-2ACE-479B-966F-F1E1DC1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44767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5F63E-0A41-41EE-8A24-140D88F2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482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93971-C864-431B-9B17-52161CEC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017 / 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ECE3D-7C41-408C-A8AB-6A2D78A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DC8EB-363E-4DED-B579-5FBB556B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27586116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ECF4AF-5941-45E2-ACA4-D72C927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Common early-stage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F5153-E46E-4719-9760-FEAC1AB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1E9E9-21C9-4FF1-A617-522C64B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23F24-4A9B-4367-B109-32D0F0BC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162D-735F-4E7B-8D43-31B9F5D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DC056-19DC-4D64-B130-D6AAA701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6D9F9-59B2-4AA8-8E0D-3C151932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1CA40-C3EE-4C90-80F0-49635393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Tool-first implementation without mission, scope, or log-source priorities.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02E48-FF17-4F10-A56D-4C10ACE7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FFE66-FDB6-40BE-8767-6695155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43EA0-64E9-4A46-B9E9-F1DA32F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No severity matrix or decision owner for high-impact containment.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6CB0F-FFE6-42E0-8352-E5BC419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5250F-2BEE-43FE-8ACA-DA9FC668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F5C4B-2874-47D4-BE22-01258781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Hiring analysts without runbooks, evidence standards, or escalation paths.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93D14-6E27-494D-9CBF-70ED61B1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D7C71-9D1F-41F6-BF81-1CEE3E7A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00B35-A945-4351-9842-DFBF589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63CE8-6593-4E18-AB81-3A75885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20F07-ABA4-446B-9B1B-0B51555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E173B-03D7-49A1-A72F-59D0D34B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9EB35-89FB-4AFF-B82D-8306DB81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1A645-240E-4802-99E2-9DC180D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0A2E2-D7A3-4EE2-B888-298A624D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018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5C7B3-9B3E-483C-8770-F751C8B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4C446-E5DA-4CBF-9671-6B55ADF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26380133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0EADA8-80D7-4218-9C8F-58186566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Common scale-stage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3C285-8C35-4DF5-AA1C-3FEA015A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839F8-4E6B-40E9-8547-DC6DD90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0CC1E-A0CD-4987-AD4A-00F4F654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EB881-4A91-40C6-9C27-3F43E6ED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A7667-E089-47CF-85DA-7C2DE87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FEFD-D6AB-425C-A74A-CB4D1A9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C0C03-1F24-45A1-B9B9-BE64BC1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Alert volume grows but tuning, coverage management, and handoff quality do 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CCA92-9C85-473C-A435-3098C7E3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95A6D-BEC8-4C33-A934-927AFC84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F8303-E41E-48FB-BCE3-93A87491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Reporting becomes activity counts instead of risk and decision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3C700-BC09-483E-856C-7147930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6D855-832A-4EFC-98BA-85B8140B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2DA0F-062B-4603-8524-1616FB22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Lessons learned stop in PIR notes and never become remediation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163B8-6324-4671-B7B8-4CB25080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0BED2-88E1-4E05-879E-FFF0C0E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95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28B8D-8E86-4CE2-8E00-98777E7F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86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933CB-B73E-4A71-B209-5833645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38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647F6-B375-4D9B-85DE-51693F90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29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358CA-086E-463D-B7CE-9B24DE7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815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6F312-C649-4CE9-B412-95937CFE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41EA0-F224-4F86-BC03-C6846E2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24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944A9-F5C8-4572-8783-A4726F52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019 /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2425E-0D3D-4472-8226-85B06B21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FDD0C-2A4F-48BB-A615-B3CBA60F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6406805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78EF52-E84C-4506-8952-9DCF11BD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maturity comparison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8E4F8-655F-42AD-934F-E240462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E5913-1AD6-4597-99C9-B71ADF8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AF342-E5E3-4E6E-83FC-097B2AEE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871E5-91A4-4538-95D4-724AF30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EFF39-BEE4-4FEB-B75D-42B0E5AA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631B6-5182-4C44-B7B8-B2F0480A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EF5D4-439F-4E9D-9664-D897EDA7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14927-9C4F-45BE-A4C1-52575030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Operating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6394F-7C3E-43E5-A6FD-BE30ADB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65033-7BEE-404F-91D3-DD603881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Primary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3E563-BBE0-4783-AB5F-2A87D88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F41DE-42BF-474F-AFC9-E1CA5907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Next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AC0C8-A3D3-495C-B109-316A634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A189F-A394-4D5C-893C-CA8980A6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EF7B9-1327-4562-AEA1-B8B910DF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94EA2-B59E-4CC3-ACAD-ABFB4E11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Basic logs, triage, severity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61C50-4EBA-4BC2-B881-2FD97FE4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71E2A-1CC5-4741-9D6A-A472654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Blind spots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08240-D4B3-49ED-A940-4062CDF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D29C4-1D02-4930-9094-414FE9F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Prioritize telemetry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331D7-01F0-4B7F-8DDA-650CCEE3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FB4EC-4002-42F7-8FE5-DD37FA89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Operational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35C9B-EB70-4C45-B2A2-B30B2AD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850FB-2054-4714-8A84-8AC5CA39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Playbooks, handoff,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055DA-E497-41F9-8C66-B772227B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28261-F0E9-4019-9B53-7AF5A0A8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Quality drift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0A2B4-B3A1-4DB8-97E5-23796EC9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AE394-836E-47F2-80E0-AD226A0F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Tune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FD193-4DFA-4A82-9195-00CFC701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A1EB1-025E-48EE-BFF6-DF1B199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Managed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7B98B5-E205-4492-883A-B963937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93D1C-5758-4EF0-A8A1-DEA658E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Coverage, governance, exercises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5173C4-B0C7-4DFE-9D0F-6B280E2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2287C-0831-4DC2-B455-EE6933E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Scaling friction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5462D-EC19-4625-AB70-0A094BC1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6CC52-A02D-4E22-96A3-1208EB96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Automate carefully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C01B94-FB2E-4AB1-BFBD-2B8371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363BBA-755F-4533-8920-97DCFC5B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C1B52C-AA4D-4787-94B1-72F6CFAF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4EECC1-BC65-4B76-81CE-4340882E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387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Threat-led, measured improvement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2CC11A-C4E4-451F-B5B9-6BC2968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244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0045B3-96CD-4824-AE0F-ABDD78F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Complacency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1F6FAE-E2DA-4956-AD70-1E2D142E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244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13661F-6B64-4A1F-99BD-D3A75ADE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387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Review strategy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9933D6-E1D5-4352-99A0-6C0B1C6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020 / 142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A3994E-32D7-4583-B5AB-A55CA1AA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9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E86F00-A5D9-4D19-A455-90D7920F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79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4470771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D346B7-D279-413A-981F-F1979570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operating model comparison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003F7-3EA7-4EF7-9015-10F432B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32EC5-2CC7-45E7-978C-A579444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DDD1E-DF03-4D2E-BEB9-6CB7799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CFA7C-C79F-4ADF-BEB1-C776DFC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2190-F615-4F8D-9DA0-D4926A53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B17A2-AC87-4293-8FF2-6EDA7FCA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A901A-1418-4330-9366-9E7D247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BE40D-C341-4DF9-8EDB-28275B6B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368D5-1F93-43FA-B14C-400F095C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0DB56-C5E2-438F-8248-30F87CE0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9F245-E4F3-43D3-91C6-7FD1E8C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145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CDD4E-08B2-47AA-B4C3-87BB6E24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288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Use when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69544-CC16-4CC6-8F51-A2FA2264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DBAA5-A888-4196-A353-6D504BF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In-house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340BE-0FD0-4348-B17F-5FFCE3F3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B7209-6D1B-42F7-902C-C000944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Control and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449F1-5C9D-4364-8D78-E0EAAB8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D7F85-B8B0-430F-88D7-E6753A68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Staffing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7E9A4-284D-403F-B1E7-E67A5EF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5104B-2997-46B3-BFDB-18961BCF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Regulated or complex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6B369-0189-46E9-9787-5DB3ED6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29E2A-F5D0-41C2-BA37-FE7B0DC4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MSSP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76604-2260-4B7A-93F3-319AFC40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51243-512D-4EAC-9095-2D2205E5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Coverage and speed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FE4C3-3BAE-4180-B57D-74847C2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D30CD-B7FB-4F34-A5B5-EA11449C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Limited internal authority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5EA6D-E98A-49D1-BA96-5E6B975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24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68AC9-2A76-4D02-B782-9DFB739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Small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D8519-58BF-4902-B835-4565423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0D9A2D-0AD7-402A-ADCF-DA0804AB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Hybrid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E34CF-FE74-4F00-ABF2-1A9670A6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26B55F-5A03-4252-9FDE-3C1B2ABE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Balanced 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66201D-95CF-491C-B598-E91C857A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BA1EA-A5F5-406E-8CC6-57D6311D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Needs clear RACI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102FA6-6702-4B4C-B986-CA5D882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243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BF4466-3CEA-4E07-9B37-F95C534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386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Most practical start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17BFF3-94AE-4F87-91E9-23F08A0D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021 / 142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FCE0E6-CAA7-43E3-B0F3-E7F42BE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911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B795EB-98B7-4EBE-B883-135A3D6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9911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67476089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6122C2-13E1-41E9-A49E-07403AB1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Workshop: define SOC scope and target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3A759-87A9-4871-B53A-13E5017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EE191-FDBE-401F-8DD4-3CA6BD02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106B0-A4F0-4DF6-8E1D-90FBE33D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90FAC-81E4-49F6-94FC-168B3A46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BCFBD-AF3D-4011-943F-C13EBE8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3F9C3-E6BA-479A-8C7A-B14C80F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</a:defRPr>
            </a:pPr>
            <a:r>
              <a:rPr sz="12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ED15F-DEF3-4E2A-859B-4814C025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56191-B9D2-4D32-AE3D-CA16773C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7E0A6-0E4B-4E63-877B-EE7896F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A3A2F-3108-438A-8587-5C547AD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734D7-27E9-4AF0-86B5-33DC497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B1AA9-1CB2-44FA-AD95-69181A1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7C624-7921-4164-8127-39D884F8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4E217-DB82-4DFB-8CE7-BE6DA94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3860B-9941-462F-AEC9-9F9C10C1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605B4-E283-4B72-9116-39D3BF81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D5C97-4795-4E22-8780-058E863B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16383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03583-F9E6-4776-8703-C43C1E83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7F28C-8E55-4C4A-98E1-D05845AB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16383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8E505-E026-4530-94C8-E87C2E6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809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2A2FD-8E9A-4D4D-904C-5CDEEEB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2576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E5299-574F-4E53-A2D9-C32DA7CC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38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2A8BB-E4C4-4B33-905E-BB5CF72A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2576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503D3B-42DA-49C7-93AD-035EF20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438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83051-16B8-429D-90D6-6B00728B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6877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AF8C4-21F8-47B1-B27A-6881533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0485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41CBC-8148-40E6-90AA-89C11786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6877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9E247-E0F8-4839-9C4C-62F63AEC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0485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A1632-AB1C-4992-8B33-D63FE93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022 / 142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047B5-DC9B-493B-96CD-5C04F8F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596ED-BA8A-410B-B9A7-86DB790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0545058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FBF64-23C4-4F12-A767-BB3B703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A3983-6FD8-40FE-BB11-EB2E480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8218"/>
                </a:solidFill>
              </a:defRPr>
            </a:pPr>
            <a:r>
              <a:rPr sz="2550" b="1">
                <a:solidFill>
                  <a:srgbClr val="C98218"/>
                </a:solidFill>
              </a:rPr>
              <a:t>023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8C458-620B-49EB-A926-141285E8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SEE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2F639-0B04-4E58-A7E2-461C7DD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4A55A-195E-4A08-AD99-5961EA93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Design the telemetry path that proves what happened.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883D5-CBA7-4D71-B4CB-0E5AC27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40764-596C-4853-B2FB-4A68080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C4C66-03DE-433F-9881-1CB2A53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726947-39EA-4582-832C-D34558DC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What a practical SOC blueprint looks like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7DA18-BD0F-4F63-AFA5-F517E9C1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8EB94-0140-475B-A6BD-6D74DB0C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23691-1881-45F4-B39D-2032977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61314-B7CF-4084-A8A3-32E6158B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F0680-A3E4-4F9F-B92A-5E071FE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C065B-B269-4584-956B-E8FF3BBF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686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4B2C4-A648-4725-913B-9708178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C35DA-CD07-4446-92B0-F3933F3D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shows systems, telemetry, tools, ownership, workflows, and escalation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6F2D0-B2FF-48BF-AF8F-5E7426B4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448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16A10-1A1D-4ECD-96EA-E5534C58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B16BC-BE11-483E-BBD1-AB7DCEAC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identifies what is monitored now, what is blind, and who owns each gap.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45ABF-2AD5-4435-82BD-1FA29C3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0386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7934B-12F3-4950-BB03-757686B4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767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3D2DB-04E5-4136-8A99-EAA32DF5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is simple enough for executives and specific enough for engineers.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1D0D4-6DC5-4861-9826-C76DD08D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72440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CE5C8-3A47-4248-8F03-BCF078F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339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E1C7E-1146-4883-A867-C258109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B24B0-8F62-4F43-84BC-3246619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1341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023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1D4A4-5129-4694-8D43-499CE3F2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134100"/>
            <a:ext cx="4914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8811C8-9A75-4F16-884D-0E05EDB7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1341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83739120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B506A0-8A39-4C22-82E1-711ABC3D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High-level SOC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97908-35BD-4F6B-834C-62C29C6F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829EE-BCD8-46D5-A8EE-46396585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7BDAA-3672-43A8-9B25-12FEEB94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06E71-64C9-4FCF-96AD-911CC2CE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6648B-B87D-4953-95DA-DBB3C4C6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13D8C-3B8A-4154-94FF-95ACC7D5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9F329-E34E-425A-A675-47EB734A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FCCEC-4D29-4891-8751-A7302011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D492A-8797-47F6-999A-E6E853E0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ADACB-EC71-4154-8006-A6D3C918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A6DE6-822B-483D-A7D5-D5738885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4048E-E901-4795-A204-1469409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DF5AD-0106-4FEE-8C7A-50939B1A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39699-90F3-4C11-8E24-F3AACF2D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E2503-4281-4AF0-87C9-08A4CA2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26539-EB08-4DBE-AE73-D8473C7F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21902-1D35-4212-8324-71E2A982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FB75D-2740-4BE6-B579-52C0FD6B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36F78-0A81-49A9-80D7-4A1996FE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17F4D-03C2-4B7C-9786-975BA1E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D5F30-378C-48D4-B110-A83CA9E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13649-CF64-43E2-A373-A4E4914A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Telemetry sources feed collection, normalization, analytics, enrichment, case management, and response.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29CE8-3FC8-4EAA-A1DA-B321E7C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F3D32-755C-452E-B88E-0AAACF4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FB611-8AD0-4173-85C1-43E1919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The architecture must represent identities, endpoints, networks, email, cloud, applications, and data stores.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25304-37E7-44B3-A73A-4C59FDE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7C0B9-29A1-4D15-9DB8-BCCE071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Control outputs include tickets, containment actions, reports, and governance decisions.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2F568-5CC0-4BD3-9435-8706F503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B6C72-FA86-4E63-ACF7-2E9D99E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863CB-23C6-4F1C-A1F9-C509DDAD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024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5499D-5ACE-47E5-AC0D-DA28CBB3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C8ED6-FA46-4E64-AC25-433912CD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0726624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385644-CC45-4CE9-806A-58402CC1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Telemetry pipeline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2639D-90F9-4FDD-BAFC-C1D56E2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D1DCC-C823-421F-A5C9-80035590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92AD5-CC33-4ED7-881F-F52231D6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528B2-F07E-41CD-A05A-1F146ED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E3A07-78D7-497F-84DA-B0ED6D31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7DDB9-58FF-417E-A1B9-CDA41D6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DC78A-BF67-4FCF-A3A9-DE8B10B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BD045-AC7C-4DFA-97B9-B159FCB3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7502B-D1D2-44A6-A003-D89D664E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1C537-B79E-4251-9328-3084CE0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15194-995D-45F8-AFC2-9052773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47045-D1D2-4BFB-90AE-F1C0D72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17C91-83CE-4068-8FEC-8A2B800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F3F6E-5FDA-4350-9FE2-9F91067D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9C145-8637-4A2D-8537-8AA556BD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C7A03-6086-4190-856D-85250FC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655C4-D909-43E5-9EBC-3A330548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46177-3ACD-4801-8ED7-9A6BD256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CE2DC-21F4-40A7-8C14-7BBB2FAA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D60D9-2518-4DF3-982A-4971885E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5023C-6F88-4961-98E6-2228D36F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54C07-FF4F-4A85-B80D-3954614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Collect only what has an investigation, compliance, or detection use case.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742AA-4EA5-403A-9633-2C7BEC61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131AE-4BEB-46A0-A67F-D91EC581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9E406-C05F-4658-88B3-9E17244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Normalize time, identity, asset, and severity fields so evidence can be correlated.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1929F-57E2-41DB-8627-278DD00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3A780-859D-4155-A926-C7BDE5E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Monitor pipeline health because missing telemetry is a detection failure.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9762A-9A4F-48FA-AD10-0D7ABBF2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0DEB0-017B-4F59-8969-E203DE4A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6BE86A-BEDB-4179-8090-A0B3DD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025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1DDB7-ECDF-4CF9-A310-AF9F22D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3CA19-D1E6-4135-BCA1-6DD6828B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2337304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17791-F9B9-4B6A-88E7-3548C742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Endpoint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DCB83-6CD1-4DDB-8D3E-407EB754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3AB5-1104-4A6D-9237-FECAF376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1E77-BC34-4139-96F2-6BCBF557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82D7D-FAF4-469A-98C8-F8F79957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63D8E-1552-4D1F-8A73-A8027A3F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0E47C-EF00-4D54-94FC-3168FAF7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C53B3-4E60-4146-BC25-E031778C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272C3-73D8-4943-9AA3-C4E55373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D0EA-4D69-482D-81F1-F853057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6A808-9563-4C96-98DD-19F1895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Prioritize process execution, parent-child process chains, file writes, persistence, and isolation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55E1E-E9AC-449C-9A5F-B28422A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3D10E-E4C3-4A4E-A36B-6D21B18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3BA45-3233-4A09-972F-93426251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Endpoint context is central for malware, ransomware, credential dumping, and lateral movement.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6C399-81EC-41C3-B5F4-382BF307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27200-D03A-4E45-A93C-827E2D8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06908-3635-4C54-AA3F-46CA0EF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who can isolate, collect, reimage, and release endpoints back to service.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09206-9564-4F0A-93FF-361FEAF7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B862C-A403-4239-B12C-84F11824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A8ABC-546D-400C-9A85-25F6C5D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07FD5-3E58-4954-BFC7-9CA823AD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ACB2E-C101-4545-A422-7B9CAEFC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7A851-9C6C-446A-B214-876DAD63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1F4BC-87BE-4FF7-B6E8-922461AE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69514-BF9B-40EB-89A7-6D70150D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9346C-474F-4A6F-8D1C-DEA8DA9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026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0ADF0-36F3-47D9-A81A-D07F262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687ED-E126-4E0D-879A-257D545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202366632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AA646A-FC00-41CC-BCF6-22CE4DB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Identity and authentication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19C4F-19EA-4F63-B729-566C6A5A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D5B09-3EA2-4C2D-B42C-F65C1660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3DA8F-ECBE-4AF3-9354-35725C6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1DA0F-83B9-48AB-B005-8F2AD3F7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BA35-9A22-45B4-9F67-78DE0326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CF9C9-E228-4225-B6D5-386741BC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256FF-F6D7-4C35-AA89-B232638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0375C-CBF5-4C7A-9676-00FC08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147A2-8239-43DE-857F-9AC2F166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E373E-DE7D-4705-8937-95AAFC0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Collect successful and failed login, MFA events, privilege changes, token activity, and risky sign-ins.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D2C7D-555B-4B8F-91E5-1B3B17E3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1049B-A9ED-4364-8FDE-0928AB07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AC274-DEBA-4FAE-BD64-269819D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Identity telemetry powers brute force, impossible travel, account takeover, and admin abuse detections.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A41E4-9A3D-46FF-8856-937EB82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BB9B6-88DF-4C86-BEB4-D8928AA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B3136-15EB-4FF6-BBB5-932452A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Tie identity evidence to HR, IAM, and business-owner escalation.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C10BA-5FB5-4170-A94E-AC86BA5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0E63F-2E28-45C0-9E2A-9616B1C7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069F2-4090-4851-90DC-CB8E6581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D9B1C-345F-4B5C-8581-DF201197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8CC4C-895B-4132-91FF-B280410D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92C2D-168B-4A95-9D97-9B890D4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2445A-D366-452D-86C4-026BD8AA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51B29-15FE-40E9-B75C-DE42B6D5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1B4AE-AEC7-479F-86FF-7EE40824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027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F49AB-2C55-41A3-82E0-4C2E83E6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B900D-73AD-426D-BB23-21978BD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89755059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D7360-4BC2-4F7E-A2B4-3185CDD6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Network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A1C35-CC0F-4376-9202-4F0E9BB0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8D0C-DE3D-46D3-AC7C-C07DD73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A3F1-1E94-4B36-B4F3-EABDC98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74548-3C2D-4858-ADEA-BDD57145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9F8B8-0BC7-468D-87E2-A035E4A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A17A0-3382-4C50-9575-5016B4AD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78769-5BD7-42C0-8A87-61DF69DE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8C525-7249-49A0-B7F9-463E7A3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DFC86-293D-408B-9E97-4F4E8C48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668F4-33B8-4642-8430-74F544A7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Network visibility supports C2, DNS tunneling, exfiltration, scanning, and lateral movement.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BFB28-58F7-4C1C-A59B-143E8525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96146-D0C4-48C4-BB94-1DEB3A4F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E13D6-B558-41FF-8BCA-5FE8416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Firewall, DNS, proxy, VPN, flow, and IDS logs each answer different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39AE7-CAFA-4C61-9633-C6C25B0E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E6D6F-947E-4CD6-BB6A-26CDDEF0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E72A7-28A4-4FFB-9C68-0EFEB63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treat packet capture as a substitute for asset and identity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B9BA8-8131-448E-BD5D-A9EBDB5F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BFFB2-63D5-4639-86B4-60E453D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BEF0C-0768-42E1-9E7D-712AD605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1AB8E-E89F-4343-9F94-0B9594D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9F107-71CA-45E0-8D03-9C18A8FE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FE2C1-4AA9-4A3B-A215-EA8DFFB8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7AA9E-E1E2-4E95-AA1B-A2730C7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D6101-6B0E-4E66-91C2-5A320A36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DDE4D-70EA-4C0D-8ACC-060FA10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028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A636D7-4405-46AE-8EE1-DD7A75C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84F45-956F-4636-88A1-C6BA32BC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49616451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9FB6FA-0DE2-4044-9EBC-CD02C137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Email and collaboration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FF9DE-D85B-426F-827C-AD366AFC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FAAC1-0775-45DB-9C03-E5CB2F0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5F625-7105-4106-9755-592AE55D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600A0-74A8-496B-9E35-0A20ADF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FC3EF-7F97-4CEE-9E8D-E6DDB1F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C3AC5-7234-4145-AFF1-D0CEC26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316F2-21D1-4A00-B3BB-5A81CB9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795BB-5580-41B6-88F9-98E7D7B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E6430-CEC7-4CE3-8ECB-C0105CF1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90941-E5A0-40C2-AC4C-5B457F0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Email is the front door for phishing, BEC, malware delivery, and social engineering.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09F55-346F-4207-8D38-C240F71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3D71A-B568-49CF-B86E-A566330C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61628-D6BA-4096-BF81-78C09E2A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Preserve message headers, URL clicks, attachment hashes, mailbox rules, and forwarding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0DE6E-99A4-4A44-9016-176EA450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BA68A-34FD-4546-9EC6-81FF912C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A38F0-3050-4885-9924-42D6610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Collaboration logs matter when investigation artifacts or personal data are shared internally.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37092-2135-43E8-984E-E015B31F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DC7C0-223B-41B2-BF0F-2D75C62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6E36B-87C8-4D52-AD03-787AE7A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FDB50-43BE-44D4-8BC6-B63ED56E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9AD01-2120-4431-9559-22147F11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18B7B-2CC4-4C56-9F10-153A1E2F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AB45A-D575-4CAB-9052-B5C01246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4E31C-732A-4C03-9023-8EF7F2D9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C1F1B-3DE2-42C4-AF6E-A7723010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87FCA-C470-46C2-9C9D-30ACE8E0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5F161-B284-4353-ADC4-FB28BB2B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14575484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95CF1E-DF37-4360-B922-BC209EA4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Cloud and SaaS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BE5D9-B5E8-421A-A52D-510BB49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EAA4D-63E1-4F29-808D-B519D1B1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1DED7-B432-4853-828F-3EBD3527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DBF0-5633-4B1D-9096-EC2EAA47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9043F-C498-41D2-8C5D-94AD319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1ABB5-5C32-488C-9491-282AFAD2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D89A4-C807-4F6D-991B-7A0855C7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4F49B-4E88-4528-97C7-64FE2CCE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DD7C1-4074-4228-913E-D59FDB3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D0252-E839-47C5-83FC-23CF4D9B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Cloud incidents often start as identity, API, storage exposure, or configuration 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41760-ED90-4C49-BE6B-97621B64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0EB5F-8706-4FBA-BB53-A7D3DC70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4D0C6-9D5C-4C7D-B752-EAE9A68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Prioritize audit trails, administrative actions, storage permissions, IAM changes, and workload logs.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1FCD7-CF99-4864-9192-3D101EAC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3446A-75D6-41ED-A7BA-4354E5B7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A5D4B-D6AF-40D5-A469-FB26F82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Assign shared ownership across SOC, cloud platform, application, and data owners.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34B5A-4988-43A7-84FD-64A8F9B5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0030A-3FA2-4D66-83F3-A574CC27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F91DE-8776-4736-87F6-F943AA95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9278E-DB38-4CC2-A08B-56D8A972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AEC16-65B3-4C2F-B1F4-BF0DD456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E51FF-E9C6-4581-A296-C18C7038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F72D3-11F2-4BFF-81CB-82FACB35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3F645C-C4D1-4A39-A0E8-57F93C90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D6B8C-0310-4222-96C8-53C265D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030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B1FEB-C27B-4BE5-A26F-8E28322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33FBE-C54A-47AE-A12E-F4F10009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30472809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82AF2F-461A-4807-9760-F7BB8C5A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Application and database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230D-DA12-4A18-8603-31FCE7E5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AB8AD-B0AC-4EED-BB10-CEDE5095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2458B-E272-48A2-871F-69FB44A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FFDA8-83FA-42E5-A277-1D57A54B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44BAC-A08A-4345-AC5F-08D14840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B1736-F125-497A-93FD-9DD2C3D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B4D5D-2641-426E-AE43-B95CB436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4F687-325E-41B4-8A13-08189C87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E3FAE-B928-41F0-8495-B646C140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B12E5-7DB9-482B-A549-D857BBE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Application logs prove user action, transaction context, data access, and abuse patterns.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C3381-7FA6-4F53-8EBD-8A6721CC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444B9-DD14-45C9-AD4F-ADB456F7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A3465-5D92-4800-80C1-2CC658F8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Database access logs support insider, exfiltration, and regulated-data investigations.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5FCE1-6AB0-4BFF-A029-1FEFF233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6450E-F645-4C20-BA39-1FF3BEC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88836-2074-4F05-8EC4-5A8D1D3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Instrument the systems that hold critical data before low-value infrastructure noise.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E1F65-3D3F-4545-932B-7C387BA0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2B64A-D5C6-4B1F-B55F-C8F8735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EAB71-70FC-4992-9E51-3E3AA7B9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A019C-2CB0-40A9-AD1E-5F7DCF09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BFF2F-EA33-4791-AEA1-0BB703B7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6588C-0B8D-4B46-879F-E686388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C1428-CD7D-4B45-A4D5-75991FC9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1ABFA-74AE-4A15-8D82-DE2DEFD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EDB4E-8FDF-4934-8DF1-EC4F8D01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031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DC1A0-726F-4D6C-B1B2-F57DB422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70FEA-2704-427C-B129-41224ECB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47494440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280B66-BF61-4448-B9D6-C5675CFA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Alerting and enrichment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238EF-43E7-4CCA-A6CB-8E04FB3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9A707-707C-4695-8683-E56F09DD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1B3C0-993A-46A2-B487-CB567F8F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30CAD-5B6B-4CAB-8350-28F6775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A73AA-0183-4027-A283-6A225BCE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8B83A-6045-4E0B-9090-FDD67F94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7AC6B-4338-48CD-862C-286D785B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D7CE1-AFC0-4370-A151-32D6454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259B0-F448-4B40-BF09-843065B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3E0AB-3B08-43DA-BE75-626E3880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EB43C-C17C-4ADD-B7A1-35F7798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4EC02-710B-4756-BB3E-3E821C0D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FB642-70DF-4229-9561-73D7152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8AA3A-A38D-4494-96FE-833304D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90C13-7D04-482F-BC50-4C546016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6119A-CB94-49A8-9320-E12712D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89C4B-1C5D-49CE-91B3-AA62146C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8F939-F5CC-4841-978E-8109B49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E73D7-5258-4A39-A551-BC4AF96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78C1C-8CB2-4D14-8418-A64932B9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FC268-66AD-4988-9190-F2F1391C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012EA-6121-4786-AA2B-E0825D5E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Alert quality improves when enrichment adds asset criticality, identity role, vulnerability, and threat intel.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DEB82-95B2-4283-8C32-7EA6440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7CCF0-19B5-49CA-A5DB-6AA4EE7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D1060-D3F0-4539-B7E7-3F43E3B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Enrichment should shorten triage, not hide unclear detection logic.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BF9CD-FF0D-4D92-81A8-9B10DB36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36E4F-5F5B-4645-B88A-0E8883F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Every alert should route to a playbook, owner, and closure reason.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924D0-0DB9-460C-BC78-44A3CFAF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B768F4-E234-4521-BF9A-3C3C8A7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87518-7B10-4FB6-ABDA-E11901E2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032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D08F0-7B91-45F1-AFCB-B372BE4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58BD8-A815-4453-AA6C-E068890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84887289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BBCD47-6608-45A3-AA00-4FEF310D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Case management and response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5088-A5E8-499D-B1AA-5D5F7B9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DC7DC-4F56-4B57-B176-60F96AEA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346E1-9381-459F-9DEC-8F9F595C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89E0D-2F49-43DF-9B53-50980FE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D4EB1-4307-4096-8D73-A952B04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F3BD1-1481-4B7E-9506-7CCC96AC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56218-E1BB-46A3-878E-2233D24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4183D-3393-4204-B692-62AEC91A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59C5D-332B-46C8-B892-CE9F1672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B63FA-BA80-4AE2-A6D2-96A3235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2BFEC-38D2-4B3A-B5DE-695E64D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DB1D0-B2BB-4E4F-95C5-745D40B1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2C2D2-F161-4C2D-85EF-A41A863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87031-2E5E-4786-9BBD-0A52C7BA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0E537-8C06-491C-974E-D20AA33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1DE43-E37F-44B7-96A6-1293450A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1B668-B283-401D-830E-E47E4F3A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D6F0A-30C9-4CEE-A790-E6F19DF0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9182A-D6D4-43C4-9D4B-2BF68CE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286F5-F9E4-440F-BF3A-9401D62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AFB47-B38D-45E4-936C-3649B470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8310D-B2CC-4175-A53E-E324E9A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The case record is the operational source of truth for decisions and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32EE5-7ABF-45AB-AC7A-EFE6EAC3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2F6B4-AC97-40D3-995E-31CA3C7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F56B4-81D9-41AD-987C-43725CB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Separate facts, assumptions, actions, approvals, and open questions.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F04EA-6ACF-4CF5-9803-ED65FE2B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F1F87-9074-4611-A3C6-687B4D0E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Design handoff so another shift can continue without re-investigating the same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088E7-84F8-4725-A915-F8D500F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3E6A3-B956-4CB1-94A9-EC4032F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7448ED-BF27-4A06-A6B8-AAACF6D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033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2794F-6F34-4907-815B-0CF9904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90FBB-BBCC-41F9-BC8F-95D5CF67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53533897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55BA43-DBE4-48F2-B184-5FBFF5F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Log-source prioritization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7339-3930-4DC2-B8C3-C76D9F0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81AE2-6B5B-44BF-AD96-4AE6ED10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05FAD-9187-41B1-90D8-1350FFF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0FA57-8B89-440E-B0B0-036CDD9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DD52E-34FF-4B53-BC8A-0DFB8415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930E-B95D-409D-A6D4-620BC42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C899A-5A71-431A-BEE7-880991CE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14BD9-8AB9-45A5-8AD7-4E10EBE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C7AE3-708C-4442-904A-73F9CBBD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2C1FF-8302-4220-A0F9-BD496607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E2855-39B7-4236-BC60-7BCDD604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5ADC2-7527-41CA-9AE1-DF180F5A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359D8-9941-4C79-BA2B-66DC54E9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C3AF0-71B5-4E1A-AC80-2BCB120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5899E-B631-4C1F-824C-F8DEF6A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FAB07-2518-443F-BFCA-2D203A2F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BC4C6-46EF-47C5-AEB6-6A881A66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DA7BC-13EE-4EF4-A5A2-EAF50015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59805-A649-4759-8188-45E027A7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9CB7B-5753-49EE-85C4-68514A1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6335D-720E-4A04-BA09-BC005C6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5DD4D-973A-4A23-9C39-D9E5888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Start with identity, endpoint, firewall, email, cloud control plane, DNS, and proxy.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F546C-39B7-469E-8766-41BFB3E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A323C-256B-45C3-A4D9-5CFD581B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41964-C6F9-4CB4-8EC2-DFD51471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Rank sources by threat coverage, asset criticality, investigation value, and retention need.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8DA227-D930-4677-B632-A7A8BD79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16EE1-9989-4A69-BBE7-E04804C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Delay low-value logs until storage, parsing, ownership, and use case are clear.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7413B-656D-4553-B4B9-4F7ECAB8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A0F3E2-1D39-4BE8-8DDD-FFCD48D0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0385C-BA08-4101-9881-847A70A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034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1D3D0-F419-45DB-A04A-C4DABE4B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8196ED-92D5-45A1-ADD0-1B68B88F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58753398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B44992-B2B8-4B80-A3BC-67415EB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Trust boundaries and data sensitivity zones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EA562-251E-47CE-BE73-9AF46B4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813B7-8A20-45D7-891A-4E036D2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57703-9EBB-4918-909E-27490513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13D2-C076-4036-B767-4C2E4AB4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8AD22-0ED3-43B1-A65E-E08B7FD4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29A27-252F-484B-88C6-AF04718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A526C-B33C-452F-BE04-E03E2B2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75E18-5397-4C22-AA76-B45C644D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95981-8331-4E7C-8FBD-8F08253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F840-3253-4B8C-A44F-04A0CF72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Mark where personal data, regulated records, privileged admin paths, and third-party access live.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90A02-27C3-4305-89E6-A817B5B7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B1FA4-8FFB-4F8F-B453-9BE8C5D3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32CF3-F952-4D62-B339-821C900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Trust boundaries tell the SOC when evidence needs legal hold or privacy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AA00C-A990-41F2-8D79-480B4BC2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11343-CEC0-49DD-A07B-8B19EEF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AF514-97D5-44B0-9A5D-3D5EC4C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They also prevent response actions from breaking critical business services.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458E8-8FA1-4FE1-B7DF-66EB65F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88E0D-5133-48B3-9C16-BFCA9D44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673F1-C083-4517-B57A-F80C97BF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C540F-29BF-4A9B-AF52-6CE9ACFF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F50EB-9828-4742-A8EE-2F1FDB72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7BEFC-5CB4-4EDE-8F3F-0B0BEF7B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A9575-B6D3-4890-8743-DBF3186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E5C02-0963-431A-B728-83573627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034EE-FCAE-4B96-8F08-F2FF0A6A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035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CD0CF-F10B-49F8-B654-0FB975F4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D366E-CB9A-423B-B00D-639E3201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99892891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8A1469-89D6-4086-93EA-D6042B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architecture pattern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83432-7D0F-4954-96A0-F890700B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FAA5E-2DD5-45D7-9910-4145B69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818CE-7CD0-4BEE-A595-AC544222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0F5C2-EA3F-4418-A122-13BF8D02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05357-8C5D-420A-9484-1E57E998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D86CB-2426-4EAF-9C41-5851F72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7A203-F7E1-4A9E-A531-BF6EBDA4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1FF30-D6FD-4BBE-BFB4-52D25E1B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D8C6-A325-4A90-AF65-A7EC3015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5AB18-B73C-40E0-8C50-00CE6CA0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6797C-4DBF-4F81-844E-0655DB03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796C2-48E1-4159-941D-997A32F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3E1CE-ED27-4528-9DE6-06CD193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Watchout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6AB5D-FDA4-406B-816E-7FFB505D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94CF2-DB3B-4A8A-BE98-66F3BB3F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Minimum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8677C-25F5-4DA2-B308-ABD13CC6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E7C2A-DCDC-4F1A-B2DC-5793D799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Central SIEM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2A2D8-0573-4717-BE95-96A6D81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1BEFC-BDFE-410F-A78B-38734D8F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Mixed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BAE95-B8DB-46DE-8794-8575D172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6EEC3-5E28-4520-8D37-9256D1D3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Ingestion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AD5BE-2522-469F-ACCD-F85F9D2B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ECC5F-A539-4EBF-8C1C-8A6DF57D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Source health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4AF68-286D-4930-B599-04CF9DA3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D027F-DD2C-4868-B6E7-1412175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Cloud-native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F7131-9CDE-455A-A1A8-4BA7D0C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41BA1-1319-4C9A-BD5A-2928A0F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Cloud-heavy org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A4996-10A2-4A1E-A30A-916791F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1E514-F195-4C54-AA6A-6B37CB4E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Provider blind spots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F1564-011D-4358-9F46-CFEC29AA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792C3-5FAA-4B7D-BEC5-BB21882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API audit logs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2C667-CDAC-429D-B89F-C40F765F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7EA22-9F17-4728-9F37-93AACDD3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Hybrid MSSP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7C58A2-9469-4320-A2DA-74B85E0E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2C5AB-2FCF-40A2-BB5D-CD7E1321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Small teams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EE2323-742F-4DAD-9FBA-B5AE6A3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C0818-B3AE-4C74-A193-9836E976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Context handoff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CDEA62-33F2-4337-BB67-76CD22D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9189D8-9D6D-4D38-A517-392C87F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Escalation contract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64F738-52FA-4A85-9419-9EED8E37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036 / 142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EC8932-1F24-43D9-890F-BEBCC79F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864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2118BF-DA1E-438E-BD55-771104A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4864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55959486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985A0A-269B-4088-BA8A-C0D3118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telemetry coverage and blind spots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B088E-2A53-42A4-AF93-2CE77CE6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45D0E-8B6F-493D-B60B-C4F0733E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9A9F0-97A0-4425-9D08-4238DAFE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DEDD7-D68D-492C-8553-6CA01B0B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33F2D-CE1B-483B-94EB-560CD2B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7A400-B864-439C-9DFC-D6A05CDD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6BC96-7FFB-4571-92CD-A348C00D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CB69-3544-4AFF-B0D6-7181F59D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C559C-9786-433E-82AE-81BAB80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8A74F-E24C-4F37-B7D4-C7CB12BC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603E8-204D-4C3B-9656-A1221BC9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Must 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3D981-5E88-4B7D-A636-7F86E32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56321-ADA1-4968-BF7E-B98EA94E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Common blind spot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86B42-F349-437D-95C0-DFC5E5A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709A9-23C9-4B45-AE83-E42D289F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0F747-1C2B-46A0-8C3B-97317AF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D77DC-34DD-46FA-BBF6-8CDC5CA9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35200-D5CC-45DD-BAFB-DD4E6538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1A830-4188-4EB8-A6EB-3E7FB9DF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Auth, MFA, admin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6D7ED-2B93-41BF-99A6-E126824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F819E-C535-48A6-86D0-048618A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Token/session abuse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509C4-7D4C-4E96-9434-E1199C8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B8B59-8FB3-49F6-9BE9-C099028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504F4-660C-40E9-97D0-7EB35051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0AB28-6117-460C-B694-D18F43D5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Endpoint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81303-FB03-4DF8-B867-14D9123A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431D1-CC42-4675-9007-4B422766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Process, file, isolation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10CA4-29C2-4F7D-A538-236A596E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96743-B378-49F0-9784-5199C8C1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Unmanaged hosts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DC461-2CC9-4AE2-B0E1-0433291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95C60-80F3-4841-B637-9657A5A1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Endpoint team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E85B59-525E-4720-BAE5-19168FDF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3DD349-D3D7-4B7D-ABC9-45686BDA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Network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EBAB11-C5B4-4172-BB76-7D5C1D0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086C73-DED1-4296-A22B-7DDD40F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DNS, proxy, flow, VPN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674AE4-81C7-4039-9E77-E4E5905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E701FC-A393-49F7-9264-1558744A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East-west traffic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030781-09A3-47C9-BCBB-A8E4778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98665C-ECC7-44AB-90D6-AC6F7A2B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Network team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351226-A5E3-4973-B2D5-0FAEC48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9808B8-C08F-4A2B-B98F-A836721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52940A-D698-4418-86D7-5E8A9997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108D52-5D28-4CFA-B985-84C6F97D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Control plane, storage,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F8F685-34AD-4D17-B68C-9312C5D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9B7039-02EB-477C-88FD-73866043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SaaS admin logs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E5C808-A489-4CC1-B464-3E5F986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5995AC-268E-4A4B-93C2-294A0E8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 owner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875E82-5011-4007-B361-1B21E3A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037 / 142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682648-619D-4659-A738-9D0B1B4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D50D5A-811C-4525-A8E6-16FD360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2865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65145304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41A039-F2C5-4A29-9E66-4DB0737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Worksheet: draft target-state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B970D-663F-417A-8611-95B43D6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68AC0-98E6-443D-9EA3-2C5A6FD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6D56E-67E8-483B-8925-64CAC77D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17366-EE10-4225-9F5D-7ED03909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DD407-23D8-4F9F-A1E3-96728A6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9F731-FC81-469F-8600-B2A9D33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8E8DF-024B-439B-B189-878C364C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public customer portal is now in scope for the target SOC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21966-7D83-434F-A5F5-756875F3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86869-D503-4326-BEC0-01EB62D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8218"/>
                </a:solidFill>
              </a:defRPr>
            </a:pPr>
            <a:r>
              <a:rPr sz="12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C2AC4-A59A-4E52-925C-633AC600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18260-922D-46F5-A91A-7CDD3B48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A1A86-4D7C-4601-823C-C7783DE9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651DD-C417-4C56-8212-9F8D9173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0DA9C-8B27-417E-95A3-940C4BB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97F22-5596-4519-BA37-C80A9AAD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44842-208F-47C7-8630-F2D8193E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B27E1-1B98-4A4E-9D64-94E6AA1D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C36DF-FA42-4938-9A95-6EBCF9C2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A5C57-CDDB-48E4-A9EA-E9DEDB9A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1AEBF-09F1-4AAA-BFA0-1A89E64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72AD4-0B04-4C83-A778-3B83074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83D22-AD9C-4AC4-871D-980E70FC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75088-D42C-419B-A6B0-89A1C15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9D160-1EAB-4DD7-874A-9BF73DAF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B848D-4197-4AA4-9886-535338A0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5F31D-4614-448E-814F-561BCA18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B71C0-718A-4A89-A992-C4DB0866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1066B-77B7-4EFF-B7E4-CCA7DB6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CD301-C347-4320-A249-E6E221A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67EB1-7891-4E65-82EB-83F1A23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F13DB3-38D7-4B91-89CF-B8EAEC95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CCF87-E0E1-494D-8124-A0EE8064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038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D5700-1362-4212-BF7C-6CF38B5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45F30A-EE3D-4766-B2B0-FAA31A9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40124726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D7481-6994-4E10-B1BC-5B779C1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99FEF-41AF-419D-B7E8-2A12AB5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7C66"/>
                </a:solidFill>
              </a:defRPr>
            </a:pPr>
            <a:r>
              <a:rPr sz="2550" b="1">
                <a:solidFill>
                  <a:srgbClr val="0D7C66"/>
                </a:solidFill>
              </a:rPr>
              <a:t>039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44821-15A6-48A2-8EB6-9044A160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STAFF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19481-0361-4081-ABD7-69AC529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E0F00-0126-4B12-B58B-7F2E50C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Assign owners, coverage, shift rules, and escalation rights.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7C856-B5F6-419B-82F5-0DC0EB8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1987-1840-4D66-97CB-0E324E2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8DE3D-2E2F-477F-98D4-0FCB7494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80E050-FDF2-49D9-AD0A-64859948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organization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66C25-82D6-40CA-BCBC-2F13EBCF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D8984-F25B-4F10-83A4-B3C14DC3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333D1-CC7D-4707-BF6B-F9C78A8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93964-0EB1-4730-BF56-5768BC1A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1629A-804C-440C-B557-8BF6657D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6F6F7-60F6-4135-A075-8A221A24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FDF3E-C86A-420C-9A7F-C2AFAB1E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F19F3-6F96-43A5-ABE0-9BA1FA2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Separate monitoring, engineering, IR, management, and executive decision ownership.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8EBE1-A9FD-490E-BC5F-BFAB926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933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6AB59-5E2D-4B25-8FE8-B903ACE3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099A2-BB83-401B-BB40-5CF9B12E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Small teams can combine roles, but decision rights still need names.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5EDCC-CA0C-43B3-B810-96801169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524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B7CFD-8D9E-4696-A973-38A7F91C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67E3A-D69D-454A-A527-835D3F6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Document who owns triage, containment approval, detection quality, and reporting.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44D00-BAC0-468B-8FB8-AC494A5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38150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16732-B4A2-430E-A89B-51390F6A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A6C4D-DC1E-48A1-81BD-2E846EC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3F57E-D196-4608-9C50-1E8AE9E2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9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039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2D1B2-D9A1-446A-ACF1-EDBF6C0C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91200"/>
            <a:ext cx="415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AE97E-CA07-4057-B84E-EC203D18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7912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44274671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0705A0-9D32-432A-B8AC-4C23C566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Role map: CISO to analyst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89E8C-02CF-497E-86B9-41FFF5A0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4D526-AB84-403D-9AAE-846AFA7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8A62A-2F93-42E9-B97D-1AFE0BCE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D04C2-9076-4793-8F53-CEE200B1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05388-1391-4D8C-8C9A-E204928F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6BD3B-159A-4201-A9B7-2A19168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8F426-3682-4B30-BCFD-44118617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7810-B407-46C0-BE25-ADEC463F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134350" cy="6953250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1BC80-C5DC-47BA-96A8-9104232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351AC-EF83-4559-A1A3-81EDAD42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71750"/>
            <a:ext cx="622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18F15-4E2D-407D-AB2D-25CA8F5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A0E48-29A5-4C83-BC06-63BBF4C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DBACA-F0AD-4E4A-99CB-53691461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2D5D4-D315-4120-8BC0-10C5FED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B6F40-DCD8-4BD8-A094-CD266AD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5D4F4-B7E0-47C8-857D-0BB2C90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2914F-098F-437A-BFD4-980F020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E6A57-3AC8-4E7D-8385-D6330E5F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B5F3D-1A6E-4D9C-AD2B-1EFAF32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BA36E-A6EF-4998-87D3-A6DB90A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61C45-93E9-477D-9A81-1733D80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D55CB-EFDF-422B-A5BE-2CE5FA65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70339-125A-4066-85A0-D21F77E2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this slide as the shape of the document, dashboard, queue, or checklist participants should create.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1B797-E69D-4269-8BA8-ABDBF429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What participants should take away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422F0-249C-47B4-9481-7ACE984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F858F-0485-4A66-9E9C-60D50BD9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771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CISO sets risk appetite, escalation expectations, funding, and executive commitments.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7F1D1-6E1D-40FA-8588-96371F09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AE98B-C5FD-453E-8BC5-2B17216F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771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SOC Manager turns strategy into staffing, process, quality control, and cadence.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2A37B-24BA-4E23-AF7F-2B84F2B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482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AF52E-292F-43DE-8758-5988828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Analysts, engineers, and IR roles produce evidence and action in the incident lifecycle.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737D12-9921-410F-BFAC-CF56440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040 / 142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817A8-0166-4147-B242-9FCAAFA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358DA2-B4DE-4E7B-9440-831F934F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33528863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69E513-23E6-4002-B7A7-5DEE5341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Tier 1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D2B46-0BFF-4124-AB3B-945693B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2304A-0637-4DBC-89FC-98E17A3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8D75D-4222-4AAD-A7ED-9C19C247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4D69E-FC4E-4B2E-99B2-7BB3CA2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E103B-6D61-454F-824D-1DA19651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B63B8-BAD1-4F01-AAB8-222A0203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142CD-4696-4DAB-8B42-D157BF94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A3564-FBAA-4CC0-92A5-5353A79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D2C46-4FA2-4923-8C58-19E1FBA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5E7BE-E87C-4577-BCC8-B032C7D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Monitor queues, validate alert context, classify obvious false positives, and escalate confirmed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6EAEA-DCFF-44B1-A486-71E0761F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A696B-F23C-43C2-B179-B6CA7AC4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142B4-14A4-4731-893E-A71F9DD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initial facts with timestamps, source systems, affected assets, and confidence.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72F69-BE68-4EE0-BFD9-21167CF0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78B64-F99E-407C-8EE3-47088495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F0485-2E4C-4333-B6CA-5C0A2C2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Avoid high-impact containment unless the playbook and authority model allow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C2C8A-7EFA-4AD8-93CC-DFAE0818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F0092-D9D4-49A5-B653-90A7F54D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C718A-4C8E-4E90-AFC7-5D7E3B42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E6DED-B65A-44AB-9FA2-7622A0A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AB95A-0F32-4E1E-A726-EB00854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B916B-D57D-469C-B8DA-4C04DE7E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5C04D-617E-4A26-9A52-33EBC96B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04E34-284F-486D-B999-B825958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84169-22DF-444F-9D9C-E27BD91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041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ADB73-ECFC-4B4F-85D5-934828E1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175E65-6E69-4D68-B743-367FC7E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82122618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551EF6-235E-4C40-B71C-E90801F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Tier 2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090D6-E39F-41DB-B166-9A0AF39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DD376-04E7-4155-9C0A-CA8C4CD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47B57-12D1-40C9-AA9D-1CE27459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AB842-1A6B-486A-B7AD-4291F1C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30F7D-5626-408B-85B1-38D7FC9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99735-45E1-408D-AAB2-FF2A6E85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FEB4D-CEE1-4878-9754-C52967F7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19570-0A5C-486F-82F1-31304F0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B85D0-0438-4CAD-82D9-9AE1DCC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CB858-CA5B-46AE-97DA-153B2934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Perform deeper investigation across identity, endpoint, network, cloud, and application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32ED0-4737-4949-88CE-857ACBA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F6A1E-7FD8-462B-9C64-3CCDC754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CBBE5-94B6-41D6-A8E8-17BFFD2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Scope impact, recommend containment, and determine whether IR should lead.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2A854-3EDE-4424-838B-4166388D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8705B-1C3E-44FD-B280-C5A46FED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7B0B9-40D1-4A8C-A6CC-FB03348C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Improve runbooks and tuning based on repeat investigation patterns.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68590-4B46-435C-AED9-AC232857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6F82D-CD4D-43BA-8AD1-24F35B4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D16C4-3D79-4293-86B1-F7BF8CB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080E9-299B-4B97-B598-7EE0D7B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EE502-3EE8-4957-95DD-2CC4BA70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DD80E-1D34-4E37-A6B5-A8FDFCC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A12C1-27DD-4F2F-98AF-48BB1E24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8DECA-8A0C-4655-A371-AB06F3B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DDD40-35F6-4696-9497-7E2BEFBC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042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D632B-E522-4178-BE44-944C90D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98366-BE9F-4817-AC52-B0D71EE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27766000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23ED40-9F43-401F-8D05-83D2807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Tier 3 / IR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778A4-2966-4738-B433-00DB116B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2D915-0E6A-4000-A5E9-A7ACE13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89A04-B718-4663-B91D-701A1EDA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192D1-9BEA-4F82-AA76-1B8120A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CC9A5-88F7-4622-8C1E-A86D5FA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0D4DA-7C1C-4A82-AD92-32E57E8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C133A-1E98-4294-8699-B3B8BCB0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CAD0D-7E39-4AD9-BB62-062F454A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171E2-1CCC-40BE-99DD-7B5D84E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F1DEF-07D5-4E0B-AC30-14FD7958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Lead complex incidents, containment strategy, eradication, recovery validation, and PIR.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6B473-718B-485D-A2A0-0B93C695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56338-0AB2-4572-838E-0684250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6211C-8EFF-40AE-9396-584CA030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Maintain chain of custody and technical evidence quality when legal or regulator impact is possible.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26471-8B20-4626-98A3-320C4BB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46B53-5A6F-4B72-B30D-1335A563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33B27-CFCB-4AD1-B68F-90413B6D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Coordinate crisis command when severity exceeds normal queue handling.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A17F9-DD9F-455E-A70B-E38185D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7F751-58EF-4E26-A9CC-997911CA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E567F-25A3-4E6C-8FA1-F1F14D67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93A43-676B-4D25-A70E-AA796D2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3A6E3-5154-4FE7-8CEA-66B0B88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42CB4-940B-4DB9-9D21-B7F9E64D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A5932-6ECB-460D-8BE9-FFEDB3D1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8201D-B84F-4DEE-97CC-26499621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5C1B1-B4B0-4AC8-9B08-D8C124FF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043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081AD-4DB5-4360-B1F1-5055DE7F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A077B-375F-4F5B-9712-D2FA32C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48887077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6A633-0C45-490D-955B-A2FF13B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Security engineering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E916B-4875-49E0-8EC4-D88BE78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F4DC6-CF2C-4165-9A5D-3ED3FB14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FD015-9CD4-413A-B70A-F261BC1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E146-D12B-42A2-B372-A1C22BCE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57D79-1FE7-4697-8136-6073953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82B2A-6B58-477C-9241-7FCA169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B12C4-564D-464D-A759-E7861225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D3565-6672-4E65-AE34-0BF2087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E14D8-4100-46F6-8699-85B8C886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8B3DC-971E-464B-82A5-0A7E33F3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 telemetry onboarding, parser quality, detection deployment, tuning, and automation guardrails.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BFC7-522F-4B7A-9E31-26EF7535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DD782-B9C7-4C66-ADEE-58326C1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1EC31-5E02-426C-8DF4-EFFA8E01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Translate repeated SOC friction into engineering backlog.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0FC58-4C7C-44AF-9A50-BB064567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65A85-B1C9-4219-9667-E4D664A7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83C42-7CA7-4D3D-8BA4-BB8F7D3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Validate that controls work in production, not only on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CE36D-2A9E-46D9-98FD-805F1249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5802A-2835-4522-9F10-DD093C8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3F1D5-2578-41B2-9113-C59D5A5E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A59D2-2C70-47A4-A56D-5E73530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A39C3-54FB-48F6-9AE9-AA2DAD90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F5D26-EFAF-407B-A448-9F08737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F0E5F-C948-461B-A559-DFB8B5C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D7D8D-500B-402A-8984-0CEB345D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C6CE54-FD25-439D-AAAA-CBBCD90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044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1DD53-884E-4664-9C7A-9E8CEB1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5EE6E-1D4E-4775-9840-73A89A16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7149627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1BEE1-7C06-47A8-956D-099D831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Manager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F6A3B-6E4D-4072-AD3C-3D6CDDD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83ECE-CFB7-45E1-AB22-69196EAB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DAF1E-E7BE-4F5F-A5A1-C53E459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64F70-DC21-4CD7-9CE5-02695FAA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008BB-C35F-4396-975B-79E1359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AA415-6734-4F0E-A841-095F8AA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7A36E-BCD3-4301-B6F4-23D2342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05969-976F-4620-9C8A-38AD350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F93B3-F9D2-433A-B69C-91A417A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65E43-8155-4889-9AD9-8B662FF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 workflow quality, staffing, escalation discipline, metrics, and service expectations.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F8DA4-0BAE-41B7-BFB7-8BFB8BB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34327-262B-4589-AA60-7D2BFEA0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A4470-878D-4A28-BDDB-F82E0A6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Keep handoffs, reviews, dashboards, and monthly governance grounded in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39765-6153-4F9A-BE83-0DEE8912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15636-1DDC-4D45-9FF9-3B3BE6C5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595CC-2EA3-402B-B284-6526651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Escalate repeated gaps when they need funding, ownership, or risk acceptance.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4F481-DA55-4920-89D8-A80FBFBE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3C685-62BD-4EB9-86AB-232ABB07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968F8-B194-4093-B08A-F464D14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BE441-432E-41C6-831F-36FBE4FA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17BA3-A91D-4B39-AB02-1E916A86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6A2AD-776F-4295-BF99-A00B1BF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7D9AD-EA49-4F3D-9E9C-80AEA96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510C2-BF7A-4906-A864-E86BE159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42693-8E00-4C81-9444-366F2C1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045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04F91-4792-4C5E-AD04-369DB613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33C2B1-7A5B-4462-BC34-F66F3AD5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01851406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6CD914-8CB0-414A-BA88-6DD0DC92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CISO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3378D-39EF-4FF0-A1DF-7F614DA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5D1F0-0AF4-48AF-AE5C-C0A2903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C88E3-4F6C-4D43-920A-308AA67F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3855E-5953-4B60-B80C-96AAC93A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06206-E2A6-452C-A5BD-8198AB7F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C1248-3EDE-4141-8D5E-F9252603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DF25D-5611-4754-A2C3-CD7190AC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F2A36-BD52-47FA-863A-254DB1B7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B952C-6397-465F-998C-05E1A048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88429-8CB9-43F8-AC6B-94F1D771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 risk decisions, external posture, board visibility, and investment priorities.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4FC50-F6F5-4F45-89D8-3B932134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AC3EF-9AF6-45EE-B321-61501E79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67F70-952E-48AB-8F86-D4518D0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Approve or delegate authority for containment, shutdown, notification, and public statements.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AF367-8E4D-4457-9D53-829001F7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DD7EE-8AB6-4675-AB23-530E121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F12D4-18DA-4D5E-9137-66BB645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SOC reporting to make business risk visible and actionable.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B7BFA-0B1D-46A5-BA34-F816EAB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6734C-552F-436A-83D0-ADC2764B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D3431-2774-43AF-BAD5-9C21F920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815DE-07F6-422D-A374-B9D2CAE1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C6886-5218-4620-9874-AF310345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B375D-7DA0-4DCE-B397-10838A3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AA269-7341-4CDA-A51F-F383B773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4459F-6173-4D00-AB32-4CBDD4CB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3DA29-AA80-4183-AB1A-33182DA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046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AB5BF-F73E-40D0-816B-5C28487F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5F14D-3FB8-42F5-957C-1901894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22767389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1A5D33-1217-4CB5-A136-318792B6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Skill matrix across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CB474-1F8D-43DD-A5C2-083D0D29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1E118-4111-40AD-BC2D-8C66B27B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D7552-4FAF-45C0-9C6E-7DFDBB5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BFE52-EAA2-4D1D-B8D1-C3D88BB6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9A49A-E315-4662-8417-9E5C7EF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BB975-6426-4242-8842-954E19B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4067A-F736-46C0-B504-8044D01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1015A-4AEE-475A-8A46-7383D7FA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134350" cy="6953250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9A518-EE6F-446E-AA2F-0CBE338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3D43B-2DF8-4C8E-B1CE-7F3BFE8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71750"/>
            <a:ext cx="622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E3B25-861C-45A0-9770-A0B3590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89DE1-0045-4FC6-8CF5-25377B75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1386C-3B2F-4924-B9ED-81B46AFB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DC5DC-FFDB-4290-8A1D-9511F8F2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24C3C-48D2-4F56-9A0E-0CC6AAA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F8159-B218-4842-92A1-A501F7A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26B62-9871-4FB2-A63D-36143AE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9A486-EBCF-4A61-9FDD-3EDE0B8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9A5CC-7032-418F-BDA8-D992C143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A0714-88E5-4CAE-86F3-53C3049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EAB63-3A8F-4358-B4CE-8BE88181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118F4-E0A2-41C0-99A8-3C2C18C7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21795-6C29-4A56-B891-E148B419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this slide as the shape of the document, dashboard, queue, or checklist participants should create.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70E27-9EE7-4CF3-AF62-2169362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What participants should take away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72C79-F56E-4B10-910C-F006547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6F563-FCED-49C5-AAB5-CB952D29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771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Analysts need triage, log reading, evidence notes, and escalation judgment.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54D96-B424-4898-9F64-5ACE67C2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195C6-900A-4E81-B019-5CC31E25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Engineers need telemetry, rule logic, testing, data quality, and automation awareness.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C2B3D-3C58-4165-AAD9-1CDA4F5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482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77752-D768-4DCA-8B1C-2F910458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Managers and executives need governance, risk communication, decision authority, and investment tradeoffs.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74432C-B945-4D4E-B027-0468E86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047 / 142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BC3532-B41A-4D76-8F88-9903499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7B665-829E-414B-977F-8B0C6DC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28777944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68F22-F3A0-4B5C-985B-AAF6C45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Staffing model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574CC-1E85-4BAE-8AC4-4392A388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C8855-229B-4737-BE5F-C1815BC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9B510-8F00-43FE-859A-6E27CB4D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D4D0F-2B3E-41F4-B444-5035AE1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1F4B5-80AD-4F21-AAD2-4DE9FB04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6F1CA-D1EC-45D4-A875-984F6EB9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A3FC7-F890-4197-AA62-D7FC9244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A15F3-B0FB-478F-AB8C-D7458771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47A24-06FB-4713-8CBF-7C58DBB8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797F0-E779-4225-9275-8EEBE4F6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84FD9-D072-4563-9146-02D68F7D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956E1-A558-411A-9CC4-2484769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27B0D-8018-436E-AE6F-EAC3233B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593FE-DB96-4357-9F1A-0336893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59C81-862D-42AB-95BD-31A53467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F1C2C-6DB0-4D36-859B-5F6E34C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07681-38CC-4642-A33F-BD58CB3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E7499-0C0B-4430-B7BF-D917F1D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9D196-0AC3-474A-8A80-2D6974EB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71F19-FE0A-4269-99CB-EF8D025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BFC05-3084-4F42-9E35-869754F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6F51B-6B3D-4205-9132-7C3E78A3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Calculate coverage by seat-hours, not by job titles.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38A73-B83B-4F78-9469-3FCB7708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85198-4337-4DA5-A310-B56C4FC6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13851-D239-4605-98C2-9CA1FE47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One 24x7 seat needs about 5.25 FTE before overlap and supervision.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7F00-A2A8-481C-ACED-F66230E7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EF7FE-8D31-406C-8EEB-BD6FFAA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Include time for training, tuning, reporting, leave, and improvement work.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8357E-1594-4FD3-A3BF-06A4929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D039C-0D31-4190-B3D1-B9EA5DB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3C8BD-BFE4-403A-8741-C5E85EA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048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55238-3E59-40A4-9697-B63A755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4468E4-073D-4570-8BC0-AE9A534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42637251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1A820-0A00-4654-B698-39EBFE8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8x5 vs extended-hours vs 24x7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C4396-C0CB-4CEE-B6EE-2996A558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3BFD3-EEA7-4592-8276-E56562ED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52EBB-E5C1-46EB-89DB-2002F9BE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821C-1CF4-4CB3-B79B-5B3B9DBF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88F92-915B-409E-A28B-0A6DC8A0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91E45-761F-4B70-9F3D-DBF596F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D71C4-0FAF-4F90-8167-4C022B0D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1775E-FB51-4A5F-B16F-E60F9FB1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C2869-8693-42B4-9B66-2E8ACEB4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A1211-EFAB-488C-ACA0-A59C8E4E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8x5 works when after-hours risk is accepted or covered externally.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B6997-D06B-4B3F-958E-CFB983F9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7D9C1-6D14-4E1C-8BA8-85676B0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E0AA-9EA5-4E5D-84A0-B4D1A13D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Extended-hours covers business-critical periods without full 24x7 cost.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2BCEE-4FB7-4F3F-B288-7F4D032D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E4A9-4210-4DFB-90B3-153E5BFB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30485-D93B-43E8-A268-D187C71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24x7 requires mature handoff, quality control, supervision, and backfill planning.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3024E-BD24-43E3-BD52-5281921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A5251-2D03-40CF-8170-A77807B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A7C02-60B7-468B-8218-A24D9F9F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24DEB-6EA1-498C-8376-772027C1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22641-1F5E-4487-9139-90834034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66B35-C910-480B-B8A1-5E4BF49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EDF39-33B8-4395-ACFF-A1AC0C7E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875CC-4D85-4FB0-AE30-8BCB597B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65C6C-F02E-46BE-B684-3266FA0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7EAE6-10CC-4018-8EE8-A5BE77D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A8600-3BBC-4F25-8B44-78BADDC1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81033110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1D3F60-E554-463C-B7AE-363405E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Shift design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F8178-3F72-4A1C-A90E-99A421AF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59CAD-C58C-4F4D-8527-24F376A9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DC4FB-DAD6-4462-9FB2-373F9D3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34253-F740-4710-BC2C-D046F5D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0A2D2-A3FD-45E9-B011-38827132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95D6-B119-4F28-BB14-F4E3D9A5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8451D-6A26-4DC2-AD47-003E5DB8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78E82-6D88-4B6F-8072-8394CEED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C397C-AACC-4F84-80F9-0A0AD0F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1E900-38F4-46BF-98F6-BB1A2C4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2F09A-10D9-4608-99BE-E8311B5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33E13-D8F9-438B-897F-D15127D0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6AC44-4475-45D5-9D3C-6F92548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FA843-6864-4DDD-AA0F-462F6E9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03DBD-BBB6-45BA-9E4C-0FDA7A47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93E7E-FCB1-45A0-9F8C-824B48AF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CADA6-2702-4845-AA32-BD9A871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81088-D3AE-4935-8EF9-FCF1EDD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0A8D7-9D45-43F4-8ED5-19E43B3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F12DA-47BC-47C4-8B94-3DE0A33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15580-A613-4541-AD8D-6E65233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8C928-10B4-4ECD-88D2-36B460D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Design shifts around alert volume, business hours, service criticality, and fatigue management.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F80B6-4D33-42F3-A9A2-0A51C5C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56CB8-3C15-409C-B04B-CCC2F69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3F031-B412-4FF6-841D-2DDF358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Each shift needs named lead, escalation path, and handoff artifact.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C9C99-7095-45E7-B333-C21BDBA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ED973-7EE6-4E11-9258-AB2970CC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Do not run 24x7 without enough people to cover leave and training.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B73D9-41C3-4D07-8EB3-2F475A46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2659CB-E570-42F9-A354-240CCEF7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A37ED-67F2-456E-A97B-757E2BA9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050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172BF-334C-4935-A362-327C6AAA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79B292-A8CF-45FE-A326-0CE7649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32993507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7877C3-236E-44D2-B491-C602C70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Shift handoff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26A24-325C-4F40-83F6-FDCD0D9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6EAAC-BD1F-4B73-AB11-3B5D59D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3EBBF-B3EB-4B71-855C-39903B83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28531-F809-4DF9-9BCA-217EA55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F2F54-F273-42D6-B468-7FBC8503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D77FF-08A9-4755-9C34-F4B6C52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7BB13-4F46-44E2-BD7D-F109881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7F635-5249-40A7-9DF4-FB17C2B7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03C1E-5C86-45D9-83C4-7B1E0006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Shift handoff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6329F-6DFA-41F8-907D-9948BB5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B3A1B-6B6E-4D77-B6C3-05A7E80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D43BB-933D-470D-A746-9E6C6610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D9128-54E4-4249-AC6C-2EFED82E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Active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C67BB-2A8C-4B38-8F6E-FF39715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BB3C1-B9D9-43B9-9822-09762DC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15721-076E-4438-94E8-AE1286A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Pending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692FA-69D2-47E0-9072-A7D0B8BF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B9608-ACCE-41A2-86AE-41110C72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7582D-8AC6-491D-B68B-660EF80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Fragile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90E47-1155-4818-8B4A-8419C39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E1B45-DE66-459D-926E-E008CD1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9564F-06DA-4BF0-9425-83EA635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Watch 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3F170-464B-4C88-9C44-995EA901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578B7-E2CB-4696-8637-1315E503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37396-0841-44AD-AF62-9F7F3F5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6197D-D430-4713-93D4-C940649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F6B24-DC1C-45DF-BFE6-DC07CF03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B0D1F0-E9F8-4DA6-A2C4-9517673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1EC36-369C-40BC-BB2A-0AC34FE8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Next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6E549-17F1-44E5-88E3-FCE714F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871CA-291D-4604-A770-046C9BF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74DD8-3007-41C4-AA3E-EB4BF81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AD5453-0091-4858-AC34-EB2BD4E3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Case-001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71856-3EAE-4A89-BB1E-F2587D5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D00073-9D84-491F-A0E8-EDD1D7F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P2 open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246A38-2766-4E92-A13A-57BECF1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83EB7-CF16-4CA6-B7B4-7F01591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14:00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B5BE4C-81A1-4F3D-80A1-67294E4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7CA16-2C54-4C11-89EE-F6B4E60E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009C13-288D-4D34-87F0-BEE5221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A2BD83-6D3A-4A20-877A-B3C5B2E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VIP login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4AA0B1-83C5-490D-915B-528AB069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C45C31-1ECB-43C9-A581-0C57D6A3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Watch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41E96C-4700-4B52-A4E2-1F6ACD75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3BCE50-5561-4BE4-B52E-EC6060E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Hourly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F878EE-364D-4BC6-9D57-891068A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BC4FDE-649C-4EC9-B961-20FBA1D1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849D2D-5FED-4156-A57A-03E2D516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EB31FA-493D-4829-AF8E-68F54C22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Firewall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6DE347-73E7-48FF-A064-573F553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DDF399-D799-4AF5-9982-C2E0E92E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Fragile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DFBCF1-84AD-45BD-A102-34702A5B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5FE9FE-4D7F-4610-AF1B-29B83E85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On change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06A120-CA21-4BA2-A6CD-3660CF03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DADAD1-C69C-4735-AF70-B2F1B0B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NetOps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DE6C0A-E22D-4416-A1CA-38D9E2E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B1083A-FC78-43B4-B3CD-13059AD4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3B6D27-6F3E-4F55-9BA4-97DB0CB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The next shift should continue without rediscovering the same facts.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A37294-A371-4F6A-B923-31790035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70482A-324B-4FA3-AB9D-B2BC86A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056C20-7F63-46AB-818E-29AC5D8A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Handoff should transfer active incidents, pending decisions, fragile services, and open evidence requests.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0C85C5-9A2B-405A-A6E1-3FE2C41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96A473-FBEA-4685-9FDC-014A954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A good handoff separates completed work from assumptions and next actions.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679C4B-FC42-4E2B-BB13-1D3E9B4C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051F62-05E7-4689-9B19-B81E8998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The incoming shift should know what to watch and when to escalate.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5EB895-B96B-4125-A89D-4897B39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EB40D5-DF9D-41B4-AA61-2542412E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Case + Owner + Next check + Escalation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A8FF6F-7F64-4BFC-ABB1-379C6C2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051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6A15B8-59CD-4051-B658-EDE3756D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C6F881-BFB4-401B-AEED-EE04341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279017319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B68AB-15C7-407E-B0C5-CDAE969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staffing benchmark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D911E-B8D8-41A9-9759-2394A27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D2DCE-1D22-4317-9CE0-90DC42B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48E5E-11EC-4C67-A3F6-78BED7BF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05912-912C-4255-8927-9EF497F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2A27A-B138-4349-BA86-22809857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61419-28E8-44F0-A65D-8ED0F45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72CC5-0D32-4502-AEA9-1DE84EC5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5BF00-691F-499D-88F1-302F084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98F65-E1D5-4BB2-88C5-B1825FD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5E3C9-9682-49FE-B645-65F3DEB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BEBD6-DDB1-4444-B4F6-607F00F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Typical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178EA-181B-4AED-BC13-8025F76E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EA707-022A-4124-9F4E-A52454C8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79197-8894-4F53-AECE-165FCB44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90B25-8012-41E6-B6C2-5DE5311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C7261-E35F-434B-9EAF-3306534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E8985-6099-4484-AB0F-190007FE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8x5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7FA5F-D739-4E0E-BC43-58E97D8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07619-545E-4117-9BD2-EED5FA75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2-3 FTE + on-call/MSSP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D95F0-D7C0-44AD-8A14-077BFF86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48005-844A-440F-A4D4-A6D4584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Low-risk / small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06544-56D0-45DB-BE13-604F2A5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FDBD0-F1FD-496D-B931-A1EEED1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After-hours delay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724F9-A580-4A0F-BEDD-ACA8B282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EDEADB-2E11-437C-A3F0-9455992E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16x5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91FAA-F658-4A4F-A5E7-709A987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370900-5233-433E-89A0-C84DC35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5-6 FTE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07807-9764-4606-B4C9-577E4762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46CC0B-3563-434D-A52A-DC073B9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Moderate 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6C21A4-6555-4B4E-8A8F-D116AA5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02C0C-0DEC-4594-B5BE-26FCE5F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Weekend exposure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2322AB-8AE5-4B9C-BB49-492E523E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B479B-C481-4397-866C-6050555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24x7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F3656-5343-42D2-B635-7F773595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CF65F5-40CD-44BE-801B-DE61C53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10-15+ FTE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B7D976-03CF-4C03-B65B-95777D64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BFAFEB-E95E-4F31-83FC-6F0886C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High-risk / regulated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7D949D-C9DC-42AD-8AE7-3049012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505DF5-F2E9-4218-8335-8B8FF9CB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Cost and fatigue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7232A-F947-47B6-A9B5-43A4A4A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052 / 142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095424-61FB-457A-9468-30586E34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864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C2D568-3952-41FF-8E7B-90874AD4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4864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29267050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7F5CF-85A9-4A87-9A66-7157F337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role-to-responsibility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6485F-223A-4B56-B9F8-CEC5E9B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FD9A2-9C3F-40C1-B9FD-E9CE7895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8D6DD-101E-48DE-B6BD-FA9D8441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F1E95-D072-4389-A6F4-9DF0CFF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D7754-32CD-4E20-914C-1E6150E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E1242-7A69-494A-9D5D-EFF8058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18DD1-5DAE-4A1C-A281-AB4FB485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2651A-9717-453E-8700-17BE500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70138-4F57-4695-B4E7-1BE6745C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1343D-B024-4E4D-90F5-77C4EC69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F2EF4-6255-44C3-8247-C326A4C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45BBC-12B3-4700-8911-D274344E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EDEF8-D42B-45CA-AD6F-5B7861A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Produces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B3CE1-C14A-4EE0-8AC2-0ABC6D7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63CBF-0B1A-4272-B066-DBAA0C7E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Escalates 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17C4F-947E-4774-A0FF-AD95F9C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E78A3-E998-4FC6-ADED-FE15A93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Analyst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87EB2-3062-4028-8A1A-A0ABBB2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23279-A52C-47F0-8C25-327B879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Triage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430C6-ACE1-4C69-B9FA-95E78A9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09253-1BCC-4211-9911-5BEA7703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Ticket/evidence pointers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7C7FA-F320-4134-8776-7960635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739EF-6866-4C20-8D1C-C7126160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Tier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74438-4017-4077-99FD-37BD187E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5A51A-9EA9-4523-AA4B-B22A4B20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C08CB-CC4E-4512-9E69-9047C3EB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B0176F-06E7-45DA-B3BC-A476E41E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Telemetry/detection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7DE0E6-02C0-44E2-B503-233CF12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4510A-EAAB-4936-9E05-63F3183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Rule/test/source health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94CEE4-2CE6-4027-B08E-5FBC9B16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3B236-1238-475A-B5F9-921741BA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E98BFC-E428-442F-8118-D874C4B5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64D8E-12BC-4B7A-91AA-56055DFF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1EF52F-7162-4011-AC60-1A1C5E80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FB1C3-55C5-4223-BA9E-A6330DC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Complex 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1FB459-740F-4F9B-ACCA-9D88C028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502ADB-20D1-4C2A-9C38-F350A5EE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Evidence and recovery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67E995-0780-41F4-A54D-F60F1D2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8A88C0-A4AD-4076-A101-3888A2B9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CISO/Legal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59870D-4DF8-4157-B398-0D71BABE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FE22A0-F3EC-4E1A-BB01-772B2C08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53C74B-1BE1-45FA-9B71-3327409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38E998-7ACA-40B3-B629-3B05D80F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 decision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CF5BC7-E25F-4A43-8DA6-5B7B1F9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1F0EA2-5F43-42AD-84DC-1DD99FDA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 posture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9255FA-F7C6-46B8-AA9B-B7D5213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243601-1ED6-4E0F-92D3-DD795219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Board/Regulator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ABDC53-C378-47C7-B07B-E862D4B6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053 / 142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5C6120-43F0-47FD-B909-25DB1BBD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C2E7A1-0975-41BF-B83D-884A1A0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2865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32718621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EC440D-4354-48F0-879C-56D36089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Workshop: design staffing and shift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82CB9-5240-412F-A42D-7C3D2BD9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43D55-6568-43BD-8AE0-A3B9D9F1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23570-DEC6-4120-A007-E5E7817C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BEC41-2C9A-43BA-A90D-773B5857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3FFF1-CC93-415D-AFDD-3C1F5D9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13A74-FD6D-4FCA-A288-02513EDF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DE66E-1221-4527-9ECD-93BE7B1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Repeated failed logins start after business hours; shift coverage becomes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9BB99-BE33-479E-BEDB-8421FAD9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E81F5-DDFB-4CFB-ABD7-BD7B168F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66"/>
                </a:solidFill>
              </a:defRPr>
            </a:pPr>
            <a:r>
              <a:rPr sz="12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90645-6CE9-4275-802C-E2E9C8F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BA90B-DF43-4812-8B3A-F3DA4EB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0046E-0C67-467D-8B04-DB1A6D5A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70E2C-FA2B-4A49-A7CA-C8D6882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7A307-92DF-48D9-89FA-C8EFDF70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D429C-F047-4EA5-9A41-831E4F4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A64D4-8029-454E-A013-CDAF5314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4E3E4-4AB5-4185-B747-43485E15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C48A1-16AF-41E7-91F5-8AE404BB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6FE60-5C46-42F1-AAC0-B5C0CD1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92802-0F15-44F6-9529-1BCAC11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1DDC8-81FF-4A4D-A5BC-43CC8B87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7E028-65C0-436F-A095-66374E2A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DEDF6-54BA-4E75-8E8F-BF22C87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B4E09-67A1-415B-AE0D-1DAF5390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4F1D97-F2D7-45D8-8515-2DBDC6C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4B43C-044D-40C5-8BC9-B1110950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BAA41-7584-4CE6-A6E1-AF11B536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DBBCB-4FD9-40B1-BBDD-F43AFC99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87B4D6-1EEB-4B8B-A519-72DC361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7CA7F1-0471-4776-B88F-A028E5C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AC75B-969D-482A-BDA9-2F005695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7519B-511E-4859-B8D1-6326741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054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E551AC-1429-43C8-9953-D8535D7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3126E6-4662-402E-98E9-7AE4352D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960970989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40298-6524-4D52-8FFF-F9E2FCB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E5588-8315-41B4-B58C-070507E3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7285"/>
                </a:solidFill>
              </a:defRPr>
            </a:pPr>
            <a:r>
              <a:rPr sz="2550" b="1">
                <a:solidFill>
                  <a:srgbClr val="0B7285"/>
                </a:solidFill>
              </a:rPr>
              <a:t>055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C29B-F64C-4435-ADAE-23D9B9F7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FUND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A0E9B-BA19-4E1C-BE2F-2C8A6DC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2B62-691A-4847-A999-E1C3D075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Prioritize tools and budget by operating value, not tool hype.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3942-AC6C-4E5D-8525-9D24EAA0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82035-359E-4610-A491-927CE3D5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56DE8-9350-4A48-9391-3A87769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7CD784-ED48-4BBF-95C7-11550490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Core SOC tool 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0D1D5-0006-4B58-A121-BA72DD62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965EE-9ED8-432E-8DB5-80E01281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3D75E-E53C-494D-9378-6A442B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62814-1AD2-4C9D-BDC0-9BB4FAA6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F69F3-8473-44D3-8C43-82C5FD92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B4A3A-7EA3-4F5D-8E54-1E3A7C3E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28B34-3C8B-4A15-8413-E0BF38A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1605A-5CA4-4F6E-BFBE-FAAB0CCE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SIEM centralizes searchable evidence and detection correlation.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DA62B-84ED-4F12-B867-CE9EAC3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762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A32B8-C1FC-4CEB-88B5-873A07AE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BD431-2809-4002-800B-C584FC4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6225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EDR/XDR provides endpoint investigation and response control.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2F29C-9577-4786-88C6-B7D853E3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352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F5D00-2D2F-405B-957D-3286C91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3F10B-9077-4DA7-A9EE-1948AA1B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Case management, TI, SOAR, vulnerability, IAM, DLP, and data tools complete the operating picture.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258D7-C2DA-4B36-9975-4605F1F0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21005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DB356-7711-4578-B56C-B2B36992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196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BA5A2-9D76-4F2D-AD2B-0641FDF0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3403B-2515-4B76-BE3A-567FA06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197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055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B00E1-B7BA-4895-87ED-74A73ADB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4362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75AAF-0383-4EB2-9622-6F6B5B4C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6197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255414121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3281F-0175-4AC3-8EA8-3941EE97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SIEM: job and selection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D6D61-3F23-4269-8265-D904BF7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31BF-A65B-43E8-B1DB-B68357BC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F253B-EA6B-46DA-ADD9-2B1CC37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D39B0-0353-4897-8F37-896A2C6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49712-B4B9-4701-98F3-DCCBAA5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03CC6-F67B-4CA2-B685-067D67BD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BE28-D697-423C-A07F-153110B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DCCA5-9151-40F6-9C68-4C91006B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CDF49-AF41-4D02-89C1-13852DEB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D67E3-09F0-4E38-95FB-2B8EC686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SIEM's job is searchable evidence, correlation, dashboards, and investigation continuity.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DA3F0-E626-4262-82EA-B6784B63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AFA8E-88D0-4D76-9B4B-DC37986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4502C-6BE2-4696-9E2F-7C70BBA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Select by log source fit, query usability, retention cost, parser quality, and team skill.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BC799-8D70-43AB-90B1-B82BF3D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6AB40-C9AC-4EFB-BBF4-3EC7BF3D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5A5FA-AE52-45E5-B82F-B12A09A8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SIEM is not useful if critical logs are missing or unreadable.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59407-9713-4CC2-8611-9444D133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8574B-3877-4294-B2EE-B36AA386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D2DDC-9B81-4773-A32D-2C38B954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D25FB-D397-40BB-813A-B13F27A5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CB124-95E6-4162-B94A-90830DF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E0793-AB72-4CF6-AB11-6D239E10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A8AF0-193F-48F5-ACF5-EB5BF5DB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B053F-8936-4A70-A355-E2E21CD9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C27E6-B80D-4949-B024-734248D1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056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372F0-30C6-4F31-8293-BF91D05A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59BC7-EBF9-4E5E-94D3-3B1FE78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562425524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5CAF89-3CCF-4945-A4E0-28DF0A57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EDR/XDR: job and selection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86684-38E0-4655-89CE-985D589F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3526F-24C9-40E4-B138-9B3234F7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56E14-BCD1-427F-BF98-2C1CC6C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D58AD-BB1B-4796-BA78-4F47FD9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54B48-9DE9-4610-B976-E2D53DCD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AD637-5F51-4EF6-9854-14001A00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7521F-F144-4494-B1E9-4F4CA04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69D93-53A0-4602-A1AB-236ACD8A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B2A8A-776E-4C8A-90AC-D5A0660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EE8A9-8CFA-4E98-AC6C-053816A4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Endpoint tooling must support process context, isolation, collection, and response audit trail.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94C6B-27BA-457E-A965-A8E6AB3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7CB0F-2D71-4008-9F54-6EA8F59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81A47-4DE5-4725-B47E-4C05B938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Select by coverage, response safety, telemetry fidelity, and analyst workflow fit.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72FFC-243D-4416-ABF2-5A32E60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7DDE1-08DD-4E49-B0F4-71BAB34A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D75A0-2500-4E40-B6B2-8D6B2A25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who can execute high-impact response actions before go-live.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1C62A-48FA-43B4-9C20-82455B7A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72BF5-1984-416D-AABB-74E4A87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6631D-7A51-4768-9B56-782A5FD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32EAE-638B-4463-BF8F-90A7A01F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EF33A-7E7B-4599-8BD3-FD1A0752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1CDAC-2D68-4B2C-9F60-FE1D8028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E226C-4F52-4656-901F-8438CF3D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8559C-5084-448B-B325-929EDBF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C68C1-BD27-4112-9925-475E9A3C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057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E4970-8450-4641-BCEF-FDE8455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48BCC-0BDF-4864-B77A-6BB42A7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797451778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8FF738-94D0-4BB5-A021-E761FCF5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SOAR/automation: when it helps and when it hurts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EC1C3-1679-442D-A809-8C28E60C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6F63-4DB1-4104-8AEF-7B7868CE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93CDB-5F98-4D5D-B830-0B5E9652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ECBB8-D321-4B3F-B332-428D0579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23E5D-6CD1-45C8-B60C-40757902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068A9-FDFB-465E-AD73-F510ABC7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DD311-56BD-4B10-8B6C-A0A91C25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8032E-1995-4CAA-AE2B-AB6676A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F701B-A81F-4D56-877C-8170910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12CC2-BF09-4112-9F99-D8B0199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Automation helps repeat enrichment, routing, evidence collection, and low-risk containment.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5F7E9-0AE6-4AE9-BEA6-65AB16BE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B6D3D-E308-49B3-AE4C-A8D58A3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A8913-AA28-46F1-AA15-C22EF623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Automation hurts when decision criteria, ownership, or rollback are unclear.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4F4BB-AE3F-485F-B6C7-7612880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87204-9F48-4ECC-B4CF-9AD77E4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DDB98-22CD-438F-81CA-46538F0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assisted workflows before autonomous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430BF-1A8D-4D95-8639-EF4D02A1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360F3-6AB8-4E6C-93D3-9F19815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4498E-B5CE-4FEF-867B-2E7B10C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62D41-2CF7-4A93-97BC-167E1EC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C57FB-197B-4C27-B318-033CC276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66F47-A398-4A07-A5ED-FEF9AA81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3B043-08CD-4D4E-933C-91D658F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86B51-5638-4E4C-BB91-5A0E7651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A7ADC-83AB-4472-8049-7193845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058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FD563-E71C-434F-9895-5DB5033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0F3EC-F3DB-48BF-BC12-11C261F6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646117847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470D26-BE76-463C-85AC-11CAE279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Threat intelligence platform and feeds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D3C2-2C49-4BF7-8037-390A602B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1D99-0A76-48AC-84D5-FEFB437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44727-0A97-41B3-BD67-E66CBCF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7D8B5-4038-460E-940F-63FBA25B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CB483-ECA9-4FCD-8358-076B9C4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28CB9-C03C-49A3-9B73-265D38E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D924B-4A7B-45D5-BD74-FCEFB3A5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3C67D-873E-42E1-A209-EF46D3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A44A2-5F95-43FF-8AF2-E433DE8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D0D47-B7A1-4F26-8FDF-C021930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Threat intelligence should answer prioritized questions, not flood the SOC with indicators.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E0F79-2DED-4C03-B050-7E6C0C7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7D49B-EA30-42A6-B5A4-F4A01CB7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801F-EC25-4B4C-BA63-3081F1BF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feeds to enrich detections, hunts, watchlists, and external coordination.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DFD69-9CA5-4B2E-B2B4-76F93CD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C0B6A-F236-4209-82CD-8205545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6E84D-B64A-49F1-B798-C95AFB2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Track source confidence, relevance, expiration, and action taken.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D6190-98E3-4CEE-8132-97F86C2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4311C-EA2D-4182-9F70-BE4877F9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C68E4-6B58-4454-B7A2-4617677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F6519-4BA3-48BC-8542-45D80B1E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DDB3C-B582-44C6-8B68-6B4A2A7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B77C3-863F-4582-977F-8BE48686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38739-398D-4BD9-9AAF-FC38A5CB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CC908-DC99-47AD-B5ED-F8C964C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9DE0D9-F5FC-4FC5-8110-69AC8CE1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EAC34-9F15-48FB-BA1D-55F97F9D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798E6-2CE0-4F9C-9572-4A3CEC8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7906241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374EA7-8B03-4018-8261-B7E52C3E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Case management and knowledge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0EAB8-F5CC-45B1-A809-9E7064DB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D24D2-CEA6-4A8F-9919-293269A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1A722-5112-4D03-830F-CCC5548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B10A0-B093-4BF9-8F2B-3C006CB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C03E2-6210-477E-8323-CD4502F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45564-5FA4-4D4A-A02B-674D2BED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5A0AD-6387-4313-A3C5-323DB51A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D84FB-FD53-4773-ABC8-CCAF9E8D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959FB-4972-43F1-99B5-C6DDAB4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4E1F8-4689-4CA3-BD1F-DB67BCF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case system preserves timeline, evidence, ownership, approvals, and closure rationale.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F1393-0BD5-449B-BC3B-2AB089D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450E8-5388-4CA2-AE16-7DEF8F4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FB784-D614-495F-9511-DBB16C87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knowledge base keeps repeatable steps outside individual analyst memory.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2566D-923B-44B1-B239-C703126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06E4A-1179-4A42-9E2F-DF1B157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205E5-E5F8-4704-A1F8-13278D9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Both are required for shift handoff, audit, PIR, and training.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455F5-5CCE-446A-AA2D-0CFFCC3B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1372C-E26E-4DCE-AF38-2D4CBA2F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D8B7D-5324-4883-8F5F-AC5997B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C3D68-F2DC-4578-9E49-4E16F2E7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064D2-D35C-4115-BD02-A50F0688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D4DEC-ED76-4D0C-B818-E4084645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8E5FD-9F40-4932-8AFA-05627AA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232B2-5D65-4C03-87BA-CC8EE0D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99A426-7187-4460-B5E1-1CB9200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060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693EC-8002-4332-AA01-DD5EDBF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6820B-3CA6-4BA8-AA87-2BC4549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470488309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946765-8622-4EB2-8D35-331BD2D4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DLP, IAM, vulnerability, and supporting control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FAD85-B578-40FC-838C-E4CD5822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A8CCA-99E7-44FE-93B0-CE183751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0D0B3-905E-4E35-AA8E-BD3578E5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9DD96-BFB6-4AD2-9028-A7B4AE2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37AB4-B50E-443B-8AF1-638E65C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5DE49-0DE7-4C0C-B8E8-060E0CB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1EFC0-A7D5-4D8E-A242-704570AE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E0637-94E7-48B0-B139-F36BE372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5E975-2099-49D8-B035-4026F35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6CAE5-A706-4D5C-9126-EAFB01C0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Supporting control data turns alerts into risk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FB4D0-C720-42DB-8742-0AD340C9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FFA76-9426-4B53-845D-7462F558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F3921-D178-4406-815F-48085FDA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Vulnerability, IAM, DLP, asset, and data-classification systems help prioritize response.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72566-4F3C-4C5D-B68F-1FB26F23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9E15D-A9D0-4519-83F7-A60FB3A0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99A27-813B-4740-BC7F-B95BFC3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ownership should include evidence use, not ownership of every control platform.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087BE-48C7-4623-B699-6F55078E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36099-2E37-444E-9E0B-082CBFC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17D6B-66BE-4912-BD71-E7606E6F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BC7A9-F17D-4EF7-8292-1736F66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95E7B4-DEF3-4AD0-B530-B2A1264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634FA-F3A7-4066-B621-B2B6442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86F08-0751-40F2-9885-A53C0F39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B231C-CEC8-4133-AFFC-2D258621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58985-96C6-44F1-AFF5-40C6E165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061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17472-1027-437B-A728-D2E83D8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3AD6F-9E61-4DD6-8BD9-E5860B9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656545662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339EE1-84C6-4B2F-8EAF-F7E5B2A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Tool integration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652AD-6B0D-4017-BF30-764F24CA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2CADA-7874-4ECB-A343-129D2BFB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EF063-DC73-4D19-9D86-CA48EF33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2326C-FF7B-4024-950F-8BB37789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86480-8B1B-4DE8-916D-46D2C2B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2E01B-76FA-49A7-A965-CA369B6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2B0C1-D07A-48DF-B0E0-623F36D0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1E585-47CC-4762-BFB6-9D2F27FF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A15C1-872C-48AC-BAE2-DCA490B5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EA423-5EE2-4890-9E8B-5D64D26D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042C8-8627-4441-81E4-C1A6B48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A50F2-BBCB-403E-A385-A3727E13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66FD5-48F3-4749-ACEA-689EDA2C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C2CE5-F219-436C-A4DE-52484EF0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92A86-834F-473A-84A8-A4FE737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854BB-3C7A-4CD8-AC8F-1389D127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5CFF6-9199-42DD-951C-9581BEE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D15AF-75D2-48D8-AB04-C43D9566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3179B-EF23-47E3-AFD9-91B3E3E4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7FCEF-3DEF-4601-B3F5-EB7AFCD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F753B-1A86-44B3-85EF-EFE358AD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1241-598B-4288-9469-BF91485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Connect identity, endpoint, network, email, and cloud before advanced automation.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27F06-0457-4B8A-8F79-ED5641B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9472F-478D-4D23-9991-E31BBD3D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47A6A-089C-4D5D-8BAE-52ACE79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Add case management early so evidence and decisions do not live in chat.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01532C-B62F-436A-8BE7-8EDB43E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DD358-E68E-4BA4-9EFD-4D7E788D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Introduce orchestration after playbooks and authority boundaries are stable.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668A8-DDAA-4CC9-9D7B-30CAC01F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6C86F-DC18-410B-AD9E-96F825A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C7769-F5C9-4F50-98E5-9F1F1B0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062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F08B9-D611-4B98-A4D3-760A9DD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010D06-AC45-42B2-9D53-347CBB9B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970221723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12BA30-F9E0-484A-BC60-75B3C661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Build-vs-buy and complexity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6A623-29E4-4876-9751-1A2BF3B9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5699-20D8-442D-9B19-89402287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A97C7-795B-4246-8217-D6FC874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A2678-D434-433F-A4C1-E0293E5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1B1DD-3696-42CE-934F-7CFD2410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DBA27-16EF-48B8-83EB-5C12D033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382F7-567F-49A6-8E46-17DFEA23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614B1-A255-45CA-BA53-EA6E86D6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1FA94-F840-48C0-8180-B5874A90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66586-03C0-4CDB-AB63-9F1F9104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Build when team skill, ownership, and maintenance capacity are 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69AD0-F719-400A-9A99-4D84BFC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28858-E874-4BC0-A3D6-F12F0D02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4A42C-AF52-4386-8778-216583EE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Buy when time-to-value, support, and integration risk matter more than customization.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C0C25-3998-44C7-B6A8-12C5CF8A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0A372-2EDF-403D-A756-2A18DA9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7CCF2-A442-4C87-994E-145D743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Hybrid approaches still need internal process ownership.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9A9F8-1801-47BC-B8AF-9517C5DF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49023-EFFE-4C80-8FBD-7A4DB6B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D58BE-5938-4E5B-821F-C7921B6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80074-252F-4A6F-A4B6-A021806C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32D7F-C553-410A-8EE8-B1DABD4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A04CC-6341-4667-B649-667CA621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EEB28-6ECB-48A2-9868-B6E4D711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58100-7238-4BC3-8018-162A551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66F3D-C6BF-4CDC-818C-4B5C59BF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063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B946D-63E6-46CE-AD58-8FC2A248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38E55-2896-44EC-AE2F-97893B0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2135923289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C4AEA5-B925-4A69-98AA-FA091C0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2A"/>
                </a:solidFill>
              </a:defRPr>
            </a:pPr>
            <a:r>
              <a:rPr sz="3225" b="1">
                <a:solidFill>
                  <a:srgbClr val="17202A"/>
                </a:solidFill>
              </a:rPr>
              <a:t>Budget categories: people, platform, content,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96D3B-63F9-4577-9258-08160FCA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2A10F-9C99-423B-BA45-0A3832BD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AC7C7-F97E-4DBE-9916-6E0920CC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3A8AC-72D3-4A3B-AF04-D73C227C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049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C3462-6979-49B6-8A71-6FE9C87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FBF5E-C535-4043-8DDA-0AA1AE21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E7AEC-8577-414E-8F03-958E669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8048-5B21-4205-A0C7-78C756AE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5E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81874-192E-4DA8-9DEB-C021A9DB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14423-38C2-4CD9-A144-8C289F53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Trend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08FA8-E9EA-4B24-9C58-7DF564D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66" y="2219325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1D3F-ECDA-45FA-8716-E1C4DD4F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41E2D-0EF9-4805-A505-6A49F89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C8D47-77F5-4C0A-A44B-CA5434D1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4538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9CA34-5189-47A6-9FCB-CF21E27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Backlog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A0CAA-9B6F-4E1B-9FEC-830F87D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E4A51-12A8-4CD7-B94C-EB1B6E12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66" y="5824538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5F1D7-3BF6-4C61-9461-9B20029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0075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FE531-A085-49D0-850B-64E1364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865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4BADE-77B3-41A3-A785-51136332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28850"/>
            <a:ext cx="897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Decision 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952FA-1574-46A3-AE61-74104BAB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2600325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27C5C-2E7E-4AA9-8B8E-193C677F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855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People costs usually dominate a sustainable SOC budget.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D2656-3D97-4BBF-A376-5FB3F957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3743325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A570B-CA4A-4BC6-BAD8-14108D19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Platform costs include licensing, storage, compute, support, and retention.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23149-BB3B-4F3A-BD0C-BA44CF59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4886325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D37C7-D1B2-4271-AEDA-B8042D2C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67300"/>
            <a:ext cx="8553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Content and operations include detections, training, exercises, reporting, and improvement.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3C297-98A5-4A99-9CDB-3AACDA7D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064 / 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4DE6A-09DA-4A8A-A8B4-6F740B89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98B13-F576-43DF-B10F-5833EBC6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852249799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893F3C-1072-4AC4-AA75-64D1FA24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Phased budget model by maturity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F2582-2024-4614-BE87-0F62A88B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5B744-6F94-4CDE-BF95-C28C16E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3F03A-10E5-48D3-9F83-229E8E1C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8727B-5CB0-458B-94E4-676F3D3E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1E2BA-A290-4CBA-B392-93FE1C0F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DBEAA-8003-42CD-8CA0-1BB0794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352EC-719F-4DA9-94FB-B37B856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5CB27-2D4F-4129-8543-217429B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5E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DE055-BF2E-482B-A72E-884E4C7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969CE-F499-476D-8AAC-3F17DA0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Trend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0FBD1-0056-4F87-992C-357E43F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66" y="2324100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7F6D-CB7B-447B-A64C-A756FB1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3737E-E335-4C3F-A8BD-8C2D134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9CCD7-637A-425B-977F-210CEEB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42FB2-225F-4BBB-BAAE-BB05714A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Backlog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8DEF1-D7A8-4756-9B8D-D14BD63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436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95C50-B606-49BE-BD9E-C4BA555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66" y="5876925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8D998-F1C1-4B3F-AC76-7607AF38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579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5A2B7-E0B4-4C02-8188-4E0D521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436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E1660-7550-4A9E-BE16-DB67182B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897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Decision 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81CFE-9CEE-4D5E-A842-4EC9C70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2705100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F6B7A-43A7-49BC-B305-49FF098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8553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Foundation funds minimum people, critical telemetry, SIEM/EDR, and core SOPs.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24586-BF6A-4B24-ADCD-460AB29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3848100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93C89-4C5F-4E2E-9B40-EF4B2C7C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Operational funds shifts, tuning, playbooks, metrics, and service ownership.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54968-A268-4236-90B4-22F4DB98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4991100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C6E22-2E62-4D0C-89A1-94F6ABEA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Mature funds automation, threat hunting, advanced analytics, and governance cadence.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2593C-50B2-4801-876A-007A5830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065 / 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9FAA5D-3852-44C7-8689-84DC5704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39C1A-F769-4AD5-9E6C-C98D512A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416164883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A0EC95-8A6C-4909-828D-0E95DC9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tool evaluation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44F87-8854-478D-9BF7-E07E439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A1BDF-8C22-4256-B0F3-8BAFD161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5D545-E0A4-4465-8FF3-55D2EDCC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6CABA-DAF7-4423-BDB2-8D2BB61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E78CE-020A-4BB1-A863-99F4E91C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F4121-D48A-40D9-B0DC-D9C9AC93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2ECD7-98B1-4B8D-91B0-0D139810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E4A3E-6CE2-4194-9D0C-9B1324D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2FED5-C539-466E-9C30-B47B408A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69384-5301-4130-8EE1-8DC22BBD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2FE52-A372-4204-ADAD-E359B20E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FC2BB-E230-4FDB-900B-A5D6DDBD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D5AC7-C351-4B97-B74F-DE88281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4DEE3-D3B0-4F4A-9B80-0B725F06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90CC7-1963-413F-A487-3EC47BC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892B1-3E48-4689-9827-F0613757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D9286-5014-4569-9A96-37C6092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Telemetry 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400AE-CAAD-4CB8-B509-24D2835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BCE58-F6EE-49C6-8F67-75276A7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it ingest priority sources?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E32C2-8A9D-4E6D-BC4C-DFFF96AE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9DB0A-2C84-4D0F-948F-37D5E82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6753A-93CE-4F09-AFB1-26F94A9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255BA-5826-4665-9412-3317070A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Parser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EC51CC-19A2-4980-AFB6-F87997FE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8D456-EF36-473F-AE0F-243B0F2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Workflow fit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F6C9E-8567-433A-A065-8774D33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700B6-F015-45C6-A41A-2BF64589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analysts work cases cleanly?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7EB01-B198-4891-9414-F4FB5882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1D4ED-072E-49D6-A30B-036590D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823A7-2C67-4649-8CE2-7689CED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6A681-6521-4A83-A8FB-3645889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Triage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2B9FE4-D9D1-46C4-BEEA-55BC93E0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08FB18-A6AA-4D93-A3D0-343C1B3A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Cost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A760B-35B0-468F-9030-5BBC7D9F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BD261-F81B-4895-97C8-9AB3275D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retention scale?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809BB-3808-469A-81B0-F7533BA0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64943C-8FFF-44C0-AF6C-226DD583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59A09F-7540-4928-8AAF-01D34A1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E5BB7C-140A-4FE9-AC9E-75ADEAE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Volume estimate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CDC2B3-06DC-42CA-BA33-81481A0C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1A9C03-0EE1-466C-ABC3-1F21448C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Supportability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C66530-C2A7-4B0A-894C-6683DDBA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9D21C1-9DFA-4EDB-BBB1-96104BC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team operate it?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D231AD-DA83-4ABE-9DB3-F10B74E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2E93B5-9F5A-47DC-877C-82612C4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Medium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0A2BD4-CEE4-4614-8B3B-312DAA2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B4018C-8D9B-42AB-9BDA-A2EC1DCB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Skill map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299BAB-11B8-4BBD-8EA2-2D2133C8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066 / 142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EBE475-3449-4B12-85F6-DC9C6316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FD2975-FF8D-40EF-B535-48C690D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2865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255126392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081B62-C1AB-45F4-B38B-4FC87E02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budget allocation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C3E27-4EC8-493E-8494-3A047A4D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F2E16-AE58-4FA8-8D26-12A4BAD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66684-D985-4B0C-BCB9-14E4532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17461-4DFD-4234-A794-C94C15F9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320D1-ECF6-4850-8536-BE1FAD3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DFD3F-DB38-4819-A6E7-028CE4C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D3CD3-F7B0-4725-B983-997317B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E1C77-BB9A-4F1F-AC1C-B01E1F2E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075E1-4D8A-4897-8577-035E124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E06C4-ABCA-438F-A82D-EAD8BA1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1252A-EE60-4C71-80B7-5893A41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3EB27-3798-4B61-84F5-511B95A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8A94F-10F4-4FED-9FED-3F1945FF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Operational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5640A-1F4D-4B7F-A999-76D8A64B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DF859-5D37-4498-B356-5AA302A0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5D7E3-ECC7-4888-BD8F-08A61A8F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56E85-997E-415A-A5EF-C7ADBD8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People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02BEA-36E2-4224-8A5F-D24A687B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AAB8A-F422-4D3E-955C-A46B6110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Lead + T1/T2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37944-3C81-4B93-B8C7-C3D0D1C8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D05F6-F9B3-4BA7-AE73-9E4420A2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Shift +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74EEC-F29B-4015-A0E9-3B8888DE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7200B-D14E-4772-8EA9-EF73425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24x7 + specialists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BAFA5-1ED2-42B3-8209-27C78CC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7CDEE-2866-404C-B54A-3CBF80C1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30813-EE3B-48C7-BC54-A3D0BE1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ED2BC-A845-4F0A-88FE-49C955B6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SIEM/EDR 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93E2F-1038-49F2-B24C-2A64E93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41297-786E-4FF5-8847-8498296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Retention + case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162B1-C1AE-4D08-B0BB-BFB04D51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87F1C-BEEE-4591-82C5-62977BB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Automation + TI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04663-F8F7-407F-8A19-3B27AA27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5EE2B-61DA-4756-9EA6-AFB06AFF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19CEB4-80BC-47E6-BC92-27649904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603BD7-A172-4867-8307-9AB978E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Top detections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047224-1B0F-42E9-859F-A11ADBE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093F93-4AED-4439-B235-5337476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Playbook library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D86E6D-193D-43B1-A51C-57F9C84A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23F0ED-5A56-4F03-8BD2-7A2E943C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Threat-led coverage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E2298E-0F49-4483-AD1A-252EBFC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08D6B0-1AB2-498E-AAA0-981DD8D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Training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8B7BE0-DE5C-42F4-B1B1-371929F4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71E9F6-7AE3-4E06-814D-804A04C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Onboarding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A9D287-3A37-40C4-8BB4-E0F2E31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B9765C-6B15-4E71-9DF5-F30030CA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Role labs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A9B2A9-1F3D-4C5F-8DAE-6150B85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766250-F479-4AC6-86DC-288C1DF3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Purple-team cadence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D46E92-1D84-4350-90E2-EB8C4C0F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067 / 142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6AF2E7-6539-413A-98E2-C112196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927708-E426-47AA-A0C6-034DE623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2865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804985458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CA24C2-01F5-44B8-9B5B-FCD43284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Worksheet: prioritize tools and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781B3-64AC-47DA-BE63-2AFBEA99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735AC-2BFD-4141-A045-715AE77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F41BB-F50F-407A-8872-B849B36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F3140-38DD-45F4-9A17-0FC121B9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6C7A3-6320-45EA-A088-1D5CDE03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34040-08A4-4C98-AF74-0179D3EA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34CF0-EFB5-4518-8FEF-34B5BED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team must decide which tools prove account abuse and data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71C12-E1C6-43A7-8354-C0A4DC3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621F6-B6EE-4AC6-B0F2-41CD8F83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</a:defRPr>
            </a:pPr>
            <a:r>
              <a:rPr sz="12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D8197-AF8D-48C3-BA47-391CA602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6388C-9FC7-4EBE-BF29-CA4FBA80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CBDD2-81D5-4640-BCBB-F18C772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B298F-C6E4-40C9-8DA7-E4A82767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DFD14-57D7-48BA-915A-17E16607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5E17E-0421-428D-AE47-F8A31553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A5442-5147-4CFE-BC84-DC232A75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1E700-3F36-4D0A-A188-C226DF4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9828B-FC14-4419-B9EF-36B9A150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0D222-95E4-4145-B62B-F8DB7EE8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48A86-B4B9-4DA7-B0B5-C33B8A3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ED6A0-2D73-45FC-92F8-6941A5C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CEB2B-C292-441B-BC89-426A6C29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2472E-8A57-45CF-B408-144EA60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1EB7F-B53E-4581-94D5-AAE7691D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30D7AC-6363-4151-8B12-2491141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BB63F-33AD-41E5-AD52-9CEB9824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D6138-2AD0-4F34-9A41-BC9CBBF7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63EDF-BFA0-47BC-A685-77F0CCD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0D9D1-9C36-4316-979D-6EB6478D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3A4D2-4691-4FE1-93F9-0DDD67A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BF2B7B-32F4-4801-A517-649DB8E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AFD22-F3D6-4A40-BD3E-2AD079E6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068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7F2A90-E2F8-46CC-A14A-ACEEBA86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0AF4DD-CCC1-4AFC-BB5B-2B894371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103860416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7CF5D-8FF0-4472-8635-EA498030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AC79-7230-4CD0-B308-5EF121D7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8218"/>
                </a:solidFill>
              </a:defRPr>
            </a:pPr>
            <a:r>
              <a:rPr sz="2550" b="1">
                <a:solidFill>
                  <a:srgbClr val="C98218"/>
                </a:solidFill>
              </a:rPr>
              <a:t>069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F6341-9AD1-4C5C-B29F-7B6B14CD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347FD-69AD-4849-AA5D-2DE0112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BD820-4BAF-4F22-9D34-83788E4B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Convert alerts into disciplined workflow and governance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6B2EC-CEA7-48B8-8FE2-E98FB177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6DF42-0ADF-4605-8BA5-938DCA5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A6CA8-A13D-435A-8223-471BA0CE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E914E7-CA62-46F0-A97E-3B9A1CA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operating model in 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17C07-296B-4852-BC1D-EECCF10A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F7715-D939-4408-BBA4-937799A1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22CF9-A926-4BCC-88CC-6C703F3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9BEA8-43FE-4DD0-B65E-D5E74028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10464-AA94-4447-A7E0-A3FF603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BE4B4-B8E1-4AA3-AD2B-53BEF2E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132E5-4234-4BF1-AB96-4A47E65C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0A4F1-A6EF-4810-AF0C-D5678B8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Production SOC work is queue discipline, investigation quality, escalation, reporting, and improvement.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57C8B-BF02-4983-8D5E-6B93F89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933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E96B9-B0E6-4502-924F-BB02B10B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B98C6-91B8-4135-9DF5-4B66C2F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operating model must define what happens daily, weekly, monthly, and quarterly.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B6ED2-BF67-42D5-8B76-18EFD8C9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695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4C25A-85C6-46CD-9C6B-AD8C0EA2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54027-D012-4DC6-9077-AD10044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Metrics should reveal both risk reduction and operational friction.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6CC51-5E4B-4A7D-839F-4432A679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38150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22A93-9CF7-485B-B100-23B2EAE7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7CCD4F-A422-46A8-9934-E7FDED1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36CAC-B72A-4660-9304-B44439AF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9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069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60450-590C-4C3D-815B-13343BC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91200"/>
            <a:ext cx="697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19EEC8-FDF9-4741-91FE-5C4A09C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79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380816367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A38A7-060B-4C53-A1B9-54E004C6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Service catalog and what the SOC owns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8B9A6-90E0-4C3F-B51A-ABDF52C9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FA881-67B0-46DD-8722-759425E0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227A9-F457-485F-8657-8C8F35C5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EBA02-61B7-4523-9F63-65D089AC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11086-D4E1-4584-B048-B9A45EC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8102C-F8CC-4DE6-9D51-E8DB0D6C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249F1-54AD-4E49-96C0-18189764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6B62B-7F7B-4500-9B36-4D8C07B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8A75D-867A-4D59-BE01-8D81A4FC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SOC service 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419EB-F5F8-42EC-A46C-0ACAEC44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45716-DD33-4172-BCFC-61CF8518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E10DD-7518-402C-9FF8-8E16FAB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FD257-A0BF-4EC9-B51F-5A83FB3E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7E981-92FA-4797-8D05-C41414B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37D83-9B00-4082-983A-42CEC59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15D5F-7B95-490F-B633-93C445E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1E4DF-5562-4FBB-953A-5A3B35F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F6052-3F7D-472C-9D13-52B9CD7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118A0-63E6-4D4A-85FC-1FB295C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Respond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2AA41-1843-4BD5-A43A-479A897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089EF-013C-4D00-A68B-A469337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97BC8-F195-4A9D-8DAD-3567D70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8BF5E-B373-44DC-A4A0-B98385D2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B84B9-4952-4FBE-8E74-4B488F3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4630E-9C4D-4481-8A5C-7AB8DE0C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B79D4-60B0-46F8-B7A1-DBFE9C9A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29B85-C426-4E1C-BF54-8778D14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1DD6B-91AA-4C4D-9A12-BF95E9A8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555A3-A97A-4A19-BDC8-7182954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3E05BF-4E74-4A60-A07F-E368346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A13210-E5F3-495D-9C42-34D20CB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BB94A-ED53-4463-AF55-1037A49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E4DDC-5D65-4A18-AC01-7C7749D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899C46-4C99-4AC2-B069-2481C45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E23262-6239-45C6-84EB-C7AEC650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Alert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CFE972-F4E0-4AC7-A303-258EB04B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2521D-26A1-4D1E-A670-BF605B40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 decision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BC347F-DF6B-4061-BAF1-0023D8B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270F73-0496-4204-A681-9408A51A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99F698-685A-4EFE-A99F-C1561230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E4B500-DB8F-4503-9F55-A1D87E1B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IR support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B32AB2-09DD-4D04-B58A-5941C7B9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BCA3CD-5DDF-446C-9E92-6A39F72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P2+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8D5F5E-B400-43D3-B8CA-6EBA3483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B85844-A393-4EDB-BCD7-E64AB97A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Evidence pack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4051B6-2C78-49E3-AF32-B12C4BB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70482B-B0E7-467D-9EE8-ABB000DE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E76851-023F-45B2-9CA2-C69AF6B9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D28EAC-9B9D-4A29-9D5E-953A9290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Reporting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DD6AFD-C9C6-4724-B70D-225B8175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C36F44-F01F-46B6-A01C-1CE07FF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Monthly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60AF75-4C77-46E7-B362-48D9C2D8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899C6-0DB7-4595-9550-BAE03790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Decision pack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8731DA-F4FB-4FAB-A8D0-B6C3B880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080D90-95EA-4A0C-96D0-07173D0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A46387-E759-41E1-B296-A0A3A37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96479A-0B4F-492E-A272-FDFE2595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D951C4-8569-4E64-9919-C9EEFC48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A service is real only when owner, trigger, evidence, and handoff are named.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D15574-38CC-407F-B90A-F33BC0A0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5FDAB7-23EE-47D0-BCE9-0900FFD1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AEA7E0-1A4B-42E0-ABED-0AD61413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The service catalog defines what the SOC monitors, responds to, reports, and improves.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532A78-17C2-4422-88B9-127E9ED5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193E49-A2E5-482D-A938-0D3F6FF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It also defines what the SOC does not own and where handoff occurs.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840A61-F818-4468-BA63-4D14A667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1FEFC7-9C6F-4899-B52A-D11DE16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Service clarity prevents expectation gaps during incidents.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F44C07-CAD8-4984-9DAC-19DD081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14877A-8E29-477A-B60A-64629C0B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Service owner + SLA + Inputs + Outputs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0CC0C6-8DB0-4257-9CA5-E4D5D7C6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070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11C04A-4400-4EAA-8AAD-1D236AFD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528AD9-5A3F-49CA-BC25-52F9185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844560124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9E7F12-DAAA-445C-9F7B-92453869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Alert intake to triage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0E63A-FEDB-43B4-A3B5-4AF76D18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20AFE-EB0E-457B-A909-547E6B66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E4EE-CFBD-4AAB-BDEF-9B1B7496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63004-4837-4F3B-8A78-D62A8C82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5591E-B4FB-4323-B2B4-49EBA5E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EA12C-01FB-451E-A3F2-6D8B700D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6DF0D-A847-4313-8DB6-76A326C6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B3766-1A3A-46D0-94AA-1A2DF6C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DB290-7FFB-49AC-8A88-3892988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Alert triage ticket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CE82F-E635-4F4F-B162-3648E1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92476-16BC-40BF-80C6-A7AC6C90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12E95-DE3D-4242-AA76-F7621354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09AB3-67BC-496C-8276-887587A1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BD6E1-49C4-4280-AE31-F4B29F9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8C47B-E44A-4384-8F98-0243332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36FD1-5B5A-430B-A4F0-D7E55F3D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05B3E-BF5F-41A5-AB86-CEC15F6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74BD0-8CF5-4626-A0A2-68A22ED0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D408B-439B-47BD-A7DF-DE4571E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33CD3-E153-4E04-AE7A-7A46124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55F61-56BE-4448-BE47-3E8B38F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30BEA-934F-4B6A-B5DF-1D00183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E805C-A59A-4DB1-AB6E-C71B96C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1E19E-2E9D-41F9-8AE2-5E55B81D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FCE46-A8EB-4F64-8D87-E6922F2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F55D5-0C71-4522-8432-65E4793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4AB61-9D37-4E5E-A3DA-D87D3FF1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21B6D-90E5-46BA-B262-B6DB6E1B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5F9642-27BE-4064-990F-7508CCAB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 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F45F90-3CB8-4BBC-8C6C-9AFA22D0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4F56F-EFA9-4D04-9588-9492A3A1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CEA00-8973-49AA-A822-305F44A1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98E6B5-5FD8-4676-9F26-4D8B4F0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Asset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32D9C-DB33-4EAB-A79B-AEDBAA85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DEE94-1914-4B34-AE14-06C540DA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[SYSTEM]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36FC4E-5DF8-411C-A7E4-BB9EAE18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6A16A-A8C9-4C90-9132-5208E2A5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Severity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0F1F36-1ED0-43B6-BB33-94492C58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B1C99-B99C-409F-AC6A-85E378DE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9803C3-AE26-4751-9478-A8F53257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E5A9B5-CF71-42AA-9659-661759AE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676F10-56C8-42EF-B7E8-6AEDE64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C92125-7A50-4C40-807E-A5F97123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[USER]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1B0A9A-56D5-4FB3-A3FD-6431755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384DA2-02BE-4C1D-A121-0F29BF8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Scope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3A33C6-982A-42B4-BD40-E3923DCA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E07C0D-2B45-4496-AFEC-C6923376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EDB0A3-9E26-4EB5-917E-3B73D43B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20468D-C9BF-4D55-AED9-C2FB9A1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Close reason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8EA4A3-BFA8-4472-A0BA-A8F3936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466191-ED9A-4E76-94DA-CE21D1B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Benign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F52209-272B-425F-B328-6B9EAE82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748DAC-69CB-4CF7-AC78-C4DBB6E3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Tuning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9FCA5D-3155-41C9-B5D0-F4DD641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37E1EA-9B84-477B-99C2-185F43BB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F5B5A1-2B41-4594-B458-FD7814CF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C40EE1-40D3-4825-BE29-258E1D1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963191-8E98-4615-B630-F91D238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A queue item becomes useful when it carries enough context to decide.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02AF93-D7A1-4D44-8166-4537D46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CBF718-900B-470D-B7C2-92ADEEE9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48F0B6-F6C2-4074-B154-950C8FC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Every alert needs source, confidence, affected asset, identity, severity, and routing.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D970D5-40BE-4C84-B112-C4FA8B1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2812EE-4698-4090-8CF8-C5D0886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Triage should decide false positive, informational, investigation, or incident escalation.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5B7EBF-6F3A-4DC9-95AC-F98821C5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6B6DAA-2CB9-4316-8F29-37698E7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Closure reason quality is an input to tuning and detection engineering.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6D1ABC-FD23-4126-8817-235F136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2F3B10-0922-4D97-A85B-3A9595C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Asset + Identity + Severity + Closure reason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B3885D-811C-495D-A3D9-8B1EED94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071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5240A3-9C27-4DD3-A7AF-A182EDC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DE41D3-1420-4279-A1D3-8E814AE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428068564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2C79F3-73DD-4435-9C45-6C6518A5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Escalation path and authority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8D35B-AA2D-4CBA-AAD7-05D7D7D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58A6E-2937-4EA2-BCFC-06194D3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03F6F-ACCB-4ED8-B081-8C376443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79B88-F541-43D8-8E89-9265582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737AC-0016-4DF2-8E93-1877A9A1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CD303-395E-465B-B754-47D11CD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7A127-F42F-4398-8FF7-AA117802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310B8-49DA-4A68-AB91-3729D989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2D52C-4149-4B2A-9AF2-B3C5FD6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23332-7C6F-4C3D-8327-841154F4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57637-7B28-47F3-97DB-F1A22A6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A583A-B371-433B-8898-BF27C597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42BD5-C644-4026-93E9-520B5C2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F7B29-DF5C-4C50-83D4-5974C80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3470F-26D1-4A8E-8A40-79ED2F74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8650A-B563-4A95-8031-F16513F7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8D783-DCEE-427E-AC36-328F0DF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BAAB7-3245-46C3-B837-964C5979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98AA7-80A7-4A53-A98C-C418910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434C9-64DE-40E8-B0BD-1A571E75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2D301-CC74-4D01-B5A3-61721CC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2D2E6-F240-4A74-83EB-9EA817F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Escalation is about decision rights, not just notification.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DFC76-66E3-4196-A429-AEA44CBE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BA32E-F763-4013-A327-3D461987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A3CD0-16F2-4853-A635-66ED5BF9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Containment, shutdown, legal notification, and public statement need explicit owners.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8818B-B184-4C89-BF64-6B3DEF21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3C603-6293-4AE9-9E23-8E3C128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Time-bound thresholds prevent incidents from sitting in uncertainty.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C27BD-34B0-4B1B-8522-AD6B7805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C7B5BE-8D3D-4BE2-9822-080EA880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7B6E5-AB3E-459E-9308-8D910C3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072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249E5-7599-4C52-88C2-798A99DC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484F3-297F-48CA-8350-D29B8ACC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2059286915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4E7BB8-F642-4322-936E-F3659AEB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Shift handoff operational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4B450-E75E-4A8C-A582-2468837F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B914D-2644-4B0F-BB1A-786B9486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055FA-8ADB-494C-B3AC-2615164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E8D9C-75B2-4913-8BBF-607F97E8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29EB5-E60E-4396-8216-8D9A00F3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0FB5D-F362-438A-87C0-3D048826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4E48F-F516-43B4-8E32-53E3CC34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AEABB-4407-40D0-B9AE-5748E75E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585F3-999D-486E-8C8B-F46B8B93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Shift handoff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27030-C5AC-41BA-AC9A-773B331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7D423-8AF2-462A-8FF5-12FE925B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53EA0-0ACD-4197-8137-6A5F8355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201E7-ED6B-41A9-92E6-18B49ADE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Active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8F4B8-626E-46C8-BD55-40CFAE41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8C64E-C83B-4BE1-8DF8-EED84CFE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AC7E5-BE97-404C-9094-4141ABD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Pending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67A4-1678-4865-AB6D-2837C43C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E9C91-93E8-47AB-8535-188A45F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3F1D0-13BC-4A5D-8BB7-A2901D1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Fragile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B71E2-8724-4FD5-9055-820AF4D3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6DF3A-9F42-44C9-9DCD-046C0A78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117F8-2B5B-4361-9747-1960CCED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Watch 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57651-B927-4B55-B6A1-2D68E07E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FE55B-BAC4-4219-851F-B1E819C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8EFF1-4E8E-4AEB-BDEE-E3E304C5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DC91C2-3152-4FD0-AA9B-7A6A4FA8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54AAE-173D-4EB3-BCBC-5F6DC97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3AA09-4C7E-4822-851C-26C65A4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99A93-06E6-4544-9DFD-C7CFB4A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Next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95D6E-D9A4-4EDF-9B4E-5B07176C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FF6977-D5CE-4F80-8FFF-2EF100B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C03C3E-6456-4ED3-BC74-CB268CB3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3469A-83E8-4970-9B76-8CAA457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Case-001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80862A-6812-4F6D-ACEF-6E4BD0F8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A9FA4-22CC-4AC2-94E7-B8E01F5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P2 open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512BD6-7612-4857-A1E3-B52C6385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29E7DB-7BD1-464F-AE49-EDD83555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14:00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76E783-2AA5-4D2F-8F95-7525BBC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7C9ADD-8D05-4F12-B9B1-F3F80C48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9F9E83-A932-4D44-A21A-9A99CB6C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C3A65C-C7EA-4128-8B2F-467859C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VIP login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26208-A492-4B12-8E2B-BC0FA741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77DCE0-677A-4A28-9E77-8934E79C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Watch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0B072C-6686-46A9-8560-8F952FA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7B2232-E1E4-46B3-8E67-1636D97B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Hourly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4ABDCF-F193-473E-A52E-79D67065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8DDABA-6F04-4441-8B42-D903A7BA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5D21D6-6FAC-4619-A69A-09C5931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4A7E48-7F30-4D98-BE1B-33DA4EB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Firewall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D4901C-2D52-42BB-91BB-798C374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EFA89C-9D06-4430-AE2B-AF2DFA6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Fragile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97250D-74AC-4963-9E07-CE32E99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6BFF62-A869-4E03-8506-80B44AB4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On change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060285-DA9D-4EDF-B36D-F79AD700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F4D6D9-D6A1-4089-806D-8C20A194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NetOps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A9BA1D-0A8F-4E4B-9088-70B3F37F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8789A0-B0DC-45D0-B162-B1D2F42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20A9B2-E8B5-47A6-90F1-7F3F103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The next shift should continue without rediscovering the same facts.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F6F1B7-9A27-4C03-A69A-F7D4DA83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B95F58-BBD2-433C-864D-D613F76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3F4798-4482-47A4-991C-338D1F0A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Handoff transfers active work, fragile services, unresolved decisions, and monitoring priorities.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A50E93-0838-4FBE-A980-33282B7C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0C7081-8D9B-46F3-B274-7C72CCC2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Use a consistent artifact so each shift can audit what changed.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9B60A5-18E6-4B32-B604-26183900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20D4DC-72AA-42F6-9391-0AB589C5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Escalate gaps when incoming teams cannot continue without rework.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9CC88C-A393-4125-BFCC-76C1D162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C68723-AEC8-49C6-AA26-044CBD7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Case + Owner + Next check + Escalation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8CD4B4-3868-4373-9C29-321DE422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073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BD3CF0-F9E2-4A41-878E-A0E49422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6FE614-A170-4391-B310-C1D9132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938577847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8B0AE-B9DF-4ADE-A78B-EFE62FEF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KPI model: MTTD, MTTR, quality,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C9A61-5EA2-494E-9211-B6452E13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54352-79A5-4057-90C7-BE4E1363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95B6F-FF2B-49A0-A6BB-5D92C01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1D128-04D0-479F-8958-FFC6DF0C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448B-2095-4F90-A264-B8F86D8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46732-BBD0-4078-AE21-7C8157DC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4E657-548A-4FA0-B255-CD7D85D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65E36-99BC-4591-BCF0-897066A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5E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D48C9-AACF-4BE7-8F9E-11835C53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4A3BA-6F6B-4A16-843A-425667BC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Trend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2D032-5027-4875-A635-7AC03586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66" y="2324100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EB7EE-8045-41A0-81DD-853C8FC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AF18F-9895-49A0-85F1-54F8D085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2C09E-5E04-44F6-9B34-973FED5B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9313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B250E-DE28-4F85-8961-6C189B56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Backlog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EB186-1400-48C2-843C-7DE02B43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817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07810-079F-4410-B965-1D25C661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66" y="5929313"/>
            <a:ext cx="3597116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84180-733E-4B58-8ECC-527819A3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960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952C8-A783-42EA-853C-8A24C6E9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8175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2A"/>
                </a:solidFill>
              </a:defRPr>
            </a:pPr>
            <a:r>
              <a:rPr sz="315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0DD03-8342-4DD6-AA8D-C83B4BDD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897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 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D6DDD-09D5-472D-9BD0-77F8F56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2705100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D5C00-62D7-44C5-AD21-DFB5466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855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Time metrics matter, but quality metrics show whether the work is trusted.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ABFF7-1027-4488-AEDB-BEC240B1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3848100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92F02-AD47-4395-8C4C-0F22250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Track true-positive rate, escalation quality, evidence completeness, and backlog health.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E1953-88DA-4F27-A715-A01EE0A1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33" y="4991100"/>
            <a:ext cx="8979218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08898-B433-4744-8459-A6B6B74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Use metrics to decide changes, not to punish analysts.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8BFBEF-E321-4F95-8952-822F012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074 / 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1A0FB-F4F3-496E-9F5A-9D94AC3D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CEBAD-7804-47C3-B261-DA873E4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524071723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38A14-40AA-4F25-BF58-54F8D14C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Detection backlog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303BE-388B-4ACF-BB61-3757AB96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83862-78AF-4322-8618-B2E73D95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5A75B-825F-4FBB-8D44-E9FCD06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804A1-8E33-4001-9374-9EB21A9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CBE03-C210-4DE2-90A3-FF89282C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C813D-C658-409D-AC11-D2FDBF62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72204-2AA4-436D-B49F-0DD76CDF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06B09-84FE-4AA2-8BA6-DA7C0D8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6C992-DE96-4312-8B8A-FD7934F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Detection backlog kanban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28A25-9DCE-40DD-BC63-9DE24D9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4DEA8-62BB-4B12-8A4D-EA07E39C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34EFC-B920-4FCC-A27C-0211D6F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E09CB-7718-4FC0-A42F-66A0BD2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D1018-B071-4A85-B776-9ABB05C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EDAD9-D09E-488A-BC0E-398C385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95651-E571-44AD-8A5B-DDEB506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Data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C5157-AB0C-455D-BBAF-6FB2ABC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9F264-A239-4615-ABB3-E63A5492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CFDC9-B7BA-45D7-ACA1-9483B4E0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E96CE-A637-4F1C-AF00-9520DD9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1412E-15F4-477E-AEE0-0C54F3C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009B3-EF30-4565-88D5-55E944E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2A921-E253-43F9-8586-390E6FD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4FA0B-FE5C-4713-A669-4A1E190C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552B8E-3BFB-43D9-B1A7-6DC7BF6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7EF8E-CBF9-4F3A-AF3E-BDED7CE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A27B88-3D54-4985-9ECA-04EC2B90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515DF-7AA0-4E8A-AB02-FF98AC31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2473CA-E0F4-494B-90FD-6DD01AF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7643A-AB0A-46B4-81B3-42A102D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024C4A-5318-4E6A-9ED1-81755CA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326433-2144-438E-85C0-2C83E8FE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292A55-363B-4301-9D19-CDC8E818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FE0320-4FD2-4E6F-8F22-684E361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C6A8BC-1DAD-415D-9E50-6A041B71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3276A2-5A98-43CE-98A4-AC19386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4B7CB6-8754-4EAA-B35C-8E0D6822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Atomic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76BBF-83CE-495D-A34B-7BB1BE4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58839D-388C-41D0-AE53-0EECA35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6782B-2D0E-4942-AFF2-DD9DD6E6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D17B97-4B90-4CF8-94B8-48B23A03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Exfil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1BBEFA-E20E-4295-A128-5A6F3B9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9D37D0-A5A6-4E58-8131-DB0D24E1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Proxy/DLP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97AEE3-3785-4860-A02B-A8C46D6C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52FCE3-52C1-4E34-8D51-A2A271D1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Historical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046EA9-7E4E-4015-91D1-CED4B452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FD465E-5332-49D0-9526-C9F8C12A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318214-BFEB-488D-BE06-3CE8B326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782AB6-D233-482A-9823-80C81D8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Ransomware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3E3FAF-2A40-4236-A666-A2EA13A7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45A5FB-DE7C-4E87-B9E0-5AECFC3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EDR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FA05F7-3CFD-483E-9EB9-EE5291F1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5EA20B-862F-4537-A65F-28AED97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Purple team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9C3342-AB39-4B7E-BD27-2818677E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7BD866-4215-4BAD-8CA0-1477F45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DA0E6E-1161-4ACC-A436-177D35DC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2736FB-8E2A-4B17-8EA9-A2779575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FEA6D5-8402-4D0B-8CD9-37B7C41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Backlog quality is better than rule count.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1DE556-5F15-41D7-9FC8-5C049FE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F69E75-D60A-4DA9-A89E-024D6B5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0C852B-7D5B-44A8-87E0-5B397B8B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Backlog items need threat rationale, telemetry dependency, owner, priority, and validation plan.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0EB816-A5C3-4D52-A7F8-FF11111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2FCCC7-FA9B-4F22-B6A5-7F313CC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Prioritize by business risk, threat likelihood, exploitability, and detection gap.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F76BE2-9082-4332-9BA5-0747683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9F6198-A061-49B7-B1F8-0BAD0E9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Retire content that cannot be maintained or no longer maps to a real risk.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46907F-4646-4978-AABD-F98C40F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CBC3E2-3E43-4BFE-830C-B557917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Threat + Telemetry + Owner + Validation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C8DD0A-4CEE-41C9-B87A-AC9D19D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075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6A9D70-8016-4A44-8B78-17126B91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72E061-2C5F-47BF-97B9-1739164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505037029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0EF29-A4E0-4999-9A8C-C941C19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Telemetry onboarding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46216-DC4C-4E58-A63E-E949781C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1B61F-DC20-474E-84EE-E0B61656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155FF-0D68-44CB-AECE-2D40ADED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55ED7-0AC7-4C8A-933F-4EF2F369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6209C-A31E-42BC-AD66-6C2DB8D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56793-1AD6-4A9D-BB01-73A54CB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62127-2CE2-4E46-83C5-E44C449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E319A-309E-4B4C-A203-FAA095DA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89F9C-FAAA-4643-8736-27BA414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14227-3632-4B9C-A5EC-A5469F0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10292-D896-4A48-985D-618930D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718EB-2A06-49BA-BB6C-F5A9106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9CEE3-B5C4-4250-9686-3D1EB34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2E33D-4B8C-4B1B-8D1D-7297598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092FE-9D2E-4899-BE73-8F84FAAB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38788-BB4E-47FF-8E0E-E39558C5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D7AC0-174F-4197-A97B-7C2D079D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6B444-7F05-49BA-AD0B-9D06D1D0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4D214-85A4-4667-9F45-F2F67B6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ABC68-0271-4C8E-9A3C-11CE8DE8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A61DF-08A5-4530-A431-3333F59C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B7628-4BF9-4B59-BBD5-FBDFC36F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Onboarding is request, owner approval, parsing, validation, use case mapping, and health monitoring.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885EC-5127-48B3-BBE5-93FDEF6E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B6DA6-14ED-4A8A-9488-6A62846D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C46E9-67D2-45A5-B411-A5C48673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A source is not live until queries, detections, retention, and data quality are verified.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B72842-1512-42A2-97F2-04D0E0F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7A568-4EE7-43E4-A0CC-6B4BACCE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Assign owners for source health and schema changes.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6FDFE-280A-4D9C-A0F9-A205291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514BA-8323-4A62-A191-95D64E5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78D80-F251-4872-8A7C-9638457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076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94EC5-D0FF-4889-8B17-9898A107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22339D-B926-4840-8B9E-F59BF83B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251911574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56B0A4-2D36-4731-921B-1E6DD8A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Alert tuning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EE426-4C1B-4025-BAA0-FC2EBE5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34823-D374-44CA-BFA5-52C7B292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A43D6-F0D0-40E4-ABF6-920EE408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54E87-768F-491C-A5CF-32B1D9FD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4ED3-F764-4225-AB89-722B6D8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552C4-6C05-4674-8012-6BCA77D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23FA3-710B-4FB2-8AD8-9425D629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6F9F1-1288-45E3-B505-5E25D303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0ECF7-713B-4D25-BB2E-789280B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07B59-C355-4CE2-B647-B15CA47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5E5BF-68B0-4089-BD98-56124FD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5E607-0E35-40B2-9DE1-C969B20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35AC6-BD7D-417B-99F8-167114D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1800C-AA3D-47DA-B357-184D9E6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5F996-C7B6-4029-A9C1-C997CED4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40757-F208-420C-B088-7FB4440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5E15D-C957-4F1A-BCBA-DCCEF950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04E27-94F0-4E3B-A2E5-EEA5556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1501B-ECF6-4880-8D06-D3E694BD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F61BE-DA1A-4A73-98CC-4D80549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078E8-ABCA-438A-8B35-B6389573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48906-8ACE-4CF8-96B8-2CAFBD45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Tuning starts from observed false positives and missed true positives.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E7D5D-3B2C-4140-B3E8-AF8F52BB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70793-363A-4D01-8023-389088E5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94BCA-617B-4283-A5C7-B8A96B2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Record before/after logic, expected impact, test cases, and rollback 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8E4DC9-C0D3-4237-A165-6B09E04E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0DEC3-8E86-4BC7-9973-F2681923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Measure quality after deployment instead of assuming the change worked.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1FEE4-1CDF-4E4B-BC56-9C30CE0F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D1CF8-31E8-46DB-97F2-149FD320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30404-53F2-44C3-B2A0-9641996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077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E2589F-22DE-429C-94E4-C1F6F13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C75D0-1460-47D0-8C1F-77A31CD3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305084813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9AC012-16D1-4995-9F65-EDAF542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Governance cadence: daily, weekly, monthly, quarterly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DEA06-A33F-45CF-9D25-8F1EB0D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EE986-B3E7-486F-B53C-12A7B1F6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2C323-2594-4D5A-B3BB-E3BFA20F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75A47-4092-4E04-B470-536FC033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3033B-9071-4085-B3EF-78B84F5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2DAD5-FE9E-486A-923C-53D5363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AB53E-0887-4D21-8673-F87CF876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BFFD3-E3D5-498E-B859-91F80571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A106A-CF58-4C5F-A8B4-245AFA5C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A764A-5F17-4FD7-BFFA-4585905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Daily manages active operations and incidents.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22EE6-C601-4996-93E3-E00864DA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000F3-CAD0-401B-94EA-C5984DD2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62E70-5465-4D2E-B34C-1357A3CB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Weekly reviews detection, telemetry, and remediation movement.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FFFA4-2095-4D0B-94C0-226BADAD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ED077-1062-4F27-B13E-A6345731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15BF4-918C-430B-A339-1D80AB23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52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Monthly and quarterly governance turn operational evidence into funding and risk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D8420-C06A-41E6-9EA6-9BE6F22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AFB5A-ED89-490D-BD40-6960543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678FD-55E4-42D3-AD71-70ACEA8D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D22A2-D781-4DEF-8DB2-DFEA927A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1765C-F211-4B2F-A0E5-21218F3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2763C-18D4-406A-BDF7-102AA909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E0CB0-3098-49AF-907F-AD189B00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96077-C6D2-4D1A-A023-003065B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BE4B9-2ECE-40DA-9AE8-26D1D05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078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59A2E-210F-46A8-9AF4-6868EA3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4DEC0-CB89-4291-A333-376E9DB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525436047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1F7EED-0396-42CE-A08E-097BCF6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Control ownership and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5483-D273-49F9-A2B4-C806E30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074E2-B3D1-4824-9180-7BFD0BCB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D0BBB-49EC-442E-8F00-8D75EBB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B47B-EB07-4243-9F0C-1A860AD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EE4D0-E9A1-4C36-B1F3-5B2DF744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B2B01-CC0B-4A67-BBC8-5FCBC32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C3383-D406-48BC-A59B-0ED9974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E7BD0-A819-4F53-9580-844DFFA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0AFC4-9530-4A85-9049-7B19F84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7C7A3-63AC-4148-ABA3-A4906933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control needs business owner, technical owner, evidence owner, and escalation owner.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1F9BE-1FF0-4095-8C5B-AC532C9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54EC8-75D0-4D74-BDA0-BC64ED85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CFC20-8CE2-4D9E-8E36-58F5B0DD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SOC can observe control failure but may not own the fix.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9A8A7-1C97-4F63-9CBE-B738ED9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36C03-2005-430B-925F-50DF6C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81937-B0FE-4F4C-A9FE-2412DF3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Accountability is strongest when evidence and decision records point to named owners.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DAABB-CF96-4823-B5AF-91FC834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AE833-F2F7-4FFD-B04D-2BA5C47D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B803A-B164-40C0-BACF-970A0EE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35F83-8FB0-4719-83C7-A7B4E28A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BA9F2-1B85-4C2A-B20A-0D39608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9DE3B-F957-404C-A63D-2C1995A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F9B41-29E7-44AB-B90F-1DFE490F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22959-DF7F-430F-8073-A15C55F3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C3FFA-4F0F-4B59-863D-56D3A896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20167-2C07-44D2-AEA4-9B5E1B0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A6F81-F251-4FAD-83CA-ADAD78D1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749673929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DF1CD1-8386-4B30-BA5F-036DAE58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governance operating calendar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E4292-245D-45BF-B17F-9E3BF4B2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92919-2909-4C5B-812C-E8611CD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F5577-3942-4FDD-9591-335B601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1D11F-BAFD-4260-8B6A-1EFFE586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2355F-0882-4860-87F1-AF461B4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C2521-B5EA-449A-A9B1-D32EBDF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937EB-4A39-4FF8-9725-7C508838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D703C-13D4-4B06-897C-E344586B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69538-2C55-47C8-8A5D-F6A2F3BA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16F48-0981-442B-9BA2-4439D15F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60766-0F6D-42FB-AC5B-FF56BC8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Meeting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3316B-F482-4820-B275-165BB48D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0AED8-EE6E-459D-88E0-BE09A282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Core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7B345-6D59-4D5E-8574-579DDF2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6F864-E22E-4B38-9EA6-1221657B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06AE8-4A8E-49D4-957B-DE73885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D618E-CBBF-4C11-A922-421AC15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Daily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333F9-4413-4DC2-A47E-2DB84300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73002-1452-46CD-B3A7-686461F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Shift/incident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0DFE8-D7FF-45AA-9D06-112D308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C0BC5-1AA4-477F-9E36-45A53CD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Queue and decision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FCB53-C6AE-41D2-9BF3-1E20C07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E936C-895A-447A-8CC6-DC2BD281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D5759-A3A6-4031-8379-C8490F4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C5043-1806-4B52-BCE9-55E59189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Weekly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37796-3E39-4B7C-AA7C-96974606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FCA5A-5F94-47C0-B95C-F2F13DF8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Detection/telemetry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F47A7-4359-4CDA-816E-D3A33BA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06AA48-645C-4442-A2C7-F891AFBF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Backlog movement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82D70-34F2-405B-BA3D-6F051F73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2E66B-EFE4-4483-88BF-0296A0E5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Engineers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EDFCA-ED7C-4ED2-B6AB-9E456395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F3D75-F82C-42C3-9DEA-42889F0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Monthly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844BBE-8137-446B-8B16-E76E460D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364738-53E9-4AA9-B2CF-37C6BB03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Governance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F221B3-55F3-4CB8-8A17-0AE2CB3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C072DF-67B4-4E94-BB5A-8DD47BD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Risks and actions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EE77B0-4DFC-44E7-853E-3644FDCC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68CA2-F063-4451-88B3-F774017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428DB2-690A-449E-830A-2A558745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86FA57-28B4-4528-AC29-20FAE859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Quarterly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F2BF1D-2AA6-41F2-B0E3-8726B465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DF47A5-B02A-463D-B28C-8F795561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Executive/board pack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6D7AD4-0C54-4D6A-AE8C-EDB80FB2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918174-29BF-4A06-A592-D7BC41A1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Funding/risk decisions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732C1-BA4B-497C-BBE6-07510149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378D0C-1D3B-4740-91DC-DAA844B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3BE0F4-1A83-4623-92B2-643D99A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080 / 142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3BBE4C-0202-4341-89CF-FD03F74B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3DEAE7-23D2-4501-98C4-84D8888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62865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103206360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A50BD4-B59D-4A5F-B897-73F8DFD8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service ownership / RACI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80EAC-0E9C-496E-AC1C-48953D4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E6530-203A-4BFD-8389-D847FB74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FD60D-CAF7-4D8F-9C87-0A9C1227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83D85-36F6-4160-9C17-261552FF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9FAE0-3AEE-4D97-9D3F-5F00D547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1663A-D31D-4761-88CC-42B0794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EB062-1A23-464E-845C-BBBC026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87B76-1131-4CF7-92F5-099FC48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63B17-74AB-43A7-ADF1-667893FC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C9AA-55E1-4BD4-B242-F633B2F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F0C89-5D7A-42D8-816E-F395BA0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7A2C8-AB10-4DCE-98CE-5E11CA7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4B3F6-8846-49B3-9DF6-FB7FF5A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FCECA-844D-4335-8A19-F5D52382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EDD54-FD44-4BBD-927F-3D8AB6E3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DF95F-EC95-4348-AFFF-CFEBEB63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0012A-0EF4-436F-988B-43D7347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CISO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228A7-8A25-48F5-9695-88DDED4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57A10-381C-42CF-8896-07D40611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2C095-0000-4E30-9BCC-3DDDBCD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83943-4810-44F9-ACEF-90795382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EC7EB-3211-4312-87B8-BEE1739F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FC218-11C4-4963-946F-95430D6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40BD3-50E8-4E93-997C-1425DAA7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1D30C-9226-446B-831F-B6F63BB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5A5DD-6DE0-4B2D-9E5D-26791F40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A814F-C6F4-4A10-855C-A38566E9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41F3B-8375-450A-89AC-D57120B1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45ACA-C791-45CA-8E66-41C9CFCD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 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DDF202-0DA3-46C2-9C37-A92C00DC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83408-9DFF-41C0-B56A-41FC7490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D463D-3776-4F87-967C-74F75E3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9D4C4-789A-433F-90B9-2026ACD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962BA5-86E1-4096-82F6-47590483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8A6CA7-3174-4636-9B22-A331631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00CF4-06B5-4E9F-841A-F5F662E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29471A-5DD9-48BA-9B47-52CCF8C4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B60C75-5CB9-46C6-97D7-EF99F974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25536F-4B44-44A7-AE80-7951171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Containment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07978D-11A8-4977-88C5-66BB19C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60E1F1-800F-4693-A349-214E8F23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38CD4C-82D6-4DE5-AC48-A4968432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798856-5797-4BA8-9F9C-C71F425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530D75-CF83-4CB1-A58B-1CACAABC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1656F1-0B80-4E7B-AF35-6CB7C4E6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A/R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90E29F-6F3F-4496-B576-FBB0340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78AB7D-BCB3-4BE6-BE56-D9B11D3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7A97DE-FA18-4684-87FE-ED32A6EC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1E74D1-B413-477E-81DE-EE1B3804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External comms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0C54A3-12CD-427E-8F91-49AE4D7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981840-5460-4738-B883-B36452C1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9CBF0A-C997-473C-B884-0D2BC070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636BEF-C421-46A7-86C9-FC47D15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837C27-8415-45BD-A7CB-BA07EEF9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9B6529-2C86-486E-B9F1-8A2773D7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C86FF1-63AD-4270-A2E0-68B0D3B1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59B12D-7E3B-46E2-894D-EF54A13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678758-2F92-4825-80BA-2E845C6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081 / 142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A0FE9E-EAD8-41C0-92B9-4312B34E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D927AF-3D54-49D7-A982-67115729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62865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938042419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70ABA-92C4-4FF3-913E-82812870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Workshop: map your operating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624F0-45C0-47EC-8A8E-0281A31D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C6C3D-E916-4E3A-BF9D-06D7FBEF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A3FE8-0813-4CA5-8BEC-A0D0CC0D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1705E-BDEB-48EB-87ED-F845B17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C99AA-7931-4EA1-BA49-77FC560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D7AF2-F98C-4E2C-8F43-F1D0B60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876A8-212F-4393-A0D5-07CFA1B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 queue item becomes an investigation with multiple owners and open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D65CB-0253-4042-A47E-582321A1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C048E-B972-462B-9014-1879EF1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8218"/>
                </a:solidFill>
              </a:defRPr>
            </a:pPr>
            <a:r>
              <a:rPr sz="12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F827F-9D06-437A-83FA-047B9B4F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F7DB3-D42B-49D2-8185-78D6B4B8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7EDD1-5765-40C8-8D48-64E2665F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FA539-B16F-4A35-A174-C3527A18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79B05-D313-4B58-B386-98A1C12C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B9830-4ABB-4018-BE29-4D512F11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6A427-E9D3-48F4-ABA4-2FCA7A19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71329-B2CC-40AE-BCD0-9A97CA7E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2000B-2C9D-4252-8C5C-91F90154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89598-9785-4B5B-88E4-1B72B17F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39EFF-D20C-43AA-A50F-CA6257F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FCE74-8CC1-484C-909A-CF02EC4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0945E-07F9-41A6-A9B2-6B9DEFE5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5E75F-7286-4CC7-8D9D-0C2BADD1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548E6-ABC9-4F69-ACE5-76E0F2E1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AD8C4-90B0-4EEC-8F32-898CB2A0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6E77D0-174A-4C72-BC74-5E9761A5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0355B-C02B-4158-96A6-6889AFEF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B44DDD-269B-41B8-ADB0-17927E3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2DF1C6-4FC7-4236-BD30-42BA5C13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94F38-D977-4D5A-A113-BA9D5E5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6AACCC-4806-4F5F-92DA-F647A44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3647B9-6BDD-4E68-A5A8-31202EEB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082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2D402-5EBC-4610-8D21-D1873EC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3F0E76-5EA4-4F86-A040-F2B5CA4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2082170779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36E91-7356-4280-941A-80E0C944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3C74A-5304-4C69-A0CE-BE499FB6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7C66"/>
                </a:solidFill>
              </a:defRPr>
            </a:pPr>
            <a:r>
              <a:rPr sz="2550" b="1">
                <a:solidFill>
                  <a:srgbClr val="0D7C66"/>
                </a:solidFill>
              </a:rPr>
              <a:t>083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B5036-D938-4531-9884-13FE076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4EA7A-0913-4476-A9EC-6DCE4062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136B4-D21C-4EBD-925C-F694400E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Manage coverage as a lifecycle, not a rule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501CC-0C56-424F-AE8F-30B7F00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0491-0161-4AD0-888E-119491B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A98A4-EA36-453E-86E1-6028DD80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AFCC80-B739-4C01-9AFC-78C91050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Detection engineering 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B696C-FB5D-4BA3-BB78-54B489A6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F00A-E9C0-4713-A9A2-18F823F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81056-3857-4528-A702-25CF586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32E48-FC9C-4C4E-A65D-E001F214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FFA0-1540-4BCB-A8F9-EA712AC7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0FBFC-A837-4EDB-83F7-1011F45D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84702-63CE-49B4-B048-93837EB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C8F0A-81EE-4164-AE71-B514A769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Detection engineering converts risk hypotheses into tested, maintainable monitoring content.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FC6FE-88DF-4BB3-9EF2-6978F072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933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6DB7E-08A6-4B25-90F6-4959746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C8923-EA8D-4293-AE78-322745BC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ties telemetry, rule logic, validation, tuning, and playbooks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2C359-3621-4483-B9D6-3CD402C2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524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6B7D1-D50F-4464-9FCB-B1458510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CCF4E-4DB8-4F12-9E29-1EB30AB2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Its output is reliable coverage, not just more rules.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66E4C-067E-4976-A977-BDC56BC1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21005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C2BC0-6635-4B4B-89DA-DC80F69A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196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24AEF-B36A-43A4-AD2D-6617DA2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3A8A5-B2F6-4F4A-919C-8D1F3F4E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197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083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A79B8-42C9-4270-9329-0647EB1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710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0FEAA-E2E5-4C59-B5A0-3EA3E491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61975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2133443040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45D5C-A0A4-43B5-AB67-1F9BAC81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Use case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06091-9C0E-4F5F-AB93-CF98B495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90889-FE97-4315-B9E3-D74DAFB9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C41DA-4D0B-44A5-8494-572250D6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2E48B-E2D6-40D4-8025-F29F9981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6C81B-A0AF-4BF6-AD05-CD4EDC49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19ACE-5ECA-4973-9AA1-B88F4E5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A5016-BAF3-403F-BD32-1E6F1D54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22D89-0EF1-467B-8ADE-2E00728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0C1F7-1C24-4960-8F8D-2D4EE7C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01EAF-792A-4377-8E89-649F085D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7F418-AE95-44D7-8E41-F4AF9747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330FB-C6C8-424B-A16E-C627E77E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7941F-2A75-4C9E-B051-35F72E8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50D5C-62DE-4F1E-B079-C396D15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8FAA0-C7D4-4FDB-A57D-96D561B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795EC-5104-49F7-A924-889371C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FDFCC-88C5-41B8-9A56-20DBFA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E1A2D-C6DD-4470-9DA2-9585A8E5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C0DD7-189B-43A9-871F-D38B5282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015AC-887A-48FE-B790-0879E379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4B31E-B1CD-4F1A-97B0-9D0A7CA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49E9A-31ED-4C3B-AD11-2E56B846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Start with threat or business risk, then define data, logic, test, owner, and response.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D49CC-8BED-4E7C-A49C-DB76C05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E2875-3853-4759-B7E5-6F9B0C1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DE162-D9FF-4DA8-B90A-1A786B77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Promote only after validation with representative events and false-positive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40398-AAA8-4DCA-9B8E-2EA6326D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D4F7B-0C78-487F-B78C-0E16B136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Review regularly for telemetry drift, attacker changes, and business changes.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8BC46-B57C-4CD7-8015-1771039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46820-E12A-468A-9C48-F0F9A47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B044A-2C73-4BBC-B8FD-E7E90F31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084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B9777-F10B-4DB8-A540-991A6DC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2A20B8-A64B-4EB4-B4F4-5AB84AAF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657711043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97FD8-33AE-49F2-8B81-5FFB6A98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Mapping to ATT&amp;CK and business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11D67-FFCF-4D19-BFA0-D2F993F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2B23-EEE0-4399-9CEA-05C7520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9BC92-F105-4BBD-A3BC-384664C2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3FB2-D56D-4CE7-8D8F-6C5112E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2CFB1-696B-4338-B648-F8EDEB7B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B4556-82DB-4B5D-8E13-A3E47F82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82474-A30B-414C-B32E-29B0A9C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BC2C4-2C4F-444A-BE96-EF9E40EC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F45B7-9A7D-4C83-A6A8-9C51ACB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3B6A9-816A-4C70-8247-760C68C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ATT&amp;CK gives technique language; business risk gives prioritization.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3B5DD-2A3F-41B7-8673-F11AEC5C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16802-0E3D-4813-BA79-5728473C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19C62-7E2B-4E2D-A8E5-C529D3A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detection should state which behavior it observes and why the organization cares.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5CC36-53B7-4B43-A6C5-4C3348CF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323A9-1D0A-47EE-AE8B-75E591F4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4AFC7-C5F1-47F9-B115-FD4F190E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Coverage heatmaps are useful only when telemetry and response quality are also known.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32A81-6ED9-47AB-A42E-FE49FBB3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F0FDD-0B7E-4741-9EC8-DEAE3CAB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79E65-18A1-450A-AAE4-8047B9E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A18A8-1B98-4A6E-9F7B-162E72C2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3557A-812C-4D90-A1BB-3C2D51A0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BDF51-C096-483D-B546-AD5E5B48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2C451-966A-4836-B6CC-95DB8863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80566-91B4-4CF8-8F1A-63A9A904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603E6-248F-4E0B-9B30-D6D091EC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085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159EED-598E-4C57-9DF9-BE4643C5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62EA7-978C-43F0-B706-BC297FC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24198964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E6D61C-7709-4F5E-B4A4-DFDEE9AE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Telemetry dependency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B7D13-054D-416B-A4BD-9CCEB41F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728E1-492F-4871-AC56-0019C07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FD055-FDE8-496E-AB02-AC91C88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97ACB-EBB5-46E8-8BE7-F74F010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BF3BA-B0E0-444D-AC18-FAB85168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B45C4-3446-4EB3-8FC3-A8B522A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FA59A-7EF3-43AC-BFD6-3DAE3A90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DF084-B5B7-4CAC-AC05-21640ED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25600-6AD8-4461-8C1E-38BF0D8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E4F7B-A355-4C07-B254-CCA8CEC7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C3763-FFEA-4B09-AC28-71D7B7A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6F0B4-58B0-4880-A0B2-DDE260E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5B2CB-AE8C-4F18-9062-8136A83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3EF12-C946-40BB-B17C-D42E1F17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9DCE2-A33D-415C-8208-CF268710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B49A9-8D31-418F-AFCB-94E6DF7F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F4654-EA51-4CD6-BAF1-308B943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6E022-9DBD-4B98-9C42-B464B4A7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7D4D7-FBC2-4447-9AB8-A654725C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D5555-C0F3-44BD-8BDE-7D28BD5F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FD3B6-35A0-48C6-BE2B-3781038D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5BF57-B1AE-48B9-82FC-FEE06B2E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A detection is only as strong as the source, parser, retention, and context behind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DE640-FBFF-49CB-BD8B-15F7B3C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FFAC2-4FAF-4D8A-8F0A-38CE9D28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E6A45D-AC08-4B34-ADB9-1E737041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Document required fields and expected event volume before production.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806D4-FFAB-49DE-BC26-EB989B8D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84861-B02B-47F4-A23E-557FCEB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Missing telemetry should create an engineering backlog item, not silent failure.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1A2E6-DC09-4A55-92B2-F56F9C5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5123C-95F4-489C-BCA5-6977C9F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22FADF-8B6E-4724-9F6E-06FCB58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086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1E6FB-519E-414F-99B6-D8BC554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587050-1CE5-4C38-AA76-BF5FB444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787625245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598BD1-58B4-4B56-90CE-CD5F049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Sigma and YARA in the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798E4-F90C-45E1-BB2F-A51D35D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415AE-881C-42E8-B1EC-A8689332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F58A8-E740-4F58-9F18-6FE7A656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97A07-62F6-49A0-ABD2-553B077E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25E4F-BC99-438E-95EA-460C472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21E0B-9BE1-4273-B0E7-E1599F4E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56598-2DA0-4366-9F15-A05ACD55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DEEE8-A243-4414-A7D5-B469C76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9138F-8FEF-4AEC-83EC-E35FB50A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Detection rule snippet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E7CC6-FFB8-450C-A188-91F38AC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57B65-2173-4F46-8665-82B764F0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B2015-17B3-4D5A-8835-CA490E8D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AE27F-3341-4036-A14A-55240AA6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Sigma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3524F-1753-4FC2-94E8-634938C2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2628D-BEFD-4178-BB41-97C7C852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C283-7A87-4486-96DF-F8039969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YARA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25E31-64FC-4581-96C3-D6F32C00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D112C-672F-4D68-BCDE-594875C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219C4-D921-4D02-8E0B-89415470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Test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D6C85-ACB1-4D2D-85A9-BFA8DBED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C77E7-58B3-44B8-8E71-845B846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7A4AA-C642-4B7C-BD23-BFF913D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Playbook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09A51-60A1-478F-AEE5-41005B9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4A7E5-F305-4C5C-9687-A8DF46F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CBA88-12AB-4C78-ACA0-454844A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C7736-5240-488E-8083-6558A1C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CCC8D-9F2D-47D7-B62C-D2B1B384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5FF08-6381-4B21-8980-E009E8E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87812-0EBE-403A-AA86-ADC7E68E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3D8AD-9F21-474A-A939-44095D1F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A3FFAF-92A1-4055-99AC-2840BDE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Playbook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0D377-B86C-4BA0-96A3-0D888F6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958EEA-E776-4DE4-AE12-5D9F2EA5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Sigma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14C83-0E5D-49DC-A067-498C9F05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6CBC31-9149-4121-A30D-3B944737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failed logins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B3C752-8B08-4923-9A69-EE0C0B2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0377C-2236-4974-AC96-33610D6A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sample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1CFE0E-3226-4334-84B7-8266294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5E77C2-FF60-4B76-B106-CD3164C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PB-04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7E7168-5BD2-4D42-96B1-EF701B42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914715-CA9A-4309-9C7D-2F882AA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YARA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48B25D-E4D7-4B5E-B348-FE51822A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1C6F6D-6D83-4637-BB0E-274E6273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suspicious 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9199A3-5D3E-472B-BF52-C47600F8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2DA41E-8B8B-4DE1-A38D-37C0333A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known sample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0A4266-1B83-400E-BAD7-2F21B5BF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98BBC-DA87-4333-8A8F-50D8C487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PB-03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0180EF-6017-4388-A4C5-4F145BA2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21FB34-CADA-4513-B763-616D7236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DB2B2B-7B88-4DF5-ABAA-745B104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891CCD-AA18-498F-BC82-99838813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258572-99F2-40D6-A0B5-6A630C58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C7E609-AB3B-4FBF-9630-82FB632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Peer 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0949BE-FCD4-44AB-A2E7-EB78C05D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35ECB8-A939-4982-9D4C-B0EA32D4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25E384-3C2C-43EC-8C61-D0B5096D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23B4C4-F074-4ECB-B4EB-52F729A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3E38A9-023D-4C2A-9FDD-15162437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Portable rules still need local validation and response mapping.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D9E498-A5A1-4417-BC58-596FB769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34DEDF-1FEB-46F3-AD5C-27EC9E56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608B97-5BCC-4196-B8D4-9454A32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Sigma expresses log detections in a portable way; YARA expresses file or malware signatures.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7E5B49-C494-4D7C-BA24-2CC707B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E2D870-4F07-4E38-BC96-C2B984B1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Both need local validation before production use.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64746A-B15C-4147-A31C-CB2C8350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77CFE6-6727-47A2-822B-80ADC681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Rules should link to playbooks, severity, owner, and test cases.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665DEB-7C66-4DD5-8C30-FC8E60D5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1B64B4-8789-49B8-B945-0C254CF7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Technique + Fields + False positives + Owner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DC8CC8-5118-4474-99C7-F0E5CAF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087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BAD809-D7BC-4DA1-A165-47B40020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054FF8-EB40-425D-88F7-35C6D094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489367009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653F7F-2FE8-4F7D-AF13-DEE687F8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Detection content quality attributes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6795A-B9B7-4B43-AB64-EA7CD762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F39F-846B-4012-9DAD-58C8948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40AA5-E160-4FA4-AF31-585C4FCC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88E18-115A-4913-ADB7-A0C24BB6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09E5D-058D-4728-B4E0-F66F383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0892A-7D38-4E26-ABC0-E09949D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64242-F242-4E83-A1A4-D5FD3F4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CFCC9-90CD-4B5E-962D-647B45C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CAA68-72B9-4386-886E-52D74B60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E83B5-2407-4CF8-A658-7F380A04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Good content is specific, explainable, testable, maintainable, and mapped to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EBBF0-38FA-49F0-8398-E44E274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2773C-A6DD-400C-92CD-13408226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F67BC-0681-49EB-8D57-06B66EE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includes tuning guidance, evidence fields, and known false positives.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ACA24-0F61-40E8-9DA3-7DC49E08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B9584-65CE-4BD5-9CD0-0813228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E5350-EEF1-47B3-B5A3-4785AC55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avoids opaque logic that analysts cannot defend during incidents.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0EC70-0BE3-491B-AFAD-9E74BE47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98AA1-8521-41B9-AC56-C83B6469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84972-E20B-4675-A5D3-DA9FD7B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6A493-8705-4A2E-AC31-E1D4EE89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65AC4-63E4-43F5-9F4E-1E944D8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C39EC-90C9-4F05-B708-3C61632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72531-EB39-4D9B-ACAC-B92A1F55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6E933-F68B-4DA4-B9FC-577FA48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2EB90-8D84-4E5A-85A0-54C97AF1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088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1F1C2-E87C-4DC2-8256-BA78C8D1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34197-3F9E-4AE1-BA91-6B78EEB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580975954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3B27B9-FFD4-4A4D-8438-F8AE82E9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False positive reduction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8E94B-F22D-41FF-9014-627FAC3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63055-803F-4BE0-98C1-7E1755B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0CF50-D0F8-4A3E-AAC2-10AAF15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DB0CA-CA20-4232-8BD5-2E880494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A4E59-D68A-45DB-B4DA-61C1A64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96F84-ED3F-4E0C-AF85-7068299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3DF9A-020B-419C-89A2-5A30242F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BF35C-E699-40DB-BDCE-230947CF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44F84-8973-4E6E-8865-A3420719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CD5BB-9171-4F43-B46F-BD58529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Classify why the alert fired and why it was not actionable.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075C0-D9CF-4415-B443-3651906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A4863-DFD6-4A15-B447-972DE1E8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5D4A8-F857-4484-A67F-4379E19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Tune with allowlists, thresholds, context, suppression, or logic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5937C-1B0E-41DF-B7CA-AA70A181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28572-25FE-4D93-A2A4-7E241783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F6479-0CED-4ABB-A45B-BCEABD6D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Re-test against true-positive scenarios before closing the tuning item.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444EB-CA63-49C0-8514-4548118D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2DAC7-86D4-4D08-8924-AB4B4362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04186-8D72-4E5B-9ED7-8EADC2A9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DC4BD-52B5-4102-80F9-83F1321E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C8EE9-EBA4-49C7-92EA-8936234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441A9-041B-4B19-8BA9-33675952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46BD2-5A9A-485F-807F-7936CB0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49C5F-8A99-48C9-BA92-780E913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CB4D0-E894-41C8-B1FB-0777AF93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D2A66-8DAF-4681-A784-26BF174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9F9DF-3632-4F9C-80E3-3030ACBE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615832270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FA66A3-4454-4469-93B6-05305E6C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Coverage matrix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BB44D-D27C-4AB0-B721-181EC18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0E9B0-C0F8-4B43-8C54-6C075D20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35F98-4E1E-4C1D-829B-E9D401F7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CED88-2F98-45E3-AD95-BEBCD0B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DBC74-A707-40DC-902D-09B7949F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14893-8220-4017-BC3D-E01E84E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77B3F-F918-4B81-A9D0-E7C46487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49887-E7D7-43B6-ABCA-4D5B3594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675D1-3C7E-4646-B057-FC422BC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Coverage heatmap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7C3E2-1863-46B3-B3AF-424B3D0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E973B-84A4-463C-8517-F73C3932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C66FB-95C9-4DC0-AFAA-B20B8353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C2795-67A3-400E-92B5-F1EBB4E3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87C57-AEEC-4A11-8395-A5C7B79E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28EDA-FC8B-4449-A2E4-6F39958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B0106-E2A5-4CEA-93F6-E16FC27E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C990F-D749-43AC-A73C-E0A67D4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518C9-3FD9-460A-B220-024492D7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830B9-F18B-4A32-BF51-D259897B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02DDC-E12D-453E-9981-3811AC6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49524-448E-40E1-ABE9-B1BC7F3C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14CCE-4059-4FF2-883E-5F3F4F6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C9DF1-4B75-4487-BD4F-7AE3312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F7B82-11F9-42D7-859D-4FE73049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77661-B8DE-48D2-ABC8-BB8FC334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AD2AEA-8456-4E8A-A9B5-F4F63A7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71B84-707E-4A3F-AF2E-DA08438F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816F1-46BD-4503-9F06-296500C6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544246-3B2A-46A4-AE1E-E930B613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00D4B-FE24-4702-9387-43F6619B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6560C7-AB2B-419F-BEB7-D4497C0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C67B2-EA43-4D91-B3B0-DBD677F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1D00A-2E75-4EF0-8594-DD58E7B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Phishing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DCAD5C-25CE-4308-98F6-01125C8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F0544-ED30-4CA4-8911-DFC12C1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Ready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BE49C1-3A11-49FF-ADD8-B5BC794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606E7A-5F83-4B27-A508-51A83DB5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Ready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6E31BC-07D3-4816-AE10-9E8FDB71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00B12E-223A-4906-9E11-05F697B6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Partial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A04AFE-ABDD-4D50-BC58-8DD7A291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66CB1D-2513-4603-8233-56CCC680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A60F7-EE65-4906-A601-92C146F2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1E044D-2C80-440C-9001-7E59DEA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Ready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A80D58-53BB-473A-BB53-ED92169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4BA691-0976-46B1-ADF8-44C8166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Partial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654E14-C4B3-409B-BDE5-19FDAF2B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AE254C-0330-4018-8A04-17FAC5F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Ready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09B816-AE93-47E5-86E6-9918F516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8A38E2-77E4-4949-B94F-AE5D6A62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Exfil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4EBFF0-A515-4D84-95F8-52C71466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B6F5DA-1056-4D75-9A5C-F8D8215C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Missing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7CF4D4-9711-4705-AE8C-9EDF87FF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ED3C40-5832-44D0-A897-C3E0EC54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Missing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52249A-6513-48A3-9016-4CCDA89C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DDAE65-B97B-4DA7-8EE1-DFB99E8A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Partial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F52B4A-8487-476F-804F-EFFA1F7C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4F3CC5-C461-469B-BCD9-3C9C5B79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ABE846-8A93-4A4C-AB5C-A9615711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Coverage is not complete until telemetry, detection, playbook, and owner all exist.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E96414-EB6D-420E-BA46-22142B36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A14E38-A482-4CC7-BF26-1D27A814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A45DCB-18C9-4A0A-9CDF-FF3FC0F2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Coverage is a matrix of risk, technique, telemetry, detection, playbook, and owner.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423662-B921-4DD8-A276-CF9FD066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F72203-72D9-4925-BF78-76C32280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It reveals where monitoring exists but response is weak.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FDDD94-34EA-45ED-B246-823F3362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835AAD-3698-4785-8967-B76B3092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It also reveals where response exists but telemetry is absent.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69D08E-4C71-41E1-AEF1-1AE78D45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852973-E71E-4E97-96D0-C94E4590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Covered + Partial + Missing + Owner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42FFA9-A59B-4297-A19D-169320DD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090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9791BF-554B-48C2-BB3D-ACE015A5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8AD93B-E431-48A3-885E-0C4AE16F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731050145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5F4A43-5BAF-4D76-B8E6-8D09B94A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Prioritizing detections by threat and asset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5BCF5-F388-4F02-83E1-106ADC38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891A3-6A1A-46EB-8A32-335B00D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3BEED-E663-495C-BD5A-2B0D06F1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6CB68-CB6F-4CD6-BF78-A9359E1A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B5541-A66B-412A-BB47-FE2695C1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CC9F6-386D-417C-B85B-44084EF0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D2DE-B997-476E-88D5-7EED314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DE612-A261-4924-9A29-AB750373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01E1E-5DA4-415E-B24A-4D443F1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98A7E-E4D1-4B6B-8C79-3A5B4FC3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high-impact assets, likely attack paths, and recent incident lessons.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85FAF-C310-498D-BB57-784E4A97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4913E-EFDD-4ED3-968A-EAA380E9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BC410-FFC3-4A9F-A63A-75F19B3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Rank content by risk reduction, data availability, build effort, and analyst 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8CEBC-612B-4DE2-9F9D-ACF7ABC6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EE7C5-9BEF-41E2-946F-6FB9CA00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B09D1-2B48-4D2D-A2D2-840F38E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Avoid building low-signal detections because a framework cell looks empty.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19A9B-824A-4C0C-A3C3-CEC5E57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D00C7-3162-437F-B606-D4A8DF17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3D365-6016-4C60-B5B7-0058903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B539D-83AD-44D8-BAA9-8D0C8133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DC490-FA7F-482B-8605-D24DCDD1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2ABBA-7BE4-4383-AE9F-994FB27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8C7BC-F777-469D-BF9A-888AE3A7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E8ED5-1440-4F83-B34A-A35DFC5E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2ED96-2480-45B8-AEE1-CAC486CF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091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C4AC1-FA94-4240-8B8C-C1DF66E6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663EE-AC4C-4A52-9C76-B65B158B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638306130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FE4F9E-4324-409F-AD51-5176F1EE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Detection testing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D339F-9451-4793-8272-E96E3476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16A7D-8AF4-4727-8666-F6506318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D7A06-671A-428F-B846-08C4712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C654B-E6A1-438C-90FB-B16CFC4E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8F566-C896-42EE-8563-AF1138D6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E0206-CEEE-4F3C-966D-5EFCA3E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AECF8-3E36-41D5-B89B-85881BFB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6F6F4-7D20-4A41-9129-5EE09C59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C9793-160B-4733-B078-C3FCDB86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3C068-B550-4ABA-B5A4-A9811A5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Test with controlled simulations, historical data, and expected false-positive examples.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93AD6-F0A3-4291-BEFC-E16A103D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4F9A0-4ADF-44C2-9779-E5783897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92BC1-04C8-4328-8DC9-0BC4DC7B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Validate alert fields, severity, routing, playbook link, and evidence usefulness.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CD194-1081-44E6-B6C1-FDD4635B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78B6E-7E39-4E3D-B9B6-952C4AA8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2A5E2-DB92-434C-B5A8-48036D76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Keep test evidence so auditors and managers can see coverage is real.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DC218-22D8-4AF9-8FC3-C5B4EE13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BFAE1-0593-48ED-B9E7-3FEC804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ECE5F-DCE7-4DAB-9FAA-17B40358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12895-8454-4A9B-98AA-3FE8D51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5CE56-4134-4EB2-A1B0-3B53A3B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EC903-0A76-46C7-BD63-8EC55DC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8C84C-7684-4471-8522-1CB385AB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E2B2C-26B1-492F-A924-4E25950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9996C-4E50-4F64-81C0-1F0C24E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092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E1D6E-A0A0-4EBA-AE6B-CF0BA693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2C937-4A9F-441A-9AD6-8787686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643046999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12553C-5B28-491E-99D1-9E88E6F2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Promotion workflow: idea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1A23A-6CD1-401C-9D11-DE343C29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D5290-8B75-4168-AEFB-34FC7D7F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976C1-D48A-429E-84AC-32BC24E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6AAE9-22A5-4885-AA3C-51BB0A94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292DF-5F9A-449B-993C-C5D23438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6B3B7-2DAA-411C-BB4B-5FF3022E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2B54B-67C9-47A9-A181-0BACAD61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5322E-53CD-44AC-9D98-A024D2D0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DE701-D492-40F0-ABAC-F45B345C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Detection backlog kanban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0FEEE-D2F9-42F1-9FB6-4727F751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CECC9-4D0D-4E02-ABF8-9B5DE49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4EBE4-E56F-4F8E-85B5-778EA85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FD23F-419C-4D0A-A289-759F9B2D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9A46B-2E9C-4895-9EFF-2BD6A61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01C57-D5EA-4E3D-B596-F1B18A6F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BC7A5-31D2-46AF-AD02-082C177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Data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427E0-2A4C-4BD2-8CEE-4AD431E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1EC74-00F2-4302-B4F2-3E8C0B9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CCF31-5945-47FC-A82B-477EC674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DE260-087C-4D6A-A904-5C1B9890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88D47-9FD9-4E50-AF07-8791212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42D72-5568-412A-8008-1C954E17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5BDCB-F356-4651-9A1C-73D8ECD0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8E18F-71C3-4415-8586-7E0B55A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8855B-5013-4707-A298-9AE223F6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176FC-E8C0-46D3-9FDD-EC12667E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588976-C158-47AB-8015-DF064542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D6E67-FD47-4D60-A22A-D03F2CBB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BE1FA-A348-459D-84D8-6A2F7316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B5EA3-AB97-47D6-AF6C-47197BA6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CD382-5D79-4449-BC45-CD323110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3BBCD-BF3A-4D11-BA5B-3061988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2A0010-EEA1-4A56-A7C1-868C6D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749EE2-91B8-42D1-B8B6-60A956E9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13CF7-7C91-4BC2-B716-8DD76FAD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C23D25-53CD-4F19-A0D0-194EC071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26A0E3-DA88-47E7-9940-26C42603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Atomic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AFEAD6-1489-4DCD-87E5-8F86FAAA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2B7ECA-F3A8-4F19-B8B6-FFEDBEB8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AAFD9-4CD9-4F68-811A-C02723C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27A77C-AE53-457E-B977-906BC8E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Exfil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308721-B3B8-4CBC-9376-CD9D1EC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7C3E0B-9B63-4D82-8A6D-7F16C131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Proxy/DLP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E6D989-9E2C-4A3A-838D-092F820F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16F7F2-81FE-42BC-AED2-CA778196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Historical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885017-EE83-451B-976B-7890630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FDDFBC-55BB-43D5-B8C9-289C81A5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6A7AC0-3B9A-4713-B439-C74315F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D73958-6D8A-40F5-929F-448F905E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Ransomware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46321C-2F63-4CA4-90C5-DE33CB05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22C363-52DE-4CB5-BAF7-31065ED1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EDR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4E1B86-EAD5-48EE-8D4F-ABFB62BF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0C8F38-9639-4F22-BAAA-64D235D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Purple team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4FFD61-F164-476F-9B6F-68AB7E77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C8B35D-FBE1-45C3-83BC-41FC3EC7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C07996-40A6-40E8-BBD1-7237A45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4340AF-9885-4C52-A45A-CFF368F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4943F7-15CB-4087-9882-C74B1632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Backlog quality is better than rule count.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F24D55-B2D7-46E6-938B-4E77EEF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71B3BE-B638-47E6-B863-DCB3AFB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4A0143-1845-4D5C-A833-CE559FA1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Idea, design, data validation, test, peer review, staged release, monitoring, and review.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6A35C7-F6B0-42DF-9DB2-0C3A8FC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39E937-5A4F-455F-854E-92B053C8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Every production rule needs owner and rollback path.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BA914A-38F6-401A-8D14-72D0BD0F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0874E4-CE62-4D49-8654-AFE032F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Major logic changes should be reviewed like code changes.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DFA24A-A973-4B58-9E92-41BEC01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C5C710-4DD4-47CB-9A05-8B3D9D24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Threat + Telemetry + Owner + Validation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442FC3-D669-41E2-8AA6-B5A3E77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093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CA87C4-F64B-4DD6-A207-0D56013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71FFC0-B2AA-48C9-8649-21ECA45A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642395586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A92A8-3305-46B4-A891-1F4F452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sample use case 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C957A-6B38-4B47-92C6-2DF17773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98685-B690-465A-BE2D-D4B4B3A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EF8A1-224C-4FDF-9C6B-94001C5B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200C-2E09-43CB-9EA9-47A0DCF7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B7D61-73B7-43BB-95C4-DBE2B22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2D267-93A4-4A8B-A5C0-B05B962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44EB3-8203-43DE-B095-1EB7E87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D0471-6280-4FAE-92C9-836AE12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E403F-C67C-4EFD-8F55-CE53219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AB5CC-585E-438F-B66C-91290C0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5F40E-49B5-46C8-A728-B4E4328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D58A9-E643-4481-824E-E50354A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80DF8-9139-409A-B179-9E834849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5C1A9-FA9B-4D65-A86D-2BBA4077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0C23A-748D-49E7-8A8D-226982A0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807E2-E9A9-4A71-A59F-ABA6F860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553F9-3E8A-4780-826D-9EB1B95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Account takeover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E7654-2390-4209-AE68-6542386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C8F0F-E6D4-474D-8D5B-6329E0AB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264FB-CC1E-4455-82C9-C4568091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46A58-C934-452B-AE9F-F58639AE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Technique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EFA39-76CA-494F-A8D8-B2B614D4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64CF3-E5B6-4CBC-B1A7-7120C8FA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Brute force / token theft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C17B4-4AF9-40E0-92AB-665F11D5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5A497-48E0-4AF9-A2BD-DEA8654B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What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9283FA-069F-4E35-8FB8-4CBA35F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7D432F-3B9B-407B-B67B-8F8223E6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7F690-20D7-4198-B62D-0FCF0AE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32250-1053-42CD-9E50-44B9CF3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Unusual login sequence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AE63BA-DEEE-4980-89DD-8BE43889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9D85D-6F09-46CC-A57D-5459A24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What fires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C72C9-2117-4D3E-85F5-F2ECFC85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B425A-2905-4F91-A8B5-EEDE6420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Playbook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1123EB-9689-4A83-9319-4611ACBB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E8121D-100C-458A-99BF-F351C7B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Account compromise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7FE9BA-F7CB-475B-B3D1-4A4B9BE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75BC7E-44FC-47DB-B1D9-23A3C5B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What to do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4C1780-5A1E-493C-A397-83348E8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094 / 142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D40982-5A41-48AC-B4C0-8E31055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27514-4827-4630-ACD8-05C5CC9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62865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323966482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416073-D417-4027-A796-84D304A0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sample coverage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B5BA7-E935-478C-82B0-8987059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32EC4-A608-4EC5-81C4-322AB0E6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F9B0F-F32E-4BD2-A737-FCBD90AD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C7F3B-FBE0-49E0-B1C7-660FD666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4B22B-5980-45AC-802A-66ACE5D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2B464-1265-416E-83BF-8B71A6C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95059-3DAB-4417-9FBF-0718B1F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C2687-164B-41BE-BF75-3E024CBA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CA229-53D9-4717-853D-F42F8B74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896B1-0FAA-4A03-9125-F925EA09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D9309-FB3C-4278-A8FF-B052E0B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B2604-1F9F-4548-922F-B900B747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8F1F2-0B81-4AD6-B816-826935F0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6D170-0202-4C7F-9FC3-8481D75F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AD015-1DCB-4C62-B5E9-FDDC6F1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Playbook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B2DB6-AE32-4E2E-AC71-5A89A1E5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232410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42A46-840C-45DD-A56E-38E17185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4384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D31DC-D13E-416F-B785-A415C4D9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D2A17-CF00-4C1D-A6E4-22F6ABA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Phishing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16124-AB35-4943-A1A5-67230FE3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461E2-705A-45A4-AD24-46B734A0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Email, endpoint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5E004-D31D-4CCC-B24F-C500EBA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32330-6445-4345-9C38-81904D2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Attachment + URL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0E856-F866-4C69-B292-6F7CC103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3751E-B762-43D1-B801-7E306608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B47F5-DB40-412B-8D41-5E16DDC3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29337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2EDD55-F7D9-40E9-AB7E-B60E161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0480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User report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2258D-367A-44BA-8C78-B378129C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15606-588E-4C41-995A-3BB40F40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Ransomware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3C2BB-CC73-4525-A83D-0D173E14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13B74C-0FBA-4A2B-BBEB-27B7BE81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Endpoint, 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318EDA-76D2-4EDE-BD2C-2B56CA75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A0E872-9D59-4539-A7C9-55B0CC9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Bulk rename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F5678-80DB-42E4-A1EF-482B309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3839A-DAC0-4D87-9326-BAAE2D8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6AD72B-7F88-491C-A6BA-AB5FBE83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37338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D40B05-4118-427A-9CBA-A590B04B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8481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Backup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A7CCEC-8C2B-4FD5-B993-8AFD93B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06154F-4883-45A7-864E-DCBAD98C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Account takeover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635ECE-FA39-4392-BBA6-2B8A7F3C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A60664-50C2-4350-8AEA-B762370E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61A572-C5E1-410F-9258-FB855CB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4C1659-5826-429D-97A6-3628684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Impossible travel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1BC111-C57C-4A54-8560-7F0EFF21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C9875E-F434-4849-B8AF-2894D93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00BC02-792A-4E3E-A315-EC7CE828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45339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CA406B-26C3-4274-A534-EB03BCA4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6482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SaaS logs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EFB512-A9AA-4927-9096-E9CC2FD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D3E16F-C223-4925-8A44-1AA11367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Exfiltration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8887C7-5D02-4CF0-AAD5-8A2EB912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895D3F-2B72-401C-9032-C996CD2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Proxy, DLP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1BE787-F97A-4ACC-92ED-0B32300D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58160C-1A61-4C99-9B35-79584D3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Large upload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CEF5F2-E353-4C74-AF9A-A49CDC04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48AD2D-B29D-4908-AB4F-9E36E79C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2D2EB5-00B1-491B-9AB3-24E866F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533400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82281C-0DA4-4C6A-8B76-8DD031A4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44830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Data class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C11B6D-65A7-4AAE-A8F3-3B4775A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095 / 142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1AC87C-7146-454E-B675-BDFE72B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895861-1950-457F-9EAB-A5F965C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62865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2093527462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DB7BB1-98D2-49EF-ACFF-673C0DA2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Worksheet: identify coverage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2AB98-FD83-4CE4-823C-FBEED84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EF087-18EA-4863-A97F-9461A163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98311-926A-4D43-A3E7-879746E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B7EC8-89F3-4CAD-9A97-19399E2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620E1-D9C4-4EBB-8DCF-74D57884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B0F15-50B1-4C3D-8D4B-5703465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ED731-E2E1-45C1-B587-110AAF49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The likely attack path is credential stuffing followed by valid-session abuse.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55E80-2843-45B4-A4C4-C785B51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92561-490C-41EB-AC21-CBF3B27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66"/>
                </a:solidFill>
              </a:defRPr>
            </a:pPr>
            <a:r>
              <a:rPr sz="12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220B4-05EA-4222-AD99-B9D518CF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8E99C-D6BC-4AC8-BB0E-A1F87F5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8BFD9-AF29-4FD7-B8E6-FE05B141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27BE8-BCB9-4ADA-B7AD-08A3E68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2F5FA-0A7D-49AA-9B98-2667A38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256E8-D82D-429F-BD76-C1A571CE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7D96D-9C21-4319-A1A6-029691CC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8EDCC-023C-4E93-A97B-62A5BC51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5E938-C615-4521-B6F9-5462E29F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0924E-B5F5-40D6-B5A4-5556151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E4CAD-6D8E-4173-8542-095149EA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CC3CD-495A-4D2F-95C4-2FC5B72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9C006-8E63-4D9E-AE72-1A8E78A9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2D374-079B-4749-A8B7-AADBE93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33921-8D76-4C44-903C-051AC5A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99813-918C-410B-B74A-853B06A1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765A6-1AA1-4E63-980C-09DF45E3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F4EB1-77AA-4B09-9F5A-CF3AA2F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B8540-31DB-44E4-9104-4BA88F7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78FCA-C97C-4365-B1FB-9A6CC48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5338AF-94DC-49B5-B2C6-46F0459C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10FC32-5BCF-4FA4-85A0-998997FD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F385F-A99D-476B-B989-0E839DC5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096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79A166-6CCA-4F0A-A1B0-049F13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CA816A-AB76-4754-97C3-2436A8B6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316826104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FDF27-C9FE-40BE-BF47-F8B6CA2F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32757-3311-4D45-AAB4-5CEE5C7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7285"/>
                </a:solidFill>
              </a:defRPr>
            </a:pPr>
            <a:r>
              <a:rPr sz="2550" b="1">
                <a:solidFill>
                  <a:srgbClr val="0B7285"/>
                </a:solidFill>
              </a:rPr>
              <a:t>097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5B6D8-A75C-4C31-BC2B-E91ADDF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RESPOND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3F73-AED4-4481-8F54-F390747B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EE276-D742-421F-8255-A0798AFE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Make containment, evidence, and recovery decisions under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46B17-A406-4B4C-A6C5-8DB1EAB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89D18-02D2-46DA-85E6-D8F06C2E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07FE2-C1D2-4485-9AAA-AC822230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4EA89F-19EF-4CC7-802D-081C9811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IR lifecycle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5CFC7-9159-4C33-8D22-633D73B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6E83E-C28C-4EC3-8209-BD02EB75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D53DA-D05B-4279-8A93-5DEFC6B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4059-56BC-4AC7-BFFF-48E9877C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6478E-BA8B-4930-8051-7FDB0642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1D268-2330-461F-8A7B-C8A69CF8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7105D-BDE5-440B-BF04-15B191A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63668-B17C-41AE-A0F0-F645E988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preparation, detection, analysis, containment, eradication, recovery, and lessons learned.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6B1B1-2691-4CB0-9E18-EF59D244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933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AA69F-C73A-40EC-B4E8-FCFD76E1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BF9EC-F2BE-4ABD-8286-D4BA8BA1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Lifecycle language keeps technical work aligned with business and legal decisions.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92813-BA2A-4940-BAC4-92F98AB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695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4CACC-41E8-4276-8396-6D120E63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F8542-54DB-40AE-B151-D904184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lifecycle is iterative during complex incidents, not a single straight line.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119EE-B52E-42DB-8A21-847FD5D4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38150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79277-772D-451C-9259-1FB84AA8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F5534-2412-4D9E-A1E1-3AB57FF2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C73CB-F211-4FA1-AE51-B4011462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9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097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82D82-5E65-4B39-AF27-E4BDE24C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91200"/>
            <a:ext cx="7296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80195-210B-4C30-BCF4-CF768CD0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579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454472019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59076D-F30D-4439-ABC0-1FA1D758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Severity model and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93D5-AD73-461B-A864-ED34842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8AD75-1C1E-4AEF-BAEC-6AE2CBE7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A831A-3C89-4DB0-B255-CEE5F156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6D89E-3174-41E7-BAE7-3AD805E6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FF0D3-285A-4698-9F49-2076978E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EDB5C-5B93-48CD-95E5-239074D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2D0C5-3C7D-4735-9683-1FD5E2BF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498EE-7C2A-4D9B-82C2-B0ED7F8C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575F6-AFE2-41ED-B670-52FD523A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06B29-24DB-4E8A-BBF2-DC194FB2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68919-A8A8-489A-A1D0-0C7D8D0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AF8B1-8BFC-4EAD-9889-F0A31EE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BC6B3-8A43-48A0-97DB-F8B8E8D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D8FC6-03FD-465B-97E5-DD9A887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2C4F0-CBCF-4479-B8E7-30937B8C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1404E-F788-4BDA-8F9B-79FDA57A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1E78B-0306-4FCD-936E-296B819E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6E50-91F6-4786-B152-B85B2C0D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06D98-1924-4655-BBA3-CBF64EA2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64194-713E-4A5E-851C-49590A8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45E89-52BB-4D64-966B-E828445F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0B0ED-32E4-4F9B-BE5B-E05C07B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Severity should reflect business impact, data impact, spread, privilege, and service disruption.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D01C0-CE33-4E9F-9E1E-A27612AE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EF228-FF54-4969-9E20-C7A4CE7A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59A51-598C-4BA4-A3D1-4E1BFF56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Classification determines response urgency, authority, and communication cadence.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DE1F6-FE22-429F-B3AA-40F0596D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69DB4-90AF-4CF4-80F5-23755374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Reclassify when facts change; record why the severity changed.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10799-4920-4D2F-A02F-4F3F1B85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3E1131-F76B-42C7-B9E4-1DEBA03C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BFAE3B-4F69-4DAC-8498-3429E7AF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098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9A5B0-8DA7-4577-A71F-E6895852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B54CCA-84EC-4CAC-A5A4-C11F4B40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406161164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B0C7E4-D86D-43B1-8763-55D7F74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Decision authority in incidents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818E6-B991-4032-98FD-4B6ED31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7E733-6C25-47B6-A4FF-8E40FBE7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B06D0-EEBC-4218-AAE7-68245381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888CE-9D41-4895-AB46-C89489E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E3F30-1899-4BCF-8608-00F1281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394EB-53D5-4169-B33F-44B061C7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0FEC7-3E4D-4BC6-B69F-CC0228E1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EE5DB-C0F0-4295-8A01-B914FB62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DD0D2-C342-4371-A8D5-3A592F2F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E1E80-9F79-4F3B-8A4B-8350A814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High-impact actions require named approvers before the incident occurs.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63570-060D-40CB-B251-8BC8873B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2CDF6-7715-455E-9949-38B0F58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DC385-B057-4D65-A071-FC6A677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Authority includes isolation, account disablement, shutdown, restore, notification, and public statements.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285EA-6AE5-4FCA-A935-93BC3E97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18F3B-FAEE-4F89-8EA4-7F783271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E7D07-878F-4ADF-8D3F-41F66D6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Document decisions with facts reviewed, approver, time, and next review point.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31589-DA39-4BF6-B5EF-F972A4C6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E20E9-CA5E-4DCE-91DF-F4AA3D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EE2AB-5219-4644-87A1-0FA0BE8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7EA4A-8214-497F-83DC-345B1D69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A069C-53E5-41A8-90A7-DFD7F24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A6EB8-EC22-4D4F-B189-4119780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C0035-A90A-4D17-9EFD-E4C832F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10CEB-4A98-4142-B331-60FDAE82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04B85-9D6B-429A-A38D-2F860FF5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099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53EE2-932B-4673-A0C8-4DBDF8E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817AC-EC3E-415D-862E-2B4A3D54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349162800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47448-B13B-4E6D-928B-77555B8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Analyst-to-IR escalation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EEEA8-BB75-4DE0-8400-820DCE31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F590B-5045-49B9-BE3F-B08022AC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437EE-3ABA-48A2-89C3-0DD9C1F5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D2820-F47E-4762-861C-F618A6E3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24F96-5067-4AD6-A184-DCA9BD4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78DF7-F47F-4A10-BBFC-3F1DD1D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B6D07-0C9D-4D1D-94B3-6821449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C8A5D-D8B7-4DFD-BC20-29B70ED9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112-020B-4105-BDEA-1B5DA6B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BD7EF-6F10-4E27-A341-F0EA985B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D6EEB-5F71-4A28-8AD4-47BB121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AED3C-04E1-44EC-8A47-6D59F0C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9CAB2-99B1-4BF0-A119-C81F103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755CB-8301-4D2B-ACE8-F87CAAB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15ABB-E04D-4895-8C7F-19AFA229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C1DDA-C176-483A-A4B9-0539CE7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357CF-D7E8-4FD3-8197-47E2492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9DBAF-8882-4245-AB11-6C881FBE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F4F27-3EC2-4434-B2F4-AB6537C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3101C-5433-47EF-8DF3-3F5765AE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5EEDC-94A7-42E0-9C69-E8ACC2A5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16F7D-564C-45A1-A29F-F1766C68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Escalate when scope expands, containment is needed, evidence may be legal, or severity exceeds queue handling.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AA1C7-A024-4843-B765-CD0D768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2EA66-AB4E-458D-8D8A-2842389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22DB8-AEC1-4563-98CC-784DCF6A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The escalation packet must include timeline, assets, users, evidence pointers, and open questions.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A0296-8810-47B2-BCCE-1E1146E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A5255-0285-4DCC-B9B1-4F2F766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Poor escalation quality creates response delay and duplicated investigation.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C3C9E-6E7C-41C0-88DB-0A69A44F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9DB21-189A-4665-B990-CCB2149C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000CDB-89AF-4C92-99F0-6440F39B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100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AAC86-78CB-4DB4-B95E-3473B2C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1FCA4-F243-4A58-A91B-7923017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645208651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BA4760-98C5-4C85-8FBF-84CB182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Runbooks vs playbooks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19268-59C1-4576-BDAE-7251D04A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A807A-38CC-4B91-A11F-57A3E4B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7014-82A9-421D-B4D3-BB7D1C7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D9E6F-22A0-4ADD-A2A4-317C0F16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D63E4-1B03-4B81-840D-97E2F8A3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BF67F-DF98-4B29-941E-9004F973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33319-140A-42AD-A1A2-D40A02A6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98A62-EF19-4968-8263-12430440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D1940-743B-4462-8788-E8A01D0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Playbook catalog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B40DC-DFAD-4D22-AA0F-C52E32D5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EA28F-A047-461D-B46D-4D5E3A2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32A95-74F0-4EE2-B445-50C3516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4CAC1-40AB-4DA0-ABCC-EB429EAC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0440E-E8AC-44D5-AF28-1F768176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A772A-31A4-4898-AD6D-6CE04922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5A790-A917-44D0-8A72-DF60287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1E924-22C8-4E7A-96C7-EC4FFB66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0D32F-FF31-4316-B21C-E7951C45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FC267-9CCC-4460-8B24-49C74A06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Contain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EBABA-CDC4-4FB2-9968-B4094CF5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D3F77-41D8-4FA6-89CF-4109A18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16B7B-BD52-4A14-99D0-41A777B6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7E9BA-89CE-443D-85D5-B7C2AAA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61524-75AA-4BB2-BC85-28BD8A17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EB325-78FC-4A03-A52D-EFD6A44A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PB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FF998-EC90-4A76-94C9-D94EB18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9F342-9A59-400B-9717-18255FB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B5200-0711-42A1-8F76-D926D582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2B58BD-5071-40A1-BCD8-541E833C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CD6BB-2442-4360-9DB7-03D2EB1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89901-4481-4A81-A6CE-52744E7B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81C76-8B18-4F7D-B743-EB043464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8CFE0-C297-4BFC-B85A-B5CCC43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PB-01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5C0A0-B938-4F8A-8182-A355760E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6E5788-2654-4B0D-9E2B-1B526CE9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Phishing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78F78-C83B-48BB-8802-409D4D5A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9476B0-06C2-4CD4-A845-1876673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Email + URL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98049A-8EBA-443C-846B-3E6D027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AED08-6197-4557-9E2C-0C9F0C6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F50AD3-03C6-4330-BFE8-F560ABB1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CA1FB7-3C3D-4D0D-9092-180E4DA2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PB-02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8152CB-3295-416C-B17D-689BA7C7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015930-8D4C-4507-812F-D772C8F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Ransomware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E9D3EB-37C6-4AC4-B87A-1134CD3B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0F7ED6-D5DC-43F9-B792-7EB8C3B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EDR + files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2E5C36-A697-413A-BC7B-5767344B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1330AA-CB4C-4C57-8505-5658B24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2F6112-8EA1-4234-8F53-E6606D3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DDD4B-FA29-46B2-9B49-EF9A4891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PB-05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CE2A8E-3F8C-4237-9552-37D7BA6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B3BAB9-150D-4B34-97C9-146E9423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Account takeover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081931-0E42-47C2-9A6C-835DDD3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FC0A2D-8378-468A-A6FC-2D05F64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Identity logs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59DA3E-3916-4D74-92DE-DE9A5A01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69340D-611C-43AD-A0C0-E1BFC807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A8FFD3-4D25-485F-ACE0-A7AAE5E3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22D18D-729A-4F84-BE43-F3ECE79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64F83A-1B44-4AF6-89DA-2B287E4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Playbooks become operational when they connect trigger, decision, authority, and evidence.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D7B9B6-2AD8-494F-9D5E-D045D729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ABEE10-2557-423F-B1BF-3D1EEFCD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CD9811-7B25-46F3-9A45-AC4903C0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Runbooks guide routine analyst actions by tier and workflow.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01A247-0770-4774-A87B-6BCD810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B6C484-FCB1-4EB8-9B8D-93AF344F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Playbooks guide specific incident types from analysis to recovery.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BFC450-0D03-410D-846F-5695F7E7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F7F663-79D1-4596-89E1-EF64D34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Both should connect to severity, evidence, escalation, and reporting templates.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E9387D-488B-4523-90B1-F01D089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5AB253-EB14-447F-AC6D-E031992F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PB ID + Severity + Owner + Evidence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45E333-3DA8-4563-8296-2FC5CF4C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101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CEA3CA-3181-4D24-9003-CDA2FDAC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F30B4F-0ACE-4FA3-B56D-CC6D9C6F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802227379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D9178E-15E3-4DA4-BC66-CF8854A7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Playbook operating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EB1EB-ED01-47FF-A857-2F81CC1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CBA86-A8DA-4749-9632-0628A42B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77811-9B74-40C0-B50C-90452C39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8D5CA-BB1C-4B25-8DCF-37399A7A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49F23-3076-467A-BB5E-54D61BDA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F5D82-2DCD-4351-9BC3-A0A39644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CF8F-25D5-4869-AFDA-B241D36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074DA-0A92-4216-B077-C1DD075C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60F8E-4681-4E1E-81EE-10795B0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Playbook catalog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2C052-F013-49B5-A3FE-117BE41A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22180-F009-4D09-89B1-DDC1324B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F4C57-996F-4E6D-9A32-F7199948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CF943-7534-40A3-A7DC-3960C4B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71586-3D28-435A-AF79-38129F5E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CCB02-43D7-4BA6-A007-BD8B39B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F0371-02CE-49D3-9CED-5229A30A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961DC-E3BF-4B10-9FDD-016AC8C2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5FEC0-38D9-4BE9-BCCA-20153D63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4EC1B-3DB8-4BA1-96D8-D0F0C76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Contain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028F3-F09E-4427-A5BA-C8412AAB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CDECA-AAB6-41EF-8B74-89D64D88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D70D1-1A33-492C-903C-6597F7F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1B2AB-AAB0-44DC-9FD1-D64EEA1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2450D-4497-41A0-9A51-502863D0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22460-32A7-4EA5-A7F6-BFD6EF9A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PB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82A87-16A7-453D-96BA-71759112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A0B85-F802-4F57-9160-73201580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60CE2-518F-4AC4-8CE8-04D316DE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52978-527A-4BB9-BBA2-5FC6A2E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291366-5413-46EE-AAB8-857AE4C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2FAB1-1D31-4D09-B30E-2CFE2BF3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5A0A28-ADFA-4290-819B-66B97D5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4364C6-EDB5-4DD5-9387-4D7DCFC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PB-01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944CE2-D87C-40CB-BBE1-274EFE9C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C7E179-544E-4715-AD81-8D7B96B3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Phishing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22792C-8032-4320-8766-88DB48C4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3A07C-1F71-44B9-AAC3-09A6BFF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Email + URL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AAEC1C-E775-4373-901E-EE703F5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972612-F2C4-41A8-B22C-E4B87980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42F640-9544-4637-9EB7-3C7FCDBB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2411A7-02C6-4674-A850-706DF5C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PB-02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8BB70E-E7C3-4111-9E94-6F925C5E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66F359-8E9B-450B-9457-71E8E37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Ransomware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AAC12F-9F1C-4C6B-AEA4-7BB80EBD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CF672-18A0-439E-92FF-BACF89A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EDR + files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1D055D-CFF3-4FD1-A08F-94D7C411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70B48-1F64-45D0-AAC6-43B482A4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89E952-1E17-47A7-9D76-DC068FAC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CA4E04-B0A7-4840-8096-99E466D1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PB-05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6C5D23-F25E-431A-8E8C-711CEC95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DC1776-6828-46F0-8958-C1B777A2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Account takeover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3EDC88-FD39-4256-97FE-30ACC7F8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1B0B84-D9AF-4A00-BD57-0CDB30DD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Identity logs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6318C9-0960-44AC-9569-27F3EBD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F27AF2-E517-4D92-B41E-19229A92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9E0FD9-52CC-4CC4-B7A8-CF23C11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31F366-DA0F-48C5-BC41-72DA312E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B2EBE2-607F-451B-B5E5-07803062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Playbooks become operational when they connect trigger, decision, authority, and evidence.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A84D1C-0E7C-4A0C-B379-FF204308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5EC902-DD5E-4BDF-8A4F-F7D7408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E89A8C-135C-47BA-A840-0B42A24C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Trigger, triage, analysis, containment, eradication, recovery, communication, and closure.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6FEFCA-BE98-4598-9223-DA87075E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915F1B-32F4-494E-B74B-68A7E549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Each playbook should state evidence requirements and decision points.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955318-2066-4AED-9636-B1B413C0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51601F-78C5-4AC9-BA74-66D667D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Related playbooks should be linked because incidents rarely stay in one category.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2B682E-EA79-4F3A-B614-7EB4BB7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FD1C90-4282-410A-9057-DF942CE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PB ID + Severity + Owner + Evidence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3FB7AD-5CCE-4AFB-B7F2-609AF057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102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D84C29-4DBA-4BCC-9008-C740F5E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03DA0F-AC6F-44A7-B5AE-7A25181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442528696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E0A686-E244-479A-BA77-35FA3D7E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Containment decision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E6690-29BF-4D72-AF7F-60CC27D5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2423-B711-4D38-8242-11CE72D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5201D-BFD6-4153-92F9-C84AC7B9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3AA95-BF2F-4CAC-91D8-2DA5F4BD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E7980-DDDC-43DE-8AA0-0261E16B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03933-4700-4880-8323-723AD6DA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2088A-8726-48E1-B9C1-9CFF73AD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522FE-F3BD-41F1-90F4-F88907F6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AA909-1F7A-4104-A211-02D9276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Incident decision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CA62B-5EAF-424D-A632-718EBE8E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FCA57-4135-4855-980D-CE30F30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0175B-BA63-403C-BDF5-641E6AB3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6C451-1DCB-4EAA-95A5-31466D0D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29D7B-04EE-4B9C-8FBB-E5038EE4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E62D7-A504-466C-96AF-78573951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7706B-6E20-49BA-A9CA-56E3FF2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A2127-0AA7-48CA-A1B8-5AAD5ED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9D2F3-0031-43D2-A481-EE6F5B14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DC1C7-DD77-44FF-9F39-2D083BD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Approver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F021B-7755-4FA2-888F-07E4FFF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E8DE2-8330-4176-AECF-0010D00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5FEFF-AA31-440C-92B3-C6C797F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Next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FAA80-E071-409C-9463-3C11EEB7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BAA8E-5AE7-4019-A8F9-1DBF1D0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26ED7-D833-4DE7-AECE-154F79D3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945FD-A2F2-4984-B81F-49FD7AE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984A2-997E-42FE-AC45-5C01CC1D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52C27-EC94-4E8A-AAFB-915351BE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29E7C-20D2-4A21-8A31-F38120C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1FFE9-9201-401F-A5CF-3304010C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09836-4183-4029-8D79-041BB67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Approver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C8CE97-DCED-410C-B9B8-4A0E2B8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D79FA0-4F65-4A15-897F-2518568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10:30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66ED1C-DD33-4897-9297-70309441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C6F8E2-CADE-47A7-99DC-DFEFE25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Disable acct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1170F5-8C5A-4D13-9FA4-3D25A9A2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00A635-7824-40CF-A110-D2B8E81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auth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2CB5C-930F-4107-AA9B-783491DD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67D5BC-0C3A-4AF5-8A9A-ED86CC13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6C59F-3B4B-41C0-833C-4124E782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455EFC-5831-4728-B421-9545D85E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11:00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AAD198-0162-42FB-900A-92B9661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BD134-423B-4F69-BC5E-EC6C8F7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Open PDPA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9078EA-BC4C-4223-843F-834D4379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E9C53B-BEE6-4C09-AF95-CB71A33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147767-6DFC-4310-A035-DEFACDC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51DE7F-681B-4364-972F-9E722C4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D00990-44A7-437D-8DBD-B43C5F9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7B8162-DA22-4F1D-A81A-C5CCFF6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12:00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C76A84-FAEC-40C7-8187-50352A0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995197-ADCE-4B6E-B6BD-8B6282E5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Brief exec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A8953E-D71A-4AFF-A366-CE98D4C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91C011-CB0F-49D6-9E19-FAA54E0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BEC7FB-1D7F-4932-83C4-7AB2F77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187302-85F9-4D89-8E6A-57057AAE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BF5BA1-587F-4E78-B6CD-16A18AF0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1FCA78-0226-4278-919E-93D1A180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74615D-96FA-434E-B072-4032940C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Separate what is known from what is assumed.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4259D8-C835-4FAF-828B-4857BB39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6DF7B2-7162-41C9-B470-700EB6C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0E3E44-EAF0-4ACF-9AA9-CAFBD93F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Containment balances risk reduction against business disruption and evidence preservation.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7A0BA5-17B8-4D4C-A001-8FDE325C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B0B011-F840-4D9A-BCDF-FA46F2AE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Decide temporary block, account disablement, host isolation, network change, or service shutdown.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914378-C4FE-4DE0-8C37-B4DC8C1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988167-6667-4DEB-B946-814194AC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Record rationale and rollback path before high-impact action when time allows.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741723-F81D-4B86-974B-6ECB1552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2C0397-5D9A-4A88-94C0-0CEF4FB5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Time + Options + Risk + Rationale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3B4E9A-A03A-4612-B3F8-92B5929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103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BD465A-2F0E-4ADF-ACF0-0F97CF73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D7ED5E-E977-4DCB-9489-B8615D6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692333117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7A14A0-7A5A-44C4-84ED-36A3EF4A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Eradication and recovery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B2451-1326-4C45-B847-5492E2A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BF6C1-15CD-4CA4-AA24-DF53CD32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B364D-30DA-4F19-8180-E134D5D8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90E56-0DC5-4998-BB54-79FA7B72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44AA2-491B-4403-AF34-F890A14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129E0-F127-4404-819B-F3A7F47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5667E-C5AA-4FFE-AFD1-1A4251B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45202-B077-4088-9FD7-4873F40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10751-3CC9-462D-8E0E-70CA951A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E2663-CA61-4D9B-9E0B-A24B20C9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B9CC2-7A01-4DD6-9D33-ABA7CEB3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6C6D8-CF4B-4507-8784-28D2F138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9F049-FD70-4345-A80D-53E0725A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C9515-7A03-4F76-B9D7-39D10D96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5CC8E-C6C7-4ACD-A3BC-44E2B3C2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F98D7-31D1-4F72-BA89-C5E7ABF3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0F993-7EAC-4034-8087-60E8879D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529AC-5B6E-46E9-A427-7E0B3F5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B1435-0E78-42E9-B7BA-031F4D5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3441D-115C-414F-898D-1D1A9374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87CA4-9F52-4171-876B-9F467E90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EBDE5-8B59-4043-84EB-841F3A6F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Eradication removes attacker access, persistence, malicious artifacts, and exploited weakness.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5DFA0-0F06-47A8-9C60-3E2A33C6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C52F5-4914-496C-8ACD-8F0FA062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F60E5-2FF9-4261-916A-D7792B20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Recovery validates clean state, monitoring, business acceptance, and return-to-service approval.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21C6B-BB80-4400-A33F-EFC02378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EB070-6F0C-44CA-9C10-4AB6F57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Do not close before recurrence risk and monitoring exit criteria are handled.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1F34A-D398-4B78-BA01-8318611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88CDC-8242-4860-ADCA-9D2E119E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4E72C-6D1B-4DDD-A1CF-3F12F4E5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104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976B1-EFC8-42F8-B5BD-0552DA0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7E9C8C-2B7D-4CEA-A628-85B101EF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934908291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E8FA9-D173-4997-A853-AE57E67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Evidence handling and preservation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C2BEF-069E-4B06-8109-0C8F5DC9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0618F-947C-4480-B876-640D8B56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436E9-229E-479E-B5DC-3495134B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DCA87-4907-44FF-A022-9D590CBE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D14F8-EB31-4A74-BD11-A908B930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E8C3C-7AF9-4E83-B585-EFF6199B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EB05F-3EE3-41B5-9F7D-97197FA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94EB2-343D-4998-AF36-EA5109BA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AB70A-D904-440C-8AA0-94CB9E5B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Evidence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01301-EE3A-40A6-8621-7734507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AC871-6578-44C6-920F-43D32981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03762-8C63-491C-ACFB-C5DCAAE2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4EB28-49AA-4DB3-8570-05753B97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4ED08-0621-4234-995E-9A736F4F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6A600-1714-4AA2-8645-93BEB86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1B8B4-07F0-464C-AE25-A78850D7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D7832-FE4E-42F6-B239-5692E6E3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F28CA-1596-4083-BF3C-3681E17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012B0-BC33-48E8-B5F1-D043E2E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9563F-8D30-4A9D-BDB6-598B97D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60755-CB9E-45F1-BC21-A7B1A211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6A90F-5063-4076-B736-69FEEDFA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Custody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BD1AD-7A29-4D08-8D6B-0E0D5A28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1A00D-9FCD-4715-B827-9181AFF2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1D010-A245-47E3-A006-38C6A4C9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EEF0FB-2AA9-428E-A5F6-0243ECBF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93E009-DCCB-4920-B207-35A2A71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EE0C9-6151-452B-9038-4F79F8E5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EFFF7A-96F8-4A81-A999-AE76F9BD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1896-4282-4B80-B371-895331E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B50EA-F2E6-4451-A022-2ACEBCB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9E8359-D148-40BE-8DB2-9B2BCB52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F43FD-7861-4024-9B12-43106CDF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Timeline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381258-7A3F-47B8-8E96-0CC032FD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DB66F8-AB7A-4A38-B76E-BC8C38FA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B097A9-A2AE-438C-A26F-1A4B9E84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EDD43F-4455-440B-95B5-3FD71E3E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Versioned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B79C5-D076-4254-8FD1-A807B60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093105-DA53-4789-A533-B0363B9B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C4A125-EEC7-432A-B5E4-ED2B368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7CCA8B-8D67-4A7A-BDF6-CF3D8851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Logs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699E7C-E42E-4C7F-AAD7-DB7333F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E67A6B-EBB4-4BEF-A311-520B2EC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SIEM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BA8330-6131-4348-8E7F-A114437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CD3872-06CD-47BC-8F93-12E647E1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Retained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ABF44E-4D74-4ACA-9D65-B6AF7B8C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FFF8AE-72F7-46D5-A669-5FAF8898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E0E0BE-010E-4F87-87C3-B22FE7FD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45A38B-000B-4450-9177-5024DBA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Artifact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FE03A7-99AF-4074-8906-AA50621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63A711-7F1D-4496-8809-67158E0B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Endpoint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D6565A-F42F-4F26-82FE-CEA913A1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9B47D4-E208-42A1-9D91-6E40E65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Hashed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90A39B-ED2C-4FEF-9153-252740D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4D51AC-AEE0-45FF-8CEA-B37E0776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D512B6-94F9-4C67-AC79-B139F81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FA726B-E508-4998-B6A4-49989B26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23790E-ABCC-409B-8832-2B324BE0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Evidence quality decides whether legal and executive decisions can be defended.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8B8B58-EEB4-4BE3-9069-B7277BD4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FED0BA-E3EF-4589-937E-3D1C92FC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883750-6429-4F36-AB97-6BAB780A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Preserve logs, artifacts, screenshots, hashes, requests, and decision records early.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0C0A23-8A57-44A9-BB46-FE3D5CC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0232C9-6A24-47F3-9CA0-C459D59B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Separate collection, analysis, custody, retention, and release decisions.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9ADC62-D8A4-49F9-9662-4FB40AD0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208B22-9B54-4738-8D0D-ABF21F7D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Evidence quality determines whether legal, regulator, and executive decisions can be defended.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CF87CB-5FCB-4318-9DE1-BAD3CED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A864B5-88BF-4C7A-9CBC-54FA267F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Source + Hash + Collector + Retention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02B603-7DEA-4C5D-BA31-5AEA0B1C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105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A45853-3378-484D-A218-AAFF6253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1F1F6B-361E-47E5-ABF8-62731EE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347865999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5C0A56-D966-44A6-AE2C-A522712E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Chain of custody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5AE9B-2D61-4F21-ABA6-A2AC372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9D01E-DC51-4FF6-B1BE-01B377EA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E482A-43FB-482C-A769-C29CA27B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CCF53-189B-4B12-B0F0-2F9B019A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FBB2A-4C94-43D5-9C5D-AE6FA45F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3A395-85DB-40E2-B942-0119B5F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682D5-6BDE-4C59-9DB4-8A263C38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4471-FBD2-4601-8143-B86ABC16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ED3AC-C9B4-4A10-9527-4A1000F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Evidence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1BE32-4239-4F91-B824-3BC7714F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ED9C1-A078-4975-8BF4-167FE6F3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35D3B-4D0E-40C0-8F18-5F4B070D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11840-4830-4F99-BB79-8987A85D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6B4CE-2ACE-477A-85E1-AA217DA6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70ADB-798B-4934-A3B0-50B9B6D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28A3B-D486-4480-9009-1A0088A6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6D786-2FAE-4411-B0BC-1857E92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1132B-B16A-47F2-B533-B1BC1F85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2AE13-2A44-4958-8674-EF14EA9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943D5-96C4-4636-A4E9-17D8E43E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ECB76-2760-4F68-BD75-567BC55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2568E-7D4D-4395-A5D1-1D89059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Custody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9BE74E-2C3C-4540-87E8-553C931E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D6CD3-B746-46BB-8849-99AA5F43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96590-FEE0-4DC7-8B22-5F1691D0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98ECF-3F13-44AA-B278-85FA19A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2A521-42C7-4D4C-A2B2-C5ECEF32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B7F66E-7BD9-43B3-B4D9-AF1139B7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22F24D-F859-4911-A5EC-AC74124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1EB032-7C88-4C3F-8CA2-6BA85058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23AB2E-35CC-446A-8C82-C71E78E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31735-F09E-4366-88CE-9AA41E7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702EA7-BD85-4261-A752-C6277787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Timeline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9FF14C-59FF-4CCC-9BB6-D458414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DCD95-CA37-4991-91D8-F4CCCE24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FF63CF-D1C2-49A5-AB95-60D5E91D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A02808-90FE-462B-B9A3-7FFF7F69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Versioned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988383-7E5C-4D8F-B15E-D5022FB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2683B1-50F1-49E9-BA9F-54AF7848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DCAF1C-CB6B-4AF5-8EC8-A8AF520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C2842F-5B17-4DA0-A8E3-5F1EDD28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Logs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559C4A-3139-454D-B2F3-19912BB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CC291A-2862-4B20-97F7-6219F404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SIEM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795C70-C1EB-46DB-9212-72A4195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3449E3-52B1-4478-B923-195EF9C8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Retained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A8922B-22A4-4A06-A0B0-AF7D7F0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4DA242-89CF-4EA6-A493-BE16EBF1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EC0F55-589D-41DA-8C34-7140B1FA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757136-3C07-4BFD-845C-39C750DA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Artifact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89B5F4-7B6C-4B72-A6ED-15C1447B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8939AB-6068-48E7-9676-3A42F06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Endpoint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DC0BA2-C60D-48B9-9CAB-B99B3B8D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C5FB20-C4B5-4D42-ACD3-CE4339B7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Hashed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32BE89-4F80-430E-B7DD-78938A9C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D93819-AA9A-486D-A79D-358C013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224221-34D9-4084-8F30-2395A134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3A91E9-C77D-4E91-BAB1-C0CBA6E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B3A91F-0833-4473-9AE4-4EEA0F15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Evidence quality decides whether legal and executive decisions can be defended.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DDD284-2EFA-462D-8C0E-84E6BD8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D5ADFC-D6A8-4906-BDD8-2F341BA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32E432-94F8-4580-8D9C-79A21D2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Record who collected, transferred, stored, accessed, and released each evidence item.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509A26-0F50-46EB-B902-B183D10F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523F0F-50BE-4B69-97EA-FD7426EA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Use hashes or integrity markers where practical.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BA61F9-E91D-42E6-82DA-6DE64594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BFA39E-2DD6-48BE-AECA-C46A8E9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Legal hold should pause deletion or reimage when evidence may matter.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1F5D2C-8095-48E9-9396-E904A72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2A30ED-CAEA-4BF4-88A1-7F8D7B68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Source + Hash + Collector + Retention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E02FDA-13EA-47A2-85C1-304ABF8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106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09B561-A72E-4752-ACA8-8A7E7951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25257A9-288F-4722-9366-019B028E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206377161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BA7695-AA92-4BAA-A737-6A5F9A7F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Decision logging during incidents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901ED-748B-48ED-8432-47AED0F0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5C727-DA5B-4F9F-9CED-099DBDA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DC877-A7D7-4870-A606-6A4F6E7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D6B8A-7DCE-46AE-9431-B44CD8F2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2E0D3-5665-41C9-A7EF-9F5F1AC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5E61D-AFF7-4444-8406-394A7C5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BB323-8A8B-4304-8D97-F5B254B9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BB413-543D-4166-B5D3-7EB1C71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874FF-4612-4426-BA58-3D822A05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285"/>
                </a:solidFill>
              </a:defRPr>
            </a:pPr>
            <a:r>
              <a:rPr sz="2100" b="1">
                <a:solidFill>
                  <a:srgbClr val="0B7285"/>
                </a:solidFill>
              </a:rPr>
              <a:t>Incident decision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E4430-7EE0-4323-AE40-898789E6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99B44-C2D6-41C9-AE44-D7E77487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15253-AB59-43D2-A6B3-6AD16E0E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6E1BA-02E8-45B1-AC42-E09A710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8DDA3-2B56-4AD6-9E30-B144ABB5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B6F72-FAB9-4DBE-97FB-380B4838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12C7E-4264-4C1B-B25C-7D3D8CC1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F98C3-006D-473B-8110-E3C17AB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42269-3D93-4446-AE42-D0A2CFD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FBF12-1A33-4476-91B6-9447A9C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Approver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52D2A-5F8C-4ED0-8FDE-9454C7D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E46AC-EA1A-4125-9907-4138577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F90DA-AA32-4F16-A031-8A084889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Next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89781-1A84-4EF5-9EA8-F43B75A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624F8-5571-409B-BE9F-0A935FF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E5ECE-23E3-41C4-B881-F0936BDA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2C7AC-E51D-49BC-A4A8-97B8BCC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74825-AA39-41CD-ACAC-DFA2E98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5CA29-CE66-476A-AF54-D0605CE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59CAE-0D00-4536-AC9B-BF0CD099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1C86FD-C47F-48B8-9E57-6711411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756B1-BF66-4E19-844A-14FB036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Approver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EE54E6-4125-4074-B450-F73DF0C1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A413E6-438C-4EF7-B1E2-87A5199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10:30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83D8D-A427-445B-86D9-240D128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329BD-B4CA-4ACD-A8A2-D07899E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Disable acct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8232C-3D11-4573-9A29-01337AA6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3D33B2-FC77-406E-804B-5A6424C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auth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D3D8AC-2C39-4392-B1CD-AB8A899D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902337-B9FD-46EC-9A5A-0D4E327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8F7620-F479-4271-A3D8-CC71C10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E4254A-8A06-4DC1-8B53-26221BAB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11:00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FA5860-3CF2-4290-B6DF-D91B6BF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3C1AB8-6017-41B2-95E0-DE2F886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Open PDPA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1B8E37-39FF-4776-934E-4628DF5F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60CAD5-045A-43DE-8C98-F414009C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365BEF-7252-4CFE-B008-804A4718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7BA2D7-ECC4-463A-9403-2D7E75BE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4EB49E-234E-4C44-AE45-E2534C4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B4108D-3125-42CF-A18C-6A2ADCC0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12:00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AE213A-1809-4B7E-AE1D-24AED53B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CAE61B-F5CA-46C2-BEBB-880E06E3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Brief exec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29DAE7-A43D-46A1-BB75-AF12B9F4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AE0CF7-DC14-47E6-A5C2-D6FC060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143039-C899-4AF4-8EEF-3BA93B3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9FA875-1D30-4493-B76E-87FC3DC8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F172F7-4A50-42AF-88ED-A084C54F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089E36-A8A4-41D8-BD14-F36B1BF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E5ED4A-C116-40D8-836E-4F78C55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Separate what is known from what is assumed.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83637F-6DF9-463F-AD9E-4EC9EE7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80258D-3503-486F-94C1-BE324328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48E1FE-C6A4-47B0-AF08-6229CB3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Log what was known, what was assumed, who approved, and what happens next.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E5F692-AA7F-4B4E-8067-8EC8DABA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56A817-0C15-4A44-B26F-CFC2068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Decision logs protect continuity across shifts and support later review.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271132-BC48-4712-AA9D-9FFEDB4D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0924D6-BDD9-45D9-AC65-4515120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They also make executive and legal communication faster and safer.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BA7809-CB66-44C3-A207-6F53C9BB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54A7B1-CB7B-4BC6-871A-4998075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Time + Options + Risk + Rationale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17B500-D501-4912-856E-54894530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107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F6BD69-3453-4B3F-8D78-55C2283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AE30D2-08ED-4DBC-8FCD-9F07A19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080905903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0C7CA2-84F9-4A3D-BC4F-C0B6C574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Crisis command / war room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DFF68-ACE1-4437-86FA-21BFB743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A8C19-6AC3-42A0-AA91-ABB9A537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ADC3E-D889-4C5E-8B1D-96FCF06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C86DD-CDBF-4DA6-95DF-41F09E0C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93A05-1628-48D1-94E6-348B631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0FEED-6C49-4C25-88AF-F6B60090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8953-E676-4743-8553-71BBD65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8E9F9-9092-4900-B0C6-864C9DE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9DF02-616E-4109-9974-D74DB0D7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D56B6-9B76-423F-9BDF-D15D327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16218-1CEB-4E74-A1E8-C7A3CFFD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70F5A-A519-46CF-B2BD-F0C6110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8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6105D-FFE3-436B-A750-F4D4447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31DFD-9162-4E11-8355-FC1F90E0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EE46A-7D39-4B6B-A775-DC722642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307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2C899-87E0-425E-96D8-6CA50FE7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9593E-B840-4498-9392-DDC3F74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38925-55BE-4F2F-A8DC-A57592E8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35" y="2819400"/>
            <a:ext cx="1999178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ED4EE-63AC-41B1-8095-F308CF2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EF472-3733-4770-A882-08AE5272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AAADC-27FC-45C8-AFE5-F665530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8511064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7AF03-4E99-4E02-8420-5F0B59FF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02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2A"/>
                </a:solidFill>
              </a:defRPr>
            </a:pPr>
            <a:r>
              <a:rPr sz="2325" b="1">
                <a:solidFill>
                  <a:srgbClr val="17202A"/>
                </a:solidFill>
              </a:rPr>
              <a:t>Activate when severity, service impact, external pressure, or uncertainty exceeds normal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41C45F-8972-4E55-B656-3A402E2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Facilitator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B52A6-144C-4A7A-8984-D6840B23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272415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041D1-955F-43EA-B834-2BBAC6E9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Name incident commander, scribe, technical lead, business owner, legal/DPO, and communications owner.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851E5-703E-4905-8D1E-2F71A13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3924300"/>
            <a:ext cx="7700486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345F7-A1D4-4C08-A751-CACAE691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727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Use update cadence and decision log to prevent unmanaged parallel work.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0312D-82DC-430F-A27A-EBB4D2C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5124450"/>
            <a:ext cx="7700486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16F3A-292C-48EF-902A-2D6A8F7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95900"/>
            <a:ext cx="727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7C66"/>
                </a:solidFill>
              </a:defRPr>
            </a:pPr>
            <a:r>
              <a:rPr sz="1950" b="1">
                <a:solidFill>
                  <a:srgbClr val="0D7C66"/>
                </a:solidFill>
              </a:rPr>
              <a:t>Ask: what fact would change the decision?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1F859-4EC7-4547-A35F-24A21E8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108 / 142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48D871-2BBB-4602-BDD6-097A542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719BC-E78E-4964-BF19-DAD4EC7F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83442970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D198B9-C1D1-4BD2-96CE-FEEF576C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Closure, PIR, and 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89A2E-441D-484D-BF11-DC1C80AD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8593F-D4BC-4533-8FEF-0192F67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7A548-E204-4B57-8052-1CF6B7F7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DF742-0D6D-4711-86AE-D5F8D3B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D17F8-7362-42C2-9630-FB77100D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D5AAA-E66A-41B2-8CB3-B203AF7C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9CF21-7E3B-4068-A1DF-9626FFF2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B50A6-80FD-4F23-8C26-28210F27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1B200-81E1-4743-B970-B82FA4FE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4B686-2B27-4470-AFEB-51D972FB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Closure needs technical recovery, monitoring exit, communications completion, and outstanding risk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25298-06AE-4258-B6B0-FEDE61E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04A8C-CF55-4356-8549-FC0153D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9DF22-921D-4736-A116-10E7C355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PIR should produce accountable remediation, not just observations.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BBF4A-D429-4570-8B2F-D896778F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27A8F-988A-4502-A99C-048AA64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36288-4506-4A42-9234-01C0C9E5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Recurring issues should move into governance and funding paths.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7E6BB-18D2-4E6D-8D46-04CA971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5287D-0F4D-4CAB-A7FA-2C4D9A3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65430-57D1-4ADB-A698-6E2AE79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F2509-0128-46F1-A69D-07E9D055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4E1BF-B89E-4189-BFA9-6F0E9F5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7D845-1F04-4938-A29E-F5AEEC24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1AE0D-18D2-4036-81EB-C5D530B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3B9E0-98D0-41AF-AA8E-98F45EB2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2669E-EDE7-471F-B485-BC6E9DF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109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95E1E-64F1-4572-B57D-8D24CEC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7F5A9-4777-4F16-8971-61523515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263308291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9E802C-A23D-4358-A8F7-33085A1D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severity matrix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A8E56-78B7-46E4-A4D5-31CB5DF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95689-46B1-41EE-BF34-16A4FB6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14566-01C4-4267-B0A4-05E7A07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9F949-6E5F-4E02-8BC3-90EF9FE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125CC-996D-4062-A3BC-C6C48B2B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2B7B-BBFD-4671-A47A-4C372C52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8F357-AD3A-4F7E-93F1-157EE2F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1518C-9557-4A84-A3D4-2E02D85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CA566-E8B4-4BAF-B1F7-0A594F29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6F3E2-F56D-4045-A927-5DB0FF59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0279B-F244-48B1-A047-B169B011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104BC-D2A3-47E4-9222-83677D3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13D4-A420-4AE0-B707-CC80BD2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8ACCB-1905-4291-90F5-76F6B15B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241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B0BD-0E35-4812-BB6C-04F56BD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85B84-DCBE-4B75-9F03-787F9D5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E9C54-E189-4B45-AB5A-0289C881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E93E5-CEA9-4385-AED8-7CAF7AD0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08FEA-5FA2-4CF4-A84A-A00A5805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Material service/data impact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91172-E839-4709-84C5-ACF7CA6D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681BE-628F-474F-B2A2-2B385044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War 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B93D8-9E05-497D-AFD2-8162830D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9337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EFC77-722B-42E1-9E39-2F4B01ED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480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 + exec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F4E64-A119-45AA-97E5-F57D382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6AF09-8B82-41BB-962D-C5874D7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AB440-4530-4EC2-94E1-9841887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833AD-53ED-49A6-9D66-9FC5B7C1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Confirmed compromise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F551A-B0FB-43E6-B31C-EB6E169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9AD37-5922-47C8-A743-823651A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IR lead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6AA6C-5A45-4D56-91CC-09AC089A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7338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8EB23-74EE-42B9-B8EE-2E3CC79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481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Containment 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F8CD6-3DB4-4D2F-B334-59E955C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58AA4D-C72D-42AE-B9D1-C714B917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1098EB-F2A4-4E3E-8D4B-E6D0F2F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99C158-8BE4-4636-8A0B-060330A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Limited incident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AB10C2-F89F-4713-9729-872660D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C603CA-74A7-4899-95CE-4EE3477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workflow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A1FB79-675F-40FB-90E4-CE0D4B68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E0AFE-80B0-45A8-A896-47083482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648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CDAD99-3E9F-4CFC-8751-55C6B58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CDCEB4-768B-44A8-87BC-0C98A51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BCFEAF-17EF-4D83-99E2-6DF263C9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19CE41-BF19-4D03-B97D-1B371DAC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Low-risk event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77CB29-D06A-4A1E-B440-80AF838F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595783-A7A4-46FF-A10E-44EF688D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Queue handling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4353B9-EE02-46A5-9490-9B6A3232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3340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0BF349-6CD9-4F19-B67A-6457E3E5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4483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Analyst lead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EB8518-BFCE-4DD0-91CA-36CE6D59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110 / 142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5A5689-6FAC-4263-B349-37198BAE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4B44D6-4E85-46B2-95E7-F1FC8640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62865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692225489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9B5C07-1A7A-490D-B043-F3D922B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evidence and decision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A188F-88BA-4231-BE76-A07F76E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0BC65-FFC5-465A-AE9B-3F1509E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35BB9-9C29-40DE-AA4B-27ED8679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B0C72-E275-43D6-97E8-D39C920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CC287-43E1-4CB0-8BCE-047A6E32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8676-8504-44EA-A2DC-304B3D9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F1117-4921-4668-81E2-E7B81BE0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C2834-BE01-4145-9B29-71521EEC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E0358-EE10-4783-84EF-11861C7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B0D37-4129-47B9-AC9E-9898D5F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9C26C-6754-4C3A-90C8-CE580D1E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9BA1B-B361-478C-B3B8-469CCE5A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03F5A-95EC-44C9-890F-BD8FC5B6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4364A-0FF9-44B5-953C-C77AF1E3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958C1-729B-4FFC-9C76-5E8A577E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Timeline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6A89B-97D6-4964-8158-30BC149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042C0-214A-4389-99C8-88730EF9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Proves 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3E63C-17A9-46AC-B971-49CF6D5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7360F-B093-4254-9A8F-6499A6EC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737AF-AEA6-41E3-98EC-E506D941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25B20-07DA-4271-B515-4A3C7DD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Log bundle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3079F-AC45-449F-976D-D91F62B2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11DE4-0ED2-40F8-B668-5E9D099E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Supports analysis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99650-6DB4-415B-B349-245726F8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F36C3-59F7-4A8E-AC52-0616DC62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2CAB6-3B44-4BFD-8E4A-00EF91F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5CE95-DE89-45CE-89D7-6288390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Custody trail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88789-7EB6-4ECA-92D8-6AED96F1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184A34-1E9E-49CE-876E-CA31B16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Protects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0AFAE0-7C89-403B-9062-5385858E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7B2BD9-AC33-4C89-A423-AF93BBE2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AEEA58-2426-426B-9266-1B1642D7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A91B3-9ED5-47EF-B50F-3A25998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Decision log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74ADC0-53BC-4073-B352-06A71213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C20944-8A97-4CA7-BF22-ED47871A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Defends 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3D3CF5-3956-486C-91B4-B59D9B54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2AC155-7D5D-4A99-B155-7FFA86A2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CISO/Legal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81DC0F-288B-4E9D-98CC-53B56579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111 / 142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6A909B-6B15-4192-9698-6C6FE8A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73B7A9-CAE4-4E23-AF83-CE000226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62865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302924638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5D823-8B70-4CB9-AAC8-135AC2E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2A"/>
                </a:solidFill>
              </a:defRPr>
            </a:pPr>
            <a:r>
              <a:rPr sz="3225" b="1">
                <a:solidFill>
                  <a:srgbClr val="17202A"/>
                </a:solidFill>
              </a:rPr>
              <a:t>Workshop block 3 debrief: alert-to-incident operating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238AC-D345-41F1-A01D-F2938040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D1BC6-9880-4476-BB83-13F390D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497C7-E88B-4BDD-94E6-541E1D0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D6C7-3BEC-499C-BC75-0617242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049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8F8FC-05D9-4A66-B1F8-1C14F4A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0261C-E7F6-4E17-B389-B0DD6242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BF6C8-15AA-4466-8E16-0F4231D6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Successful logins and invoice downloads require containment and evidence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DE9D0-4513-4ACB-AAF6-69E4A13A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12A08-9EDC-42D3-876F-E0F4EA6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</a:defRPr>
            </a:pPr>
            <a:r>
              <a:rPr sz="12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2F5DB-F310-4C5B-90BD-F2C9291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CDB06-0160-4F2D-885E-D8628F8D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3B45A-C12A-4B77-9D1F-1C957B47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CCDF7-AA13-4E27-B5D8-8C319ECC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35E3C-B955-4EA9-92E0-C238A024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B9B09-C097-4B77-856E-7D380DC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B9D01-FD8B-445E-B22A-350BC16B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003AF-8128-415E-B0C5-1012B3EC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6D72A-DCD0-4269-A8FA-479A3676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79800-2C3A-4DD7-B9AA-D5849D7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DCC83-0A98-4C62-9D22-BC61B25E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143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7F3E1-F073-4E69-BE77-48EF494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AF5CD-3C3E-4F59-81CE-4351D3A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143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03C0B-9849-4F24-AC33-945E1852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324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8AC68-033E-42E5-89E6-CE32BFC9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196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F2DCD-3683-4B1F-A31F-610E27B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2EFFB-7380-4F32-827C-795E87E8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196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21210-A845-4E86-AA85-93B1727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006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7D690-B676-464E-AD20-4827751C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096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26FB5-BAD2-465C-92EC-E0261E7E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77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05E6D-1688-4B90-90FB-5444675C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096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E9C34-E8F2-4A59-9E5C-642FE067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77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63504A-5063-496E-AA45-29CADF1C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112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E90FB5-A5D0-449F-B36C-342B139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1FBEA8-B653-4DF7-BC78-8E3B7820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26182342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D97DB-98A3-402A-AB07-C8E48979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97067-AA6E-4BED-8A89-0A86663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2318"/>
                </a:solidFill>
              </a:defRPr>
            </a:pPr>
            <a:r>
              <a:rPr sz="2550" b="1">
                <a:solidFill>
                  <a:srgbClr val="B42318"/>
                </a:solidFill>
              </a:rPr>
              <a:t>113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A4E50-1AD8-4998-9BB3-E2EA810C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GOVERN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DDA91-01C3-4E05-91AC-8BB046A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C193C-88DF-4F5D-8A02-00A1E09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Open the right legal checkpoint without turning SOC into Legal.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B57C1-34B0-44AB-9028-0A916C1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4CF77-F908-4E4B-8332-4942A315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7C458-AD5D-4EC6-8249-740D3710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443455-EF61-442E-9102-19155883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Why Thai compliance belongs in SOC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4166A-EB2C-4A9E-A3B8-42F6DAB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9CED2-C7D6-4424-9AAF-1F9AA445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7D4F2-2901-49FC-92B8-2A719724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5BB83-F82C-41A7-BC1D-73ADCAD9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A387C-FD7B-4480-9EA5-07CD97B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5BD4D-D265-4026-8BF5-9FC90542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686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070BE-6B1E-437E-8895-99FC52E0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2EDAE-7BE6-4737-A731-E1C3B279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produces the facts needed for Legal, DPO, CISO, and executives to decide.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A245A-40C6-4C5D-A473-B2D128EA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448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36CD8-6F8C-45B7-9766-6C1B2413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CED29-3B32-42E3-BF41-60C62DF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Compliance handling starts with evidence, classification, and escalation timing.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59DC1-67F7-4680-984D-86DC3120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210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0E530-66B9-412E-B0E7-E36E87E7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36B28-F8B4-4A7D-A0D8-B97425AC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SOC should not give legal advice, but it must open the right checkpoint.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D012A-582F-41E9-96B8-2F4B741F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89585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CA555-6425-4188-91F1-C1B20271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054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BBB286-1B30-4A48-AF95-CB51EDC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0540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5C8F2-4731-4C22-815A-1DFB90CF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3055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113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C6F39-062C-4AAE-B7BD-8E9F65CE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305550"/>
            <a:ext cx="4248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A664B5-F0EA-4671-8151-0B8E25F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30555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752822989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F037A6-C5CB-423B-B151-5A8FA355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PDPA operating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AD66E-AF06-421E-9B17-EFC33B2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778BE-18B9-40F7-8CFD-B53AF04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CAD7A-A11C-4493-B0C5-FCAD692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53834-3382-4D95-A357-8EC11071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282A-08B0-4EFB-A45D-8B46E48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DF05A-BF1C-490B-8A3B-2F44F1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A75F2-BEDC-4F0F-A314-AEAA2AB6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DF4A-33EB-4FB7-823D-6CA89E3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597A4-D006-473E-B357-F7D64A7A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Thai legal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9F13F-E942-40D3-A224-CB915B9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D6E0E-748E-459B-8493-B99E81D8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02C4C-74EB-43FA-8363-75939CB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CA06A-D91F-47E9-BA58-12C40B26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DE743-C6D4-4481-BC23-985A91B1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67449-6D5B-4961-9FCA-072D57D2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77689-2516-4B62-BBE4-3853C8C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SOC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24FD5-5954-49C3-A063-EA65AB19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333AC-1E2D-4688-A342-6810CB6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AD3D0-95BE-463C-BD51-56C103E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B76DB-4977-4330-A06F-133171A8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AEDAB-9BA3-485B-84C2-87D30AE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FD560-7E20-457A-9879-910063C6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4B81B-C973-40BC-8242-3D2A63AA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B2F3F-1321-4FB9-A8EE-E46E051C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93605-9ACB-4662-AD61-2496A51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77737-6C65-45C7-A49D-67B91CC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FF88F-AE35-40AC-B408-B2451296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E76AF-DF8F-4F8D-A821-8F84BCE1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E87635-D409-4F57-BF22-61D29CB6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68A7C-C994-4740-91C7-46EDFC7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CC8302-F9D4-47DA-834E-0FFFB599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0D1417-2E06-45EB-80F9-5C30CAC5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AA72A-AA58-4910-A73B-C136F994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C852E-376E-43BB-B061-76969344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D9377-C0C0-4F6C-8DD7-2087638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ACB8B2-82FA-4C27-9FDC-785A03D0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00B6B7-8637-436F-9C54-32DF8254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7E4FCA-BBB4-497C-9646-7F8983D5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81CB5F-FB9A-4527-9FC6-44932D41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0F0C27-B668-4CD4-AE8A-F287124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11C5EF-8AE0-4A29-BF70-D5EA0F96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Crime 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9C9519-B46B-4F55-9B76-A3C35E04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405F7D-941F-481C-9E54-1E675AFE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Traffic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1763E-B1F9-4D9F-9E5F-B0459D4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828218-6EE2-43BC-ABBC-CD463DF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3F3448-B320-4A42-A16D-AEA3AD00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0FF17-613E-4024-830E-BC57BD9B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Report?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AEB54F-A548-4316-9740-D167408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1CBF1E-654A-456D-A496-B799737C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Cyber 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00F257-F52D-49D8-8093-DFE4486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B743C5-B9E6-4EB4-8C47-024A56E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1FD554-4CB9-4DF1-91D1-EC979A0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59DB2C-9C7F-431C-9E00-7087E4A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DFFD71-7636-402C-93DD-F1EE14A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F29611-A344-4E13-A966-91EE42F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Coordinate?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D80873-9076-47B8-A01F-D459549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75315D-2775-416E-A061-480A6D96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386062-B982-4AA6-877C-20254C36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SOC opens the checkpoint; Legal/DPO/CISO decides notification posture.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34E4CE-24FD-4FC4-83AA-BCC93095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18FB0D-A101-4EF1-9D0F-C6CFB139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9C0B92-31DE-4819-9921-A7875B9A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when personal data or sensitive personal data may be exposed, altered, destroyed, or accessed.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D6BBB4-F757-4082-9D5F-3B49625C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1E81EE-317E-4974-A2F5-E713F20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Preserve affected systems, data types, subject estimate, timeline, and containment state.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DBDCF8-5812-4150-A3B2-85A0CA9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D63BBE-57AA-440B-9542-D81D6315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DPO/Legal decides notification posture; SOC supplies evidence.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EBE794-62E6-447E-A476-E0727A6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ABE9CC-F41E-4D1C-97A1-DFBE748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PDPA + Computer Crime + Cybersecurity + E-records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C2FB80-D70C-412A-A8DA-98A9283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114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D8D06B-C57B-4991-8FAC-0EF03C3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721118-0098-40B3-A574-63A92430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138969296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AA22F6-58D1-45B8-8CA6-83EC347E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Computer-Related Crime Act operating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2CEE7-0220-41B5-87BC-B7B48DBF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04F9A-8969-42CE-813B-80672FA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B33C4-2A96-45C0-812B-2149A8CB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E4728-D1B1-4387-9C4F-BE4C1DA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7CB17-DE7E-43C1-B2E7-FAE522A5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1F472-F952-44F0-BAD1-2D3A9391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7528F-7200-4464-9A6C-1577C57C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03F83-AFE8-4C95-B5E3-49F6FC2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CFE3E-5672-4D3A-B364-8EEB603B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Thai legal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8F60B-5696-47E1-A890-5B3DA80E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90D86-FE1E-4240-9C24-FF51B943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58028-C8EF-4768-A54A-8F55C275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04AAE-6A27-40DD-9828-06FBC29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96632-0758-4360-847C-8B2266A1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A19EE-E90C-40D2-8593-74708CCC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AF614-DDAD-4532-B83A-7947ED0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SOC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A4BAF-4323-429C-BE1F-191BD30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0206C-676F-4B66-BDC2-D4109C82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C3BEB-CB61-423E-A680-936C133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84762-7A8F-42DC-A5DF-2B0B62E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F3D62-E55C-4C47-9658-BED4D78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1A0F8-6930-4841-882B-70265DE6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6AB17-C11C-416C-9C81-FF0997C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2DB02-3F50-4BD5-991A-7FAE2F45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BA58B-5850-46CB-A16D-2CBF2655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1C65DF-E96A-4779-8842-7D85026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858F0-0452-4F1C-B0B6-7B6518D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9161C-8CD1-4327-AB3E-7393D17A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D490D-96EB-444D-9A86-3D15AF81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A89C6-B0CE-4883-B934-B92BFFCA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2D177-3231-4A9E-B301-71FE6DF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8CB9D-9F32-493E-9AAF-D1B1A0F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D0207-B271-4373-8C07-ED092B50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90DCFD-6E8E-474C-83D9-B897833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A2443-5B08-4764-87C2-E518E896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FF9F9C-7F41-4C2E-B370-FA35CB3D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ABEC25-C49C-45DF-8E61-1FD24330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738B98-80CA-44EE-8FC0-75BBF759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599C2A-CFCC-47EF-A48B-97F4A43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2EE31B-2914-4EC8-AA36-6FE96297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00A9E0-F0D4-4350-9686-F07313D8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Crime 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05EFD2-C7FC-4B17-BED0-6B0FC4A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4EBD88-3B12-4821-96EE-10F6FE2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Traffic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EB870F-5E06-4E34-AEA4-23803E48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AB12F5-B827-43AD-90FE-C2A3BFA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034E57-42E3-4930-8C2A-D80C36A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0DE739-1436-4CEC-BF91-D98BA965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Report?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7258DF-747C-4AE3-B6FF-0429DBC6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AF0F7A-4BD4-4443-98AA-C87937C4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Cyber 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BDEE82-B35B-4379-94D8-1C3C876F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0FFF06-A965-432A-95CD-F764451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3275EF-E240-4DB3-800F-5495E1A7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28FC3C-65A2-4FF0-9D2E-B7261F56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DF6192-1360-494C-820B-62243EDD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06089D-E628-412E-8F39-9CB14E0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Coordinate?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541A5C-47CD-46BE-A47D-305B636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08457D-B954-433F-A432-63E0142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4ABDBE-8F67-444E-963A-83F1B90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SOC opens the checkpoint; Legal/DPO/CISO decides notification posture.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859753-26E8-4D05-A0BB-C2CBDAD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3F5EEE-AD17-45C1-BE31-246D5FDF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043A72-4C69-493B-98BE-63536CA8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when unauthorized access, data alteration, malicious tooling, disruption, or traffic-data requests are involved.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D2A3DB-7CA4-4FA5-9FB3-C21BAE34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059252-8628-4B79-95E4-BD84A0C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Preserve authentication, network, endpoint, application, and traffic logs.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06475C-BDB6-4F11-8D56-1D8476CD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45891E-278F-4F0B-8014-A789225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Legal decides law-enforcement or authority response path.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E37EB0-EA44-4383-90AC-8D0EE51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7ED68A-6195-4D5D-9285-702A6B8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PDPA + Computer Crime + Cybersecurity + E-records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30CBDE-E2DA-481A-B25D-FE441C5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115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FE0EF3-699F-4846-8B07-8803E14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AD43A1-F252-41D0-95E5-F357C07B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543933285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476B05-4C46-467F-AE13-34DFF7CC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Cybersecurity Act operating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D2B28-B030-403C-A76D-27BB4BDD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080B7-E599-448F-AEB7-29F6409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70144-9874-4736-82B9-81C91AC0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294A9-D2C9-4D55-BCF8-32E7FDDB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B7EB5-589F-4E61-8DCE-45D44A1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8ABAC-26E5-4BE8-8F5F-F56936F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E9757-4800-4800-BA90-92B65D61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A14AC-2331-4840-9ADE-DE81EA0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421CD-EBD8-4424-BE2C-194DC26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Thai legal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24D11-E4BC-48D1-AC9D-D7E45276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A695-3834-4A67-B882-F108A9B8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A2C25-93B9-479A-B88D-DEDB3060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6158B-A2C3-4EE6-A456-E7673BE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CB66E-AC80-49F4-A9D3-A89A9E33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1DDFB-9007-4B88-A4AF-D0928EA2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C9A2E-DBA6-4BC8-B7A7-E92621B5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SOC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E8580-4153-4DBB-8B8F-2FBD1AFE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C7075-E305-4F2E-8EDA-76738BA9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A4C06-3919-48F7-ABED-4F311066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94705-7724-487B-A377-3776B41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701EB-280F-43A2-8794-7ACA32CC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90E52-00E9-4503-93DF-B434DC41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E85BA-BA5F-4A7C-BCD9-E9FC680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23C91-907D-4CFD-B72A-2619F256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A5475-FFAC-4D51-80E1-2CD260C5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FC9C0-06D3-48DA-A849-A94BDC4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C8459-A2EA-4818-A006-48B6CE2F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5241C-E55E-4DFE-94FE-2DF6198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B371ED-33B8-4D90-A784-9BCB81CA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1A1F5-8EB0-48AD-BC1B-84B9DA58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D6FD7-7EB7-49D0-8512-357AA31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69429-D24E-44B5-8757-D62EEC9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16DD4-5C43-4BC1-A12E-D1071393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BB6701-885C-4557-B87F-B7407AB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0D6665-8B19-42D2-AF27-C35B3E57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265205-E4F2-4DE4-99CA-70CA2E4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7B7D95-1CB2-42EF-B395-301FE505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8872D-BF30-40BA-8886-1F34C1F0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2E83D-B285-4F14-927D-6ED14F0A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6DA7C1-ABD0-4B48-BAEC-FD6487C4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613768-002C-450E-BBAF-69BF4F7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Crime 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51A37-7F75-447C-9FE2-8420C8DE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ADCE80-C596-42FE-B7A9-B508DD6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Traffic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A728F2-A822-4C52-80F6-ACD20433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A8EF4A-0A4A-41E7-A347-B9B147E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5E419D-8DB6-40AF-BD84-CA0B706C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7CA4DD-E66E-42C5-B2C8-CDD263D3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Report?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48A86-616D-4153-85D2-327B8DB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C730A4-D44B-4492-AD6F-68E3C59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Cyber 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F38DC-A041-4F18-B763-0EFC8FC2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60F2E8-12DB-4B27-A3D8-E480F9E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B0727D-CFD7-484E-AD9B-96F99F44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68CF21-A0F6-4FFE-8224-63D7B52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0A0FBA-7AB7-403E-ADD7-BB83595F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E3B53D-8E4B-4A5F-9415-E969169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Coordinate?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5AAB01-B228-481E-BF2B-9FA34B04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B075C5-4F19-40A5-82E6-28B6F144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E124DE-AF2D-4831-8529-989A1B14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SOC opens the checkpoint; Legal/DPO/CISO decides notification posture.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2AF3A5-10DA-419C-9C32-5564FD58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7060F2-9841-43CA-856A-A1CCB9E9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346379-649B-45C2-99D2-461209CA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when a cyber threat may affect critical service, public-facing service, or public safety.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F31F57-3997-4854-8A3E-E745F70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8D51E1-FB22-439A-AFEB-19287A0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Prepare service impact, downtime, affected population, containment, and recovery evidence.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8197C2-3073-4828-B8A9-718342C1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A51234-5E84-4861-8B93-1D483B30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CISO coordinates executive, regulator, NCSA, or sector path as needed.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5AD854-D14A-4EC8-AE03-821FFDB2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D4553D-5387-4188-ACCA-F773A4E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PDPA + Computer Crime + Cybersecurity + E-records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07D974-B91E-4745-96E2-6E74D51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116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9D4C64-0B57-462B-A107-06E03354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86886FF-96CC-4A90-B5F2-C279D5F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2021695949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5B8DE9-85EC-4F70-B2A7-BC85C56A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Electronic Transactions Act and evidentiary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172F8-F68E-4C3C-A690-693671E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5BD62-8E42-4072-BFD5-4E7C994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C057A-8063-4479-A756-8948296F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D800-120E-4E05-BA29-3E2B318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9A37B-775F-4103-B2AD-CAF06FBA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1571D-615D-47B6-8FF6-A4C8774A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62DD1-303F-4A9C-A313-DDE0A25F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9AC3C-8904-49D1-BC7B-DBAC5CD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30ABB-78AF-4BFF-B3F8-0480825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Thai legal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DE547-EDB9-40E6-991A-3B69C65E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08BC1-7970-4352-B21D-F423924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92DA8-F911-4B92-BABC-624243CE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59267-11E9-47A1-84C3-F19C29D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440E8-D592-4DC4-8110-4CA9B5B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68269-0DBD-4DCC-81AC-E257649B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AC545-C324-4358-809A-A672F31F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SOC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917EC-40A7-4B2A-8922-BC3F316D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60ED8-069B-48BA-A44F-FD672B1A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3E6BA-FB04-4610-9D6E-64CAD11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6401F-B8F1-44E5-9DC2-193C588A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2E9A3-C28A-4221-9258-30EA588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AC826-575D-48EA-97F0-DC47097F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97A2C-AC3C-46AE-830F-F560C9D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5A058-21B5-4181-8142-0A3E7F6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6CA7E-5436-48EF-B207-3C8A32DB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69883-036B-4ED5-9885-BE321B34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29816-8534-4031-A2A8-93CBF35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3688A-B55D-45DD-8957-36B8A1B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C7826-D13C-4040-99A3-8584154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02D68-8A23-4857-AC36-B8D97756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23AE2-3367-4B04-A891-F985263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D90E4-3453-437A-9378-EBC63A13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A9079-4CBC-495B-9B60-7C65EEA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6D401-4427-43F6-98D1-4CDA2A62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F219FE-B502-461D-9219-FD4685E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22FBFC-16CC-4FEF-98C9-111F86E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9052A8-ABEC-46DC-9078-9A8AAC81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F093D2-FF9E-412B-8CBC-7CA0656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96F336-3377-4183-80AE-08B30971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23B61C-1D80-431F-8721-2635637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771213-D66E-430F-872C-03043F27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Crime 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139583-C618-4F6C-9E1A-C100161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F29CE8-06D9-4328-B9AD-F4A0FAF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Traffic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A77393-91ED-470D-A3C7-0A7EA39C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E3DD4D-2BCA-493B-A22E-0105EA38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FD84C9-9C73-4FF9-AD5F-88B09E7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6B3034-339D-4896-AD1B-1CAC585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Report?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401177-FC21-4D7E-8728-8670C084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8AA20E-AC41-4619-89A4-5F1134EA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Cyber 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73CC8A-0E77-45FA-A7E0-267F7D55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036C02-F3DB-4976-9500-07A9A7F9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905B8E-F1F9-4F47-B27A-43A97C2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34CE4-7D1A-4A42-B706-AA23D24D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4D1E74-499B-48D7-ABD8-D6207370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4F1818-61F0-4F16-B6FE-70A37492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Coordinate?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2EB0F0-2FCD-41DB-B0BD-5F5132D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CD1AD0-EED7-412B-9FC8-C98C83CD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BD3C8A-B77D-4405-8721-B41AE30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SOC opens the checkpoint; Legal/DPO/CISO decides notification posture.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3B0B40-9BC9-4648-9948-08B4074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2CF469-CB85-4365-8700-F6A193F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1846FD-4674-4301-AFEA-126DE46C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Electronic records may need integrity, authenticity, time source, and system-of-record proof.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E69A3B-2212-4F52-BB25-456CBD5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53933E-FB79-4C68-8A88-5BB8F12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Preserve approval trails, digital messages, logs, and chain of custody.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842501-0495-4276-B05A-4306AF8A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838495-2BB2-422D-8D59-49B4DFF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Do not alter or delete records that may support legal or regulator review.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C19B9F-BB41-47D6-9FB8-3C8AAB6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AF012C-EEE7-45E6-86CC-ECB897CE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PDPA + Computer Crime + Cybersecurity + E-records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488B69-906C-4261-947E-B9A5B24D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117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3B4BF5-AFA1-46EA-B817-159C4027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B509B5-B51D-4126-B585-2B87665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184974019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CC63F3-11DA-494E-978F-703DD98B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NCSA / ThaiCERT coordination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E9669-D148-4B8D-B505-2A56FEC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2338E-1B8A-4C84-A211-0A3E2A54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B2B02-075F-466B-A053-F1C1D33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909DF-412D-487A-B114-92260CF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6B039-62B3-4D44-B030-E75B73F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C28A1-FEFD-4D99-B8C4-B816863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9DF45-0390-454C-8A05-EEBCD8AC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0CDAD-E2F6-4276-88D6-C024A2F0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F8FF0-F412-48C5-8574-90F408C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Thai legal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6197A-5AB7-4F44-B595-3299BB6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AC27F-FBA7-4256-BD10-9E7D611D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084D8-5F55-4CC9-853A-96532DE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64F72-7968-41FA-B6E6-2FD4F859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C2F6D-8562-4707-8382-44F89075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B83DF-C377-4810-879A-6318B43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A51AD-C18E-4FD7-AEE0-9C8E98A9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SOC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F590A-0AB7-4497-AE2E-DAA6566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B48BF-2A4D-4E57-94E5-C3B2B863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08F41-D92F-41D1-BE18-0A68E872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66B1C-7EF5-4BA9-BF0B-9FFADBA5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CB9F0-1503-4437-8FD0-5F1D4EB4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7FC45-D747-4C2F-B7A4-6DB99E08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C7841-5B99-433E-A0F8-2878681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5FCEF-8ABF-4E6B-A6AC-3EE6685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5DBCE-043E-4DDE-8BE4-EA461F0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0957A-A081-4EA2-8129-F0E17E1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74F90-B828-4C08-842D-F39C33C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71E34-9AC5-47FA-A9FD-78ACF479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B4DD7-897C-4AD2-9CED-71D49AEC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ECF4A2-28C6-4B4D-9628-08ECC095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F650E7-BD76-4C5D-9FA0-D1CE32C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D8D7A-E8C0-42D7-8FD2-BF7D962F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4F1AA1-BBFB-4D94-9C93-1F0995A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586F53-BF94-4F02-8E7F-0367ECB9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0A3D60-DE3D-4033-BB4C-2D631160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98785-5C7B-4491-BE9F-753BDB77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ACE43-F03F-433B-AF06-48320797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6DEA66-B9FB-4713-8608-013259D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E04AE5-8E3B-410F-850C-73CA1682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C4903-B40B-49F2-B985-E6CB059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F66866-02D6-4D6F-BE79-2EB09EB5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Crime 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3141E2-EA0E-470F-A1E7-3F2443B5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38166C-318C-4016-9DEA-2FBAF13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Traffic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027B30-EDA7-46F0-8324-5160372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03B401-41A2-4499-8B8A-FAB836C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A19AF3-5103-48E3-B4D3-64C0258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3D1C62-8BAE-4ABF-8F31-09E76657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Report?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8FCC60-93C0-4A38-BCFE-A6CA0D1E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F16398-E4CA-4E8C-BBEA-4C358A10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Cyber 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97366F-46AE-472C-ADEB-B33AF5C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16A80B-41AD-441E-B7C6-46EAAD3A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769F48-9303-441B-9DBE-E5A4B835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B00C55-A9BD-48B0-A43C-52405273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606CD-63B9-4988-ABC8-62AF2B5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A00455-9216-4BA1-AC10-ED504511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Coordinate?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7FECB0-C1BB-436F-B71B-9B620270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E1658C-4D9B-42C0-84D0-CF2E46F0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7EEEEB-DA1C-4241-8A65-037F3B55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SOC opens the checkpoint; Legal/DPO/CISO decides notification posture.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125AF3-996C-4C44-A537-B1FD0FF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38FB78-8A1E-4F84-ACE0-E0CE2BF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804BE7-1B7D-4474-9419-2306B5F1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Use when national or sectoral coordination, advisory response, IOC sharing, or major incident support is needed.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7E4DF0-5B17-4F92-AEB8-1CA7AF2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7B0B58-B835-4F3A-A4B2-EA01E264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Prepare sanitized IOC package, confidence, observed scope, and sharing approval.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8EC3F8-DFE2-4815-B593-839F6D40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81EF0A-9969-4D5E-92AE-4ACF98CD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CISO and Legal approve external sharing and response content.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F2CD80-3B6F-4A18-A9C7-E255180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9D47778-2D6E-4305-9962-24F8D4F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PDPA + Computer Crime + Cybersecurity + E-records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4C203F-5FA7-4575-98DB-A0C6B1E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118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8F6A3A-6145-4AE7-A56F-40A389C2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2CB1B0-73DE-4EA0-93F2-1C243681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532019658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DCC01-F8D4-4212-8E2A-B187E609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Thai legal trigger-to-action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C55EA-C5F7-490E-887D-F2291926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BE6D1-F759-4C9F-8AB0-9A3FCBE4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AD086-82CE-48C6-9DA0-C1A4E83C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0CDEF-3C5C-4458-B1EA-578459CF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5C84A-1982-4BF8-928C-91EF1CC7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D66A-9381-4B7F-A868-AD62CC7D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ED3AB-9CFC-461F-B778-38CA856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CCB34-B31B-4D07-B967-9D6D851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34618-B89D-4BDC-94FC-08F8D05B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Thai legal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B4C9F-CE7E-41B8-8521-5D15179C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8D134-06C5-47A3-8F63-AA4752F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4EABF-5059-4FB5-BB70-BDA1062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96D9A-FA46-4E3E-8239-57DDFA5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A9B58-8689-4284-84DE-26D605C0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9BFA4-6368-477A-A5A2-71B59580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E2AEA-15D1-40BB-9944-CA87C7D2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SOC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FF066-1D2E-4BC5-9B1C-BC67CD0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BDD49-9D95-488F-A46F-2EFC514D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8AB43-02A4-4B01-ABC8-ED5B193B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5A757-0ED2-4BDC-84AB-899DD161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11700-38FE-46D0-9F97-4B636F47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A6192-FE12-4D3B-906C-FDB9A39C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FA5BC-5EAB-482C-8FD8-7F64DC03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FA99E-CA02-414E-A6E2-1E97ED1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20F48-1465-4BBC-8E0F-1F70C243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CECAA-BF41-42CC-B642-3FC583B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5FA38-E483-4CAE-A98E-98BB1E08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SOC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FCAD8-BD01-4E76-9555-7634A01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C5C16F-9C19-433E-B2D1-2E3B520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71DD5-3326-4F7F-80C6-0E6ABB3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37606-D36F-488C-96EA-413C88E8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1DC67-EB4E-414D-AA8B-5642CA4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D226D2-5587-4E09-99D2-3687A96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839CCF-57BB-4863-A106-1A76CA5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F3215-6A58-478E-AB26-FC90DC02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68B72-C93D-4869-8BF5-857E193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AC7A4-EC57-42C7-8C56-D0F3A77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6A5830-7F42-4D28-9E3A-5CE09467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9742A6-7075-4293-9180-00AA13D8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Notify?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963A75-BA2D-4D4C-9EC5-D13593F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E5905-09DE-43A6-9389-3BDF869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Crime 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A313B3-37C7-4DEC-8F6D-EE7C5EAF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DC1E8C-BBBD-4E0D-B6BF-6DC0017C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Traffic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B83EAF-F9E4-4E7D-9FBB-4CD156D5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A7EAD9-4DCA-419C-B54D-681ADE8A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56DFCC-9E80-4272-B2B9-1BE708C7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81E35E-67AB-45A5-A0F0-5ACF0791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Report?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CC36A7-F6B3-4726-BAE8-E3C8AD10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60F5C8-E58F-4DF2-B0AF-1E0813D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Cyber 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5CF8DC-45FB-411E-8C0F-4795FE88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6550F2-A1B7-4420-B569-87F88BAF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C31C32-7C00-4A94-9550-0619EF1E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2E2B1E-C47C-439B-AB37-3FE8970C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AF0273-8018-4ADB-A96B-C84E1E3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8A0109-8C75-4A76-8B40-E8937D8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Coordinate?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414BEA-F7BD-4BF2-BFC5-97F047D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00D1FE-D34C-4604-9905-10E3144F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1D0E6A-2F08-4917-AD5E-548DD58E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SOC opens the checkpoint; Legal/DPO/CISO decides notification posture.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84828D-9A8D-4205-9935-BFC42F3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2DD040-BF86-4A64-956B-4BD3002A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888373-5172-4446-B8FA-EFB7A4DD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Trigger identifies whether privacy, computer crime, cybersecurity, electronic evidence, or coordination path opens.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ED86E8-555B-40F1-B8FE-7B058516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44FD31-A329-49C3-9A8A-EF74EAA9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SOC action preserves evidence and starts decision logging.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BC1E53-1F09-448C-A7CB-17752171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162DE2-C53C-4EA1-B934-657FA01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Owner and notification checkpoint prevent unmanaged external communication.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C1686D-D790-4058-951C-0794817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F355CB-21A4-40BA-8BF9-B3D4F5B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PDPA + Computer Crime + Cybersecurity + E-records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4A9988-71A2-413C-8C99-EB79E852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119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0EE3AD-7AA7-4290-B444-4A8B785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46FDA0-B2B4-423C-9B02-2271BF1E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056410181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8CCFC8-81A1-4692-B9DE-BF37D4CD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Notification decision and evidence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7A4E7-0F65-4803-8AFD-4B1D541C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1320D-75BC-4777-9593-60D9E25A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A6E1C-FE46-460D-A650-1AD4A83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F95C3-D348-4047-8D8A-6B28E58A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CBFF7-AC40-4893-BB8E-48008DA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80A6-B6F5-4C94-A24C-BD71FF14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693E9-846B-4B3D-BAB6-B7B8603F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A14BA-384E-485F-979F-E693BAE2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B9136-8D70-4B8B-972C-A9E32B1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Evidence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5C84E-36E8-40C6-A1AD-E9A1513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F155F-DFE2-4AF6-98E4-EAC64EA3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7B589-6A2B-42B9-9AD0-DEC3FB8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0BE87-D037-40B6-A75C-852FF38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F762-F828-4247-9AF9-7BA9F0E6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FE1E0-8E53-4767-85EC-B442D54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0DD57-B027-4715-8DA4-0BC2AE6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79CA6-77C4-4D45-9094-05E92D5F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2268C-ED8F-4FDC-8B9A-C2219DC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811D9-00AC-4AFD-A824-B20A0941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639BF-E792-4E5B-88E2-791640BC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82699-04FC-49CD-B4F4-4815A0F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39746-E320-409C-B770-DE2B507A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Custody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43CEC-FFB3-4377-AF3D-BEBCA0C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F1FBD-B7D1-4399-9AE0-A1063541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0535-845F-4D92-B58C-07A24F3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EE0F2-CD1E-451B-B905-C9BF67E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C8BF3-8998-435E-972C-A210DB93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80889-2C6F-4E41-8586-90F36DE6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9081FB-5C41-4B86-8F52-7C771454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D9594-0835-42B5-B96E-01DB8925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051FA-5C3E-4A9A-994A-3B9B64D9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129867-15A4-47F0-B357-2DDF1C6A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2BB0F-C86C-431D-93EE-4495D98D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Timeline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17676-DE26-4825-B63E-E390CB31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37847E-FBB2-4F28-AFB9-0B8D3AB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07F05F-4593-49B4-8660-56D7F1E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F026F-41A6-485A-8490-D47E8297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Versioned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81A781-AC04-4FD6-95DB-85D3C57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3BEB0F-4842-43F1-ABB9-55D7237B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209185-C51E-4C81-8C97-02951817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68E966-2151-4E34-BBE3-3D6F5400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Logs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CD0F46-D0C4-4B81-B625-C381A168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E4E2A9-6578-47CD-8DF0-A78B4D9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SIEM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7EA944-251B-4C15-B756-1B0A6F6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8B1E80-47A1-44AD-AE75-4902DDF7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Retained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A74BB1-40A5-40E3-8246-3B02677C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2CAC94-E893-439E-AE3F-B4720AE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D96D0E-56A9-4F68-AA30-078DFCD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874DD4-2C59-47BD-9E2B-617604BC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Artifact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D75D37-AD32-4F91-997D-FA9BD8A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CB4E0E-3069-490C-80E8-AF5D9710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Endpoint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71597F-3A00-429A-A618-2A6F595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F215BA-E656-4BD9-96FE-DCB8F98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Hashed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7F942D-ACB0-40A4-8C94-96A1E8DE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212FB4-FAF6-4D42-89BA-7782E791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5A3A46-0BCB-4A65-9E17-F622D04C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63025-F0CD-49D5-91C5-2DDECC74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6DE0E0-BBF5-4D51-92E7-0252C4FF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Evidence quality decides whether legal and executive decisions can be defended.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A2E7A1-1A24-437E-AB57-35A1F264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04BC80-D71D-4C0C-88A1-35BD200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A4CBCE-70EE-4DD7-9A23-07270451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 states notify, defer, or not required, with approver and next review time.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B066FF-0EB1-4935-87AA-743A0E3F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BF6294-B53E-4457-8805-07DADC12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Evidence package includes timeline, affected systems, data impact, logs, chain of custody, and draft message.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0A6D98-44D8-44F8-B8F1-61395A0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C0C5E0-1EDC-4520-9CF0-86C5ADA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Facts and assumptions must stay separate.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314FF7-3988-44C8-B2BF-E12B191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42117C-E6FF-458C-8D2B-0E2B3950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Source + Hash + Collector + Retention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CF1616-10A7-4F13-8988-8C2866A7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120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EE2817-5FB5-4656-810E-4D23CF3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8A9214-BF0A-48F5-BB94-D8F1F72F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203160131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95F1B1-2CBD-43BA-9CFA-7ED4865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Thai legal escalation template in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6336C-E3FD-4AC2-95BC-73A9246D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A462D-BED4-4888-B83A-A716F279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4BC7B-CE51-41DC-83CB-4C400AAE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F002B-36A7-4011-B80B-766F710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2429A-9368-4CB9-A11A-4A4D7373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5194E-C257-4554-8DF1-2B985630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982C3-93F4-472C-89CA-0F4A159C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2876C-8C7C-4354-8F9A-5063404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108D5-46C6-4129-A771-03FA15C6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D59FC-9CD8-40FB-8A67-DEF56C55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E9F11-28C2-46A0-9695-EC0D61B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SOC provides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3108B-45A4-4D13-A66E-1C9DC6E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627B-D2C3-49AB-953A-F8B8D72F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E721F-D1E4-47B1-80E1-10CD42F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38772-BEF4-4F61-B5C9-C9753495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F1E47-33E3-4249-AF97-9450348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905ED-B9B8-4402-BA64-D671D42B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Data impact 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A4ECC-1194-4E5F-AC38-41FE007E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55C21-7791-4BD5-A049-3CA22530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DPO/Legal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29A25-59EC-4DCB-AE26-32E7A0FC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563B0-E1E1-44FA-B06A-EFA5FA47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Computer Crime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A402E-31A0-4AD3-B10D-243B29A5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4CEFE-A583-46A5-B7AE-743182B0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Traffic/access logs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9E5E4-EB98-4E6F-9022-C5EF6D40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0ED9D-7D58-4B38-9986-6FF83656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Legal/CISO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BD6F4-F3A3-4EFF-8136-2BD3F320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91747-F30C-4487-BA0B-330B3AB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Cybersecurity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7D723-737C-4228-A74D-1CEDF79C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AEB06-8B61-4934-94DE-FAA4596C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615EAF-1089-41C9-82D0-656394C6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88D6F-6282-4628-98F4-DE5BFC0F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4DC99-BB3C-418D-BEF4-D1F1361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F1F70E-6D3A-4544-BEE1-1EF75B75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Electronic records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7A6B5C-8450-4548-83F0-6EDA0470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70F0E-86CA-41E6-ADFB-50CDD5D2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Integrity/custody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17BED-5440-4FCB-862D-D90FA788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E816F6-34D5-4F81-8BEA-598529F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Legal/IR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1662FD-E5E9-460D-9F18-3B66E3B7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121 / 142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BB2188-0867-47E5-A383-BAA6BA5C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897F76-753B-431D-9CEB-E47874E2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2865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391606358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F6F902-350D-40A2-A8DC-27779E1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Workshop: legal-impact and escalation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2E939-07FF-4153-BEB1-5D9B615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1B5F3-67A9-43D7-976A-3FB88B4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367FA-7E20-4D8F-B172-9FE476E4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0339-DD7A-4660-92B8-36B34C52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D12F0-3F2F-466F-A5C2-08EABDB8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35648-67E8-4BDB-B48A-7CD0916E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8089D-D58B-4D4B-ABFA-960E7A75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Screenshots appear on social media; legal-impact checkpoints are opened.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58D50-5E95-49E9-B606-D33F180C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9551D-9F5F-425D-9B61-8AC6C3F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DBD92-32F4-4D72-B4D3-27D9DEB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C480F-1DD3-4461-AE52-AE4FE89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EF8FD-12FB-440D-9077-AF06AC20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24391-87D4-41D6-8026-6600DA62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94BEB-65FB-47FA-9D46-E7AE773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8BE3B-E689-4E7A-97AF-C2DB38F4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102C4-D617-4431-87C5-3E57B23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4C4D6-FD18-4B61-8F3B-BDC2C6E5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1068F-9C3F-461E-9A0C-098684B3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40639-80CB-430F-901B-6FEB1DA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7E9F3-D39B-4933-AA04-5DB3F41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19923-E4CE-4140-9A1B-C1BF81F3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BE5C1-08D1-448C-8CDC-6FFF062D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8EC81-D623-4E55-91B8-FD51A723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08D06-A54D-4E15-9146-512E33FA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83607-4618-4E79-99E4-4EA0DF0B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640AB-4D64-4603-A1BF-4C539524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545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68EB1-1336-4F9D-8487-28CC8D42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196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15F97-A3A8-4B2E-889E-36066262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8D6FD-9A13-49FA-BE41-7EFA6C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3639D-8B7A-4425-A8D8-7757088A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0612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BEACF-AB4D-42D4-9D45-4902ABF8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390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D9782-4254-41BA-BBCD-0F35062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122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7D9B5-2975-429F-9907-E1C2DBA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66FD35-9A9D-47F0-A338-1EC88C29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721243519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256613-8071-4039-BEA8-2C2EFA4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Incident report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A0F1D-CEA8-4B82-A289-1A52A8D7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CD747-BD54-4F95-AD67-773030E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46193-6383-49D7-9760-C1E3AE4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11512-D094-4A58-95E1-620C956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9394-8375-4D1F-90D5-DE06E80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9BEF4-6BBF-4B0D-8381-A4FFFE2E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CDAD8-6D01-48D7-B5DC-F10AC226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49411-340A-42CE-8CCA-E77F03C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D5160-8B38-4D79-AC6F-13680D5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Executive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C92C9-F25E-4700-8245-3529EF54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CE336-F019-46CD-AC33-61AA9299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B3518-BDF8-485A-B974-CE6EFB8E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990E9-BE1C-4CF8-BCF9-F83AB64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D9294-1A92-4221-94B1-3EF4858A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C9310-819E-4D30-A9AF-70263D53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BF22E-DB33-436E-BD3A-9BD445F0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35FB2-C0CC-43CD-88C6-BCF87B8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CB2B6-3F98-4FAA-B530-C2FFA445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C6589-1FE9-4BB4-BBB4-00D2AAF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B0F8D-871C-4C3F-AE20-EE066F16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9D9BF-475E-421F-852E-A1BB2EEE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10364-C00F-4A5E-ABA4-2CC9CAD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4C946-939A-45C1-928B-FEAF1F8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AECBF-F84B-4185-82C5-7C7D924A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6B935-4EB3-4D23-A1E5-5F1D55B4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1D95E7-F073-45CB-A9FE-F143724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9E502-37B5-43DD-9BC9-28B30FED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134FE1-0DE1-43FB-92FE-0DD3BE5D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9705EE-DC4D-420D-ADFB-A5127743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3667D8-CC68-402A-828A-1EEFA168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1E26C2-77E5-43AA-94EE-7AC4FFB8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0BAA1-9082-4CDA-A438-8C14DC8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488A05-48DA-4E7C-B858-96E9502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2BE23B-A915-4451-899B-B7479DC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D7C1A2-6B3B-40C6-8DC6-EC274382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Observed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D6118-6F53-478B-AE5A-CF96B4C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D911A1-57E0-4056-97DD-D8EC9F6B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F6C823-425C-4381-BE86-7E3D646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DE6118-4685-41CB-9169-BE8F253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CB9376-EB91-4C7F-8EE2-EEB8330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36162-D8CC-4629-A39D-83B2375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571D07-7EBA-4548-9E09-DE589F5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3A5957-4F2E-475A-84F8-0ADD6C4F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Estimated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13B552-4763-4825-AAB3-9760478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EA54A1-5A9B-430D-BDDA-34F1FC2F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Medium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D55266-9B37-4A5F-AD83-A2A04125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EF5C20-DCB9-4EB1-8378-F039E807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Business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E45652-0EA5-43C1-A811-EAC1EFE0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479018-8635-4004-99B8-CD70D23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7C65C9-2C0E-4A79-B92E-17E7CFC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019CD7-73B0-4C9F-96E4-D837790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1BF83B-B96A-442B-BAF2-72869A8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DF43E4-7110-4D8F-A0B7-9ABA6B78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495664-E2A3-4B5F-BE15-671FC62E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365E83-A4E6-4EE0-A17D-418F1B44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DD8D20-3B5E-4D8B-91AB-A66AA21D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477F2A-54CC-471D-AD93-A0AD1395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AA61EA-B25D-4DB2-B795-F44329F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Executives need the decision state, not analyst-level detail.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4515A0-4D95-47DF-A68A-F5DA0AA1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8779B2-BD77-4A72-A845-68BF805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27B17E-1902-4B22-92E4-CC55BBB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Report what happened, when detected, systems affected, evidence, impact, actions, and status.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700866-7A21-4F92-8F14-DC05F9AA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5A4A47-99F2-4258-9F5A-101CAC3D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Separate confirmed facts, assumptions, decisions, and remaining work.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351761-28EC-4038-AD1F-6179569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CE47A7-EB22-4F53-8D87-80B8CF66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Tie report sections to severity, legal checkpoints, and executive communication.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F6EA7A-7ADB-4FCA-BE02-1910C8C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6C8CB1-0578-457C-8757-D96FA63A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Confirmed + Assumed + Open + Next update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E01708-0DBB-4F61-BC46-2798F1AD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123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A61CF6-194C-4CB5-9FEF-CB53A20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F3D463-F04C-4447-B9A8-3AFE3474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65878775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3ACB54-7BB8-4BF4-A351-23E5F175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Incident decision log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FF7C2-5E8C-4854-939D-C83C15C6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53863-4138-4F5D-A2E1-A20A542A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E9B7A-ED79-48E3-B9B8-E720A2CD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F7EF3-8A51-4C10-87EB-A648925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D44D7-87D6-4FD8-97AA-F0E82C9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6EAB5-9645-463B-A89C-FC140AF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FF2B3-191E-4726-B1EF-8E8CB92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BE39-DAC4-4AC7-8432-5C72C1A8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81F8D-8585-4D93-963E-81371678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Incident decision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BFC76-67C9-4C49-BEAA-B024239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FE4A6-1885-43DB-9930-B3B034DA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AB104-554A-419D-8F1B-A0FCDF6D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24A9B-3CF7-487D-9AA6-CF7FFD24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1A8C0-B068-4E8E-A192-B49FF93F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B7D88-93F3-4AB5-A8F3-2BD648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3B18B-F9FC-4B9E-A76D-9B67EE7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B09BF-9284-447A-95FA-F03F80BF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A8EBD-85A6-4871-B204-699DDD5C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C19D7-9ED1-4CB3-B511-3D7C14C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Approver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B3E86-A3BF-4300-BE48-6921A2F5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3A82F-C60D-4DE4-B169-56EC6BD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A900D-7FD4-40F7-98AC-C93A94B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Next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6B38B-E014-4A50-A190-EB7DE1C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C9023-8FDF-4E9D-A620-05A1EEF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73248-2949-46E7-A93F-DCB95BE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A4D7B-2472-4336-8BFB-C672D8A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3928D-72F8-43AA-B547-A213922D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19771-634D-4E1A-AC80-F0245586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3E8506-B992-4F7C-A6DB-C89B84F2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C2E4FC-AED1-40E9-9AE6-74BA1C8D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C6323-F616-49B2-9344-5ADA6EF0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Approver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0FA56-A879-4236-8CFB-1CC06BF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9246F-8688-4595-9762-A3ECB53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10:30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00652-1F21-40D0-A4A4-7B42B30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5D163A-ED26-4C96-9007-EAD2179E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Disable acct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10745-A5E1-4C3B-AEFF-B5DD016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EDC838-5E73-46FD-A2EE-FDB9F3D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auth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37CE8-7BF1-4274-A4CB-7C1559E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D2A181-F6DB-4BFA-A148-582B553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C4A765-A145-41EA-9A28-FF540FED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DA788A-A553-4CD1-A0F4-DCF9BDC9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11:00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C92703-9D5C-4C0F-84D6-6FBBEC65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F48D86-B1FD-4760-9033-C208E799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Open PDPA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D7C6AB-7224-41AD-B549-38A1683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45098C-AFF4-402A-89B5-703C331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data 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817C75-867C-44DB-9A5C-2D6AF416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4BA77A-7FCF-420F-AF37-37A60CFF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Legal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DF91E5-B0EA-42FC-B24D-0F27A854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5252D9-50B5-4774-941E-ACB5142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12:00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3961D7-735E-4B65-A593-71B9321A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1684FF-4BBE-4D29-A833-6A5507E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Brief exec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27FC9D-B5A1-4BD3-B54E-5715124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6C3435-AF32-4FF4-BA46-A242B0C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703E9A-E680-42D8-9CB1-544BA313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693A8A-FBA0-4825-B97C-19C5DD0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9D0632-7F20-452C-822D-3598BE5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D01AAC-C112-49B4-8F60-11308738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471122-A33C-4A59-ACBD-832E1159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Separate what is known from what is assumed.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E70F1E-0057-4096-ADA0-49D08EF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521E70-58A1-4290-9F8D-6395356C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619590-8E94-4381-9DE9-281616E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Capture decision, options considered, evidence reviewed, approver, time, and next review.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C969D4-4BAE-4B28-9D0F-B3B09F36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E03B46-9542-4A3A-B589-1A658CC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Use for containment, shutdown, notification, external statements, and risk acceptance.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74DE20-3B55-4FC4-9BD2-3750292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0D7E45-6F9E-4253-81C3-09E6FB5A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Decision logs make post-incident review faster and more defensible.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7C3D1A-7E20-4093-94FB-5E70610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CCE7FC-F2A8-4E4F-B490-360857D5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Time + Options + Risk + Rationale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4BD09D-85A9-4DA8-A646-FFCFC96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124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077B36-F03E-45AF-B14A-F2ADA619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4EB7A0-785D-4EC9-A93F-2421D26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233081929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C1446D-FCE2-4F70-91C6-3B42650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Monthly SOC report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03161-EED7-40AC-BCB1-EFDB26B6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3B46A-2B93-4E68-8477-E9B05A68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3EF2C-1067-480B-8199-D15BA62B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A619B-4128-4497-969A-6A10B968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3FAA9-69ED-4A84-A065-5807F9F0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412A7-0A5C-4F2E-9D6E-33086F3F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D7D79-DE2E-4A88-81A2-A42C791C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5F624-EF42-445A-B93C-0746A07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69043-5C21-406E-882D-11B1499D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Executive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B66F9-9A06-4858-8378-D64504D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09F58-234F-48E7-8989-976B6FB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65023-1392-4A07-AB6C-898F7B7B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33CB5-90A7-42DA-BA45-E9544B9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0CC41-1927-48E1-BDC1-FA8571D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5786D-906D-4822-B109-363059AC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872A9-E10E-4117-9C90-57891126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C586C-BC44-4CFC-B9E6-F36E3E8E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F3501-A2A9-4651-9549-B5FD730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F3040-EE67-4AE3-B805-2563EA11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24EEE-947B-4576-ABAE-0991FC96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EEA4A-24B7-4C83-BF18-872C2251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7CE7D-87DF-4D2C-BEFE-6D69373A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9E218-6FCC-443B-8872-F630B51F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ABC65-027B-4F20-97B4-6811BE2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C05D0-2838-465A-B11F-8B73C04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3EDC3-4D99-4E34-9BFC-21F02AA7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9F7B8-8511-4F4A-AB2D-26B7399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1466B-AB0D-46E4-9392-01BCE57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BCFC2-2F10-43E8-BD71-075118E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12F9C-2354-4394-AF8F-B205FBB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304258-34F5-4130-9F50-AD2C389A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288273-5CE2-40B8-A485-E14274FD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60B3AC-F223-45BF-BCB7-0EB41708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3BF49-E6B7-40D9-8D98-5946A238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4408B7-AC6B-441A-965E-56BC7CA1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Observed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2860DA-6833-413D-9E26-2A54A676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5E4B77-7F02-4E0E-8257-27AC1E70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7EA92A-8276-4B3B-BD3B-B46ECE4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947450-AC8A-4245-AAA7-F4CEF5D6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0DD655-C98B-41E8-A14C-FF70554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5F0668-3022-4829-BFC0-7E91C14B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FA9126-6E06-4C6F-8B07-9929DA4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82B54E-5F0E-4BB7-92CF-DFAD634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Estimated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D74D56-6749-459D-B73A-F49D44EB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81057-9AF7-4298-A714-8CD8971F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Medium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99418F-3140-40BE-BFFF-F452572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98C358-4E68-469E-905A-056F810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Business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001F00-B0E3-475D-8A0E-901E94D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808CEF-6F8F-4BA1-AED6-376B0515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DDDECA-CD15-4B3E-AAEA-BF943CE1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625268-2C12-471D-ADB7-4746CA0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94FD21-9CE7-4DD3-8570-BC87D3CB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2650D2-5ACD-4856-8EB5-45679CF5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2401A6-7701-421C-B9B2-384FED2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C474AA-8B10-40B0-86FD-0EC070C8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A12B15-E76A-4D59-8CCB-C58E2EC3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2DA65C-27B8-4148-A13D-D16C49D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A96A3E-47C1-4C68-8BA4-993CCD8B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Executives need the decision state, not analyst-level detail.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DC8201-BDC6-4F65-84C2-3EE81D4D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69107E-34D7-475D-95FC-EE86BDAD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95485A-7AC4-4325-8976-CC226BE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Report incidents, alert quality, backlog, telemetry health, detection changes, and remediation movement.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EB1EC4-BB39-44D7-9BDD-04E1A46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E04DDC-07DE-4DA7-A1F2-DCC0B6F4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Use trends and decisions, not only activity counts.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95197E-DC33-492D-AA16-67EBB8A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287235-82C2-463C-8B5C-FA9BBA1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Connect operational findings to business risk and required action.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067EA4-33D6-415D-9A4B-6068CBE2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0DE36E-2664-435C-BBB3-E6DB16F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Confirmed + Assumed + Open + Next update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2E88BC-1926-49A8-84DD-F5F4DA6E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125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ACA100-907F-460C-9EC9-78B63A1B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0086A7-A386-42BC-BBAB-E1C41103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1785114824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842184-C229-4F36-A84E-9FB3A877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Executive dashboard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4D587-D43F-48D5-8AF1-86112E54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DF8C8-42C3-4288-A03E-3BB2C6C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E97DD-062D-4B76-B70A-E9F49C2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D8B3E-7A7D-40D0-9DDA-E36652D2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E2CEC-DCD9-404C-9DB3-3D948850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356A-3E06-4374-9569-9C12E960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AADA5-88BC-40B0-9C6C-34161D82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7EFE1-A8BE-4875-8E6E-C048343F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18ADE-1961-425B-B1AD-0799C9D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Executive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F7A5-085D-469E-8994-1D1FC9B7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046B2-5C25-442C-A4C7-428CD7B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EA455-166E-46ED-A580-6C85455F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A71C6-9F4C-4AA0-9C84-813D7059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EB8AF-628D-497D-BCDB-F2F6FE1B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A138-FB14-4BE6-A6C4-10DC198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00C59-F396-49B4-973A-7933BCA2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C9CF1-FA18-42AA-AF47-CC04C53A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D37DE-9BED-42D4-BC64-A2C07C60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1F7FD-F2F2-4B6D-A2F2-AAD74E73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5CBDC-C06C-4739-956A-9AEC1C4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0C538-CAC4-4E34-B3C7-7128FF06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FDF56-9A63-498C-A8D2-C709AA7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89B6D-3824-4CB1-9DCF-D0019B4C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64DE3-FE6A-43EC-9CC1-ED5BDE6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C9161-1676-4884-B9CA-3059F72E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74189-AD14-4EC2-91C1-CDD81EA5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6FF45-49F7-4E32-BFD8-D128E648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7733A-D0F3-4A89-89EF-04358934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A7C07-379B-4FA1-919E-DA232F48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E99AE-451F-4AD4-9516-30C29F8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AD6D6-4357-4E36-8C22-289504D1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4DA61E-2A06-47A9-9608-8605907A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514920-AB23-4833-BDBD-1A659D40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80ED8D-9868-46A9-8FBD-D1B1598A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CCD6A7-7533-4976-B74E-8C361FC9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Observed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A3479F-E26D-4349-868E-4076392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4C4823-9966-438F-BC43-12FBD93A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9F770B-A017-44B3-A641-224BE225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E29467-35BC-476A-B7AC-551B6B28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38F029-FE4F-4FB7-9873-FA00A169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C847E5-BC3B-4150-B898-02D1512E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52E8DD-1E73-4DCD-A170-DB7B5C94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8570FE-AF54-4FBC-ADD6-F3BBBCEA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Estimated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1170CB-6F07-4806-B50D-397294D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8FB835-0020-4CE5-8FF8-44355AE6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Medium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2A5AF0-3047-4195-8F86-05B7A5E5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2C9C8D-D593-4999-B84D-1925FFC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Business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FD34A8-AF03-4383-9941-01D1468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5F22D0-7495-472B-926F-3035D1AC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759B2F-DED9-4A4D-904B-98CFCAAB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73AC56-9907-49E9-831E-520A7B68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8A7845-9234-4370-890A-5FE25F3D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D08334-38B1-4FB4-8248-B1F5D8BD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7A4A38-E6BC-4801-B6CC-20478505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8C53B8-1A58-41FC-B73F-4F004F9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E16DC9-C587-4C51-A459-63DF52AF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621BCB-C859-451A-B9C2-E961BC46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2CF065-7515-45B6-B88C-123A31E1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Executives need the decision state, not analyst-level detail.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E9008D-1FAC-46AD-A6DF-6EA9998C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9EAB45-873E-4B71-BBFC-DC89B9D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A04CB6-7DCA-49AD-AC34-09D0342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Executives need risk posture, trend, major incidents, open decisions, and resource needs.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45B30F-7739-4C6C-B1B4-9BF84CB6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54C4D7-7549-457D-B00A-51B912DB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Use concise metrics with explanation of what changed and what decision is required.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3993C0-E6B6-4BAD-8309-54C76724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891BF4-9641-4D66-8787-EEC009FA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Avoid analyst-level detail unless it supports a business decision.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9D2383-783D-4500-8CEE-77AA2147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2D7D70-71C1-464D-94FD-26E0757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Confirmed + Assumed + Open + Next update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D91DA9-24FC-475E-AE85-59E46368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126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C35C8D-4074-49E1-B243-384767FF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7E288A-787E-40A3-8AC6-B4BD5326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251888080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BDBA83-38DF-461B-B991-A88EE31C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Board-level decision pack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10EE4-819D-4353-A6A1-ABE873B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8433-ED3A-4EF4-B70F-68A3A14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E2836-5A91-431C-BB0F-E97551DD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6C057-E293-4F39-BBD6-B008256C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BEFA1-4D06-4F42-B1E8-F406451A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B4451-DDF0-4C6E-A8AB-24781001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DF5C7-6C15-4F64-808B-C30F551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F64BC-B44A-4EFE-AEDF-EEB571A5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115175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38842-669E-46A9-B5AE-9AFD217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218"/>
                </a:solidFill>
              </a:defRPr>
            </a:pPr>
            <a:r>
              <a:rPr sz="2100" b="1">
                <a:solidFill>
                  <a:srgbClr val="C98218"/>
                </a:solidFill>
              </a:rPr>
              <a:t>Executive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2E4E2-9E3C-42CF-9A9B-16C52415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3A3A6-3582-4097-A736-764ADFB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D1366-2820-4FA9-AE42-E82EA4CF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6E168-32B4-479F-869A-6CA39074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6F1B9-3CEA-4DD1-8567-A72F4EB8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1DF8D-8D01-45F9-8C22-A7D6F4B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BC038-A547-41FA-AEB7-3F82372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911E5-613D-42D7-AE63-BC070667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23EC4-7965-4242-9175-AFC26BD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5BE36-958B-417C-BFBD-E0440910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BFE5E-3B43-4CF8-8E3A-1EAC57F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44DFF-9251-4FC2-B2FB-5D4A03D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8218"/>
                </a:solidFill>
              </a:defRPr>
            </a:pPr>
            <a:r>
              <a:rPr sz="1350" b="1">
                <a:solidFill>
                  <a:srgbClr val="C9821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10195-43CB-4227-9564-521B49DD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4DFB2-C74A-4428-85C5-B062F52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2AAA3-67E0-4B19-9FF0-268376F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0E256-F709-46C4-9C60-9FCF830F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9ADAF-ED89-4A03-9573-EB782737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5C0F6-3D9F-4E81-ADA6-3130BCB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AF2B8-95B5-4C36-88CF-443FBB1E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1A221-F527-4F7A-9AAB-BB00989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195A3D-5F22-44CE-8FE5-27AAE638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4BEBDE-DF9D-4046-88C9-638FB2A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5D318-BEBF-4A41-8F9A-1E3DAD91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1EFA2C-7FCB-4EB4-A920-62FA643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699F7-350A-4592-A7E1-A7B4B63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BC4CB2-3E85-4CA3-AA4D-27CD4E7F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Observed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CEA72C-B38F-41B0-986E-3FAFF2C6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7A9AAA-97BE-4828-A893-E812664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05A8FE-1E3B-45CC-91B4-D2B3F72F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1737AA-E9F9-4E0D-83E9-E88C0EB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7F9C21-EC40-4A4B-82D2-599BCEC5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023B9B-9FEC-4C9A-9B80-EAA13EB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Impact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079DFC-6112-477A-9C38-90924A0E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90BD41-1F1D-405E-924E-181087E3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Estimated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9784D4-7A50-4CD4-ABFB-C723261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66ABB9-59C9-4B0E-919F-6C65C68C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Medium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5952B2-695D-442C-BD25-7ED85265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6DB674-0398-47B5-9ACC-F904DECD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Business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8ED26F-8E43-4BF5-86CA-DA61DB42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17E986-8131-4D2D-89CD-ECA52B1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326C03-A26E-4AF5-8088-81366674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386B4E-F07D-4673-BA1B-7033231C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69B8C0-CE8C-4F8B-8E5A-CD2DF100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8020C6-7C05-492D-BB6B-6C880F77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403219-2C9B-4900-A067-C3D8EE6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0ADAE8-0340-4D00-A455-8EAA1489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633587-DA39-49BA-B28E-0D4195E6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F073E3-7D08-4BDD-8C52-A91C050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FACC6F-259D-4952-8F3F-15F3C74C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Executives need the decision state, not analyst-level detail.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7C2E21-255D-4844-A910-28F6341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218"/>
                </a:solidFill>
              </a:defRPr>
            </a:pPr>
            <a:r>
              <a:rPr sz="1650" b="1">
                <a:solidFill>
                  <a:srgbClr val="C98218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3BE1D3-3182-4D4C-8A62-E67684E5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39BCAC-9C73-4DB8-9DE3-4316F29D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Board material should show material risk, control gaps, accepted risk, funded actions, and progress.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53A5A4-8FBC-42C1-8599-3E86F58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06F0F2-2B8D-481B-9EB8-10EE809A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Summarize consequences of not acting.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791A2E-C4BE-4594-A013-4C03845F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5C36C0-B59A-47D3-AE6B-E41C273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Link incidents and recurring findings to strategic investment needs.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06CA03-7FE6-4488-921F-28038186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403EDD-6661-43DB-8B8B-CE0910BC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Confirmed + Assumed + Open + Next update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9FD119-BD65-412A-9901-B231558B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127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892B1C-42C5-478E-A7C9-F9700185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CEA70F-AB6D-4F38-9FE9-F128A9ED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1120032334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95CA30-1442-4962-A95E-63B043C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Communicating facts vs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17416-A2D3-417F-BC96-CF86F51E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CC3CC-8757-41A7-B369-62C55FB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0D5D3-1368-42B7-ACF8-C5D65701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E7857-6EEA-456F-87FF-C0242C6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F3DA6-D26C-431E-AC64-7B0B6631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03B3F-EFEE-476D-B88D-69BF2E0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0A5CA-6784-4CE4-8FBD-F2C13C3A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9EA2A-C87F-4B6E-8567-FB852E96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693E8-251B-42FD-8257-AD634FA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601B2-E6FA-4B0A-B7F0-941CFDC1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Facts are observed and evidenced; assumptions are current interpretations that may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1EBC1-C759-4203-9EAD-AEF85305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E6689-4841-4A34-9916-D9E50189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801EB-A835-4647-B5C4-49B43991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let draft statements outrun the investigation.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D60B-13E5-45BD-8F29-6BB7A11C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4D75E-6067-4D6E-8762-24F6033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F34BA-D2B6-4931-9DBF-39D3976C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external message needs approval path, audience, scope, and version control.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3A343-3B6D-4F2B-84E6-27A9A81B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C85E9-0198-4DB7-BC29-C0E5ECCA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82755-4A5C-4982-8F7F-79ED6FC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BEAA4-1FE8-46E4-B318-07E33796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75060-F8A4-4527-9DF4-E6AE1C04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766B4-9195-4257-8441-047C3B05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01955-9A81-4561-ACE6-2F464D1C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E4E88-4F13-4ECE-9843-C8FBF63D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F73E4-4B67-4553-AA4F-E62D59F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128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89DB5-D185-4FF8-9040-D92E682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0ED54-9D11-49BA-A81E-40AA28C8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1756986186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8AA82B-CB08-4BD3-8893-64182C4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reporting template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DF82-0ED2-4386-B365-BB58EB60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985C2-F316-4553-9C19-C1961D58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E8CC9-645F-4D56-9C8C-213F5F8B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5A42-569F-435F-95B3-64AF5115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116CA-1F74-4125-854B-16D4818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65575-9884-404A-BD3D-AC7F796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E7C7A-EDAF-4F4C-AD08-44789296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72CB7-5B14-45EC-B75A-F316655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81F86-09A2-42E3-8A4F-5AC14CA8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15EAC-17A6-48D3-A5C3-8810299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6095F-94FF-4951-9824-04AC1E41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Use when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D27F7-B959-4887-B65C-C315340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DD49B-B963-4659-99F4-C64EC7F5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Audience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D9625-C883-4886-B30D-03EDEE0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E70FD-A170-4BAD-A9BD-98BB6E73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Incident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4C796-C319-4244-B1BE-45F153E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EBDB0-ACED-4EEA-B1D8-513A22E6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Case 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7FD11-D517-429D-AB4E-B2E6F82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03C33-F8F6-423E-B0EA-01D261B4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SOC/IR/Legal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4A5A7-2CF4-405A-92E1-CBA4C53B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B4082-6999-49E7-905A-89B8007E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Decision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75B33-21C1-4C40-A7DB-A06ACECB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8B207-1034-4689-BEA8-6D86309E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Material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757DF-6FF3-4A3A-89C8-E5A8326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6338A-EBF1-426E-98A4-BAB429E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CISO/Legal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D8C1E-01ED-4744-92B2-6FC427F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4A8F9-EB49-4F95-9FFF-94E81A52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Monthly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67FA2F-8DE5-415B-AEB1-3D8BD0B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660417-2212-451C-A2F1-8E6DDF53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Operating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6343C-8DBC-4872-BFAA-55900BC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24256-8C02-4BDC-B0A0-6425EB5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E4929-8073-4BBD-A960-B8A0F485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8E1D1D-4DB2-44F6-8AD1-AD872CCD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Board pack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B5FA64-714B-4259-AB9D-DC708706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1F3812-01F8-42F7-8BFC-ED2163BE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9F3201-9469-4DC2-9B53-6098A9EA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C17710-920F-408D-B677-5E6BFC51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Executives/Board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6E4D3E-C570-41E1-BD25-72948422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129 / 142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CA6FFE-C798-4792-B2C1-58917E34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6A747C-E965-4E5F-ABAD-EEFBBBF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62865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805289994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B67F3C-990E-491E-B601-E5AF2469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Worksheet: executive escalation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A8D24-DD3E-4538-ADDF-0929E73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E1A24-8B3D-4FCF-930A-097C2A9D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117D0-2F5A-4091-9401-55D5977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C0555-46C6-4155-BD00-9098D40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B083E-47C5-4768-ADF3-0A0C6535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71329-E9F6-4287-838C-ED09762E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8218"/>
                </a:solidFill>
              </a:defRPr>
            </a:pPr>
            <a:r>
              <a:rPr sz="1050" b="1">
                <a:solidFill>
                  <a:srgbClr val="C98218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F804A-32C1-4246-8292-28E9801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B648D-3062-43FD-8DA5-E075703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25E16-1366-4F45-A1FE-C3D7F855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8218"/>
                </a:solidFill>
              </a:defRPr>
            </a:pPr>
            <a:r>
              <a:rPr sz="1200" b="1">
                <a:solidFill>
                  <a:srgbClr val="C98218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F1E97-2589-4792-88BC-084D25E1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D8015-4C99-465A-8E9A-BB3718F5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C28CA-C150-425F-AF92-0758935F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D18FB-63C6-44B2-9B35-0EEC0E86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725FA-D553-4C5B-8CCD-84E36D2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17EB1-24A2-4F98-ABEE-3B41134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8B352-679E-44E1-B1F1-2BD77844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BEF87-A733-4B1B-A990-46BE9DC3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F7F4D-0A92-47E5-BD0E-71ACA08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48F1D-462F-4B10-98FF-5815A697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1D0E7-343D-40F5-8048-494ECED2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3A74D-61DA-4D5C-8E6D-B661099F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BEFF3-DEA1-440C-9925-A8E86DD6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CB5CF-F492-4B16-BA99-D928B9F9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2E9CF-E416-4375-81F0-A29037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5B78AA-3C08-4EE7-BB9E-4488B4A8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C5327D-8172-4FDD-A01F-FEB9E92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646C58-DDB5-4E7C-8B30-A5C62F02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3B5EBB-399F-4FD0-A04D-89D4E618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38C22-619C-4EC6-8FCA-6D544586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9FD5B-C4C0-4C73-A90E-48E59515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68D19B-AA68-4D5E-9BD9-FDC5E06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DB956-0D1D-43A1-9BD9-23B940E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130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B656E-F62C-4CCA-A09E-DD3E6647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D2937-B7E0-4D64-AA83-3D7E0D39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482863286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426FC2-86E0-459C-AD41-BCED7693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SOC onboarding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49040-FC35-414A-824A-11C53797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284EA-1FE0-4A20-B0BF-D5640D4D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29F12-186A-4C5D-A300-0549C91E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3144B-163B-44FD-8AFC-BEBC6858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C202-5E98-4DB4-91CF-E7C83B3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52B1C-E276-4851-BEBC-4C4A8D38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E4375-F9A0-4112-8DD5-40FB4116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44DB2-753D-4E47-A284-50F1CDC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99E64-DC1B-4E3B-83CA-7B9A16E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Capability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67111-6A88-4BA6-9AA6-8EE5D48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60053-075D-41F0-B11F-BAD965C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B59B4-AA9D-45D6-9BD8-7196C322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CD396-3299-42D1-BD58-174330BD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38826-2970-42EF-8727-66F2878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0E011-BEBD-4C2B-AC45-22A2C55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C917F-7AFA-4E2C-84EC-ACDEBCC9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Shadow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FB36D-5A62-4E88-942C-137F7E7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0B71B-78D6-4A7E-9449-911FC55A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B2BB0-68B2-4EFC-BE26-2BF43D8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Handle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59405-C5D6-4A09-9D30-4D14DDF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AA592-5F96-4720-AF66-F3ACA346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3F592-3B90-4780-A30C-01F97F8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951FA-D769-45FF-94F6-C3BB37A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78D2D-78CF-416B-A3B9-DCEC2209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C466C-B657-4FB8-8445-BF43327E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B41FD-FAB2-4712-996E-74263F77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DAA37-BF92-4C18-8FB9-92D322F6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3FE90-E61D-4E5E-98F7-B8A1F8F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F2F6B-647E-41CB-86D6-E6C7B4A4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FBAF81-297C-4B52-A847-C504C50C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FC181B-EB11-4B67-8989-65382A89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D784A3-D10D-4CE1-BAAC-CACE3CA8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F1CAE-D30E-492E-9505-BB98DEE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Onboard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2D5086-0A6B-4FCA-8E50-2E01E06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1F5F02-8965-4E69-A130-4AFB6F5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A76F2-B274-41CC-BB12-DB81219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E95137-1223-4105-8ABA-58E848EA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Checklist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49943E-20B8-453B-A488-DEF4D3F5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B29643-11D6-46DA-BF65-75D11DC6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D8ABCE-9B1C-4CC0-920A-2B3C0CED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A6C2F5-86FB-47E3-8538-1A97CA6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Shadow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A4BA28-A605-4EE0-9A9E-4A7E9967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A6F595-19E8-4724-9B1F-02225B57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EA000D-DA21-4049-8F57-1647223E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209497-083B-4556-9F3A-2B40B77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0D521D-B98A-4A0C-8DF4-22851289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4B2AA9-9381-4133-B5EE-3384BF0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FAE799-EE42-408D-860A-FC2111D3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D90CD5-5A5A-42D5-81DB-86EB094C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Handle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4D9A17-6D37-46FE-B689-FBD7BE6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0B8CB0-5FB3-4D9F-AF05-FCE7F892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Escalate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0CD177-E3B1-4F2F-9E45-9F305697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D3C306-C4FA-4E91-986F-B9EDCEB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6B4F09-0858-43D9-8181-F6C6679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0B542B-F5AC-4FA2-9A73-730FFFB6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A6119E-A54F-4D81-ABBD-A5B498E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F484E7-4F73-4DF3-84A1-2CF9AA8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A958B2-00FD-499E-93A0-C105DFD2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Training is ready when performance evidence exists.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3D620C-C551-4364-B9DE-2ED6D668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602D7E-5D86-47D9-99B3-48B79301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1B9E6B-BFCF-41C1-B2ED-1F40F2E3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Onboarding should move from access and process awareness to shadowing, guided work, and independent handling.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F03CD5-0968-4184-9258-A4303508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4EDF18-8D4F-41DF-8036-C32AFC60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Competency should be checked through real triage, reports, escalation, and evidence quality.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B7DAEA-AF0A-4845-8758-A119D22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A81A2A-7025-4EE2-958F-00669DC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Training records support both readiness and audit needs.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454EFC-4062-4AAD-9F05-5D7E5269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B4DDAF-E7C2-40E5-BD10-474C43A5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Skill + Evidence + Coach + Gate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CEC907-2D87-4171-8CCE-09C898C0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131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D1E4BC-22EF-465B-8160-39CB40D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9171C7-A7C0-43CC-8CFD-7687A52B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949355405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D1C27-5085-4F15-832E-A4DCA484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Analyst development and cross-skilling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E1CE8-4264-4F77-B3F2-7951C26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DB2D9-1755-48D6-A3FA-142A59F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A82DB-204C-4575-8F03-6716045C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839C1-5E36-4C7D-83CA-40B9B67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DB564-6ECB-4C43-BAF1-B5AE512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8FB14-700B-4E89-B074-8601BEA5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73654-98E6-4BA0-A0E4-193AE96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693EA-FC95-452B-AAE4-1B0809BC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21ABC-0E66-449D-93E6-05372F8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Capability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A8AA1-BDB2-4DD2-8ECC-1FF449C4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7B0ED-F3C9-4204-B8EF-11B98C0E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3A6FB-31D9-441D-9918-B0FACC9A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35773-4D18-4104-9D1E-367666A1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D3F79-CB25-4B6E-83D8-5637AB6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62F9D-A1B2-40D8-AC36-4C2E0156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F0632-8A71-4A22-BB7C-808EEC7F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Shadow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34BEC-5D4C-495B-812D-DEB960C4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6A174-339C-404B-AE4A-54B086F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2324C-BA2A-41AE-97DB-5D87537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Handle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D9B42-573C-4999-A015-E1A1476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C85B1-1F86-441D-AEEB-01E0387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EE0EC-1B1B-4BBE-AF01-24CDBAA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38463-928C-4A12-BEBD-FEF7DC62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E51D9-CD22-4322-BCF1-D67278ED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33399-28FC-4E52-A1AF-138DDB3E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B35D4-1D6B-4D05-B632-FA9E773A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C29A0-2FA6-49A5-9D17-461633B3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D327D-FF4A-4169-B1CB-E274B8C0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9B4370-789D-4328-8432-71B7A4E8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BB7B2-8BB4-4650-8BFB-657671F3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F34643-4990-4EA9-8DFC-BD42F99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E931E-4825-4277-932D-F8D9DA6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2EA61-B40B-44BA-ADA6-D2C7B951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Onboard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0B6E18-9DF9-4760-97EA-A0D91530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FB7835-DE67-410A-BA88-67C2A150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E218FE-0492-4D28-8866-33C88E9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B1F906-685A-44B8-9245-2536D8B9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Checklist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75549E-E466-442F-BC81-92F5A7C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2BEC53-F9C0-44BB-B467-76A359CC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FD7ECC-473F-49DD-AD6D-37079AA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FC21A6-2F0F-44E6-A6BE-617FE42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Shadow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D3D0F3-8054-4FFB-B0C2-8734286A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799A1D-DEC8-4D1D-8369-1A9D6A7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F077F0-D9E8-4FA8-9115-27846851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DE849-D65F-4E83-9AA1-BDA308B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73AC7E-C6DF-4D9F-B632-A4D4E44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FD10F1-72AF-478E-84A1-5DF9D30F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96260E-0DEC-4266-B9DB-4C85E31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5B9C4B-0E14-4DB8-8BF5-8BF8104D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Handle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EE4831-5B56-4875-8C66-55CE8664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CB3C9A-5036-4C88-B50F-B1D35EA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Escalate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66461D-8128-4DB4-82D5-F03938C3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7F72C6-2E21-4941-9E53-9813D48A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D06174-1217-4E5B-AA2A-72F91DF8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F7C427-DF52-422B-A05B-424F92EF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08B789-A9B5-4175-A535-29FF373D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FB7B1A-BDEA-47FF-8AC2-42F7FD93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DFC6CF-4329-4EDF-A9F5-D83DF2D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Training is ready when performance evidence exists.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E12062-2BF6-4A59-AD3C-C048C27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0627E5-0AB5-46D1-A7FC-D71AF7CB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6BDAC3-69C1-406C-8D0D-A688DAED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Develop analysts from queue handling toward investigation, detection logic, and incident coordination.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D4444F-795E-48AB-8F66-73BACEB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7FF657-7D0B-4736-B363-ED9A6A1E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Cross-skill engineers and IR roles so workflow handoffs are understood.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0A486D-D120-48D5-85FC-6B0A7AA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0393E0-CF55-4791-AC83-D4671C6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Map skills to role expectations and promotion criteria.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6AAC6C-265C-40B7-9D2E-859561E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05EA1C-E424-4A9B-82FD-7E9A7822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Skill + Evidence + Coach + Gate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F1B6D7-31BC-4636-B242-A6E2A4C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132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DC8C96-F03B-4C2F-8BCF-DB3FFCF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67F8B5-BE12-4B30-A995-D1D4BD27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378565628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08FAF2-9E57-40E0-ACF3-AC8E378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Simulation and purple-team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CBEA3-B10A-4D7F-BCED-6543866A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FEE7E-E383-46C1-9250-D34540C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633DF-B676-4DAF-B7AC-E848724B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57F11-D870-44F2-8BB1-9138F32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64DF0-3E9D-416C-B6FC-4EE04951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78223-B333-4F36-83E8-55A12CE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2DEC4-39D5-4F48-9B00-F4750A39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84C27-11E2-4BAD-85AB-71A0FA44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44C98-2633-47ED-BC9B-941540BB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EC2F-F444-467A-A618-939E705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Simulations test people, process, telemetry, detections, playbooks, and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E2C79-6F15-42A1-BAC8-B68055F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359CF-6135-4FBD-9F95-ACF91E1E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9BEC9-8A59-4F4F-B2C1-1834B1E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Purple-team exercises close the loop between attacker behavior and defensive coverage.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17E68-83C3-40A8-B13C-49E5AFF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A2E64-890B-4294-9328-D95EAAEB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03EBB-BB99-451C-B508-A9088DEF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findings as detection, telemetry, playbook, and training backlog items.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EEEA2-E148-4EEE-A816-DFDC030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9941C-1B00-4EC4-96B9-34B51815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42C32-7562-4622-873C-B5C7107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D8D48-2B99-460B-9F06-3E840032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65D98-7817-4BA7-94F1-D8E4F85C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76FD4-7286-4A67-A746-8D330F4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C6C09-D0A8-424C-892F-EE723326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FD81D-10F1-4365-8B03-95D5A44D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43F4B-A422-4D3F-A8A2-43A87373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133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D6CD6-CD99-431D-9503-030107C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7101A-0A8C-416D-A6EA-B5E70472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743519901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48E768-C1F6-49F9-BD07-4436DF6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Certification path and capability-building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48055-2163-47A8-A3D2-3BBF7EE2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7B907-1CEE-4CC1-BCB5-9C8CE22F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727FF-5C85-432E-9FE3-458F835A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633B0-E259-4AA9-8297-12407E43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Workshop output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C3281-3A47-4580-B0DC-7DBD44AD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B12D0-2C8A-4084-AB98-A12C4C4F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DE63F-BA55-4D16-A442-64AFA70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954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94385-6BEF-45DD-9147-8C2D06E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805672" cy="7010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39D33-2690-4790-8A05-A0A12AEC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7C66"/>
                </a:solidFill>
              </a:defRPr>
            </a:pPr>
            <a:r>
              <a:rPr sz="2100" b="1">
                <a:solidFill>
                  <a:srgbClr val="0D7C66"/>
                </a:solidFill>
              </a:rPr>
              <a:t>Capability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FBFAE-7778-456F-9CDD-F3D04D9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Reusable SOC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6DD60-4F7F-40FE-80A8-74DED872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DA59F-32A3-468A-BD38-25F32253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778A0-37DA-4521-A6FB-D143A1D6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3C31B-A061-4332-8B8F-E84DFA32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68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DAF15-A0FB-4852-8A55-4DF722A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4AD92-ED5F-4E9B-93D3-E1EC354D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Shadow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7EE70-9B83-406B-9918-E2E19641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036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EBA79-27B4-4E5B-A367-182CF945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754CD-4559-4A43-B703-FB984085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Handle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F784A-A465-4E11-AC2B-4901FC18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952750"/>
            <a:ext cx="1991868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31659-683D-49CB-8F22-A191ED50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3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A1E9B-F3FF-43AD-81FE-8B808FA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Improve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FF0B4-4984-4F03-95A8-97CB982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830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Example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9ADCB-B509-402A-A2CF-79B0D556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E6008-A4EA-4EFD-907C-E0943228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1F1FE-C3D5-4034-9292-E5F9EF9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95B42-F2D8-4138-8921-97762395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64962-3E98-4C06-80B0-90392A19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F87C3-1075-4186-954D-13AB026F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DE320-E8C2-40E8-BB99-0A1FCA7C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47053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A8C975-24CC-425F-A119-D4EDC3E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3F2FD-2F45-46FC-A810-4A0AE3A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DC633A-8494-48DD-A61C-37BBC658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Onboard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19881-C73F-4337-98FD-7C5C786B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514CD9-C3A1-415A-BD28-4DF1FF8C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3A7EA3-37A5-4150-A516-E54AC0F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BEA753-864D-4B7F-804C-31C9DE0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Checklist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863754-FC2E-4E84-B182-CD43455B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54102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F28485-3B7C-438A-AF9D-2C369DBB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Lead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CA645-C39B-44B1-AC7E-FC40EEBE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686357-9798-4199-9093-9CE76A64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Shadow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4B911B-FD8B-47EA-AB1F-FBE4696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765BA4-C3E5-4203-A35B-6CDAFE86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Triage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43503C-E97C-4794-8EA6-D0ABE298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0AEE2-812A-4CFF-A492-3EB8C94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Cases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21201B-66BB-4C30-A0B9-9397382F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11505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C52647-F69A-4381-B82A-710A88F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T2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641CDD-768C-4E87-AE2C-6065B1F9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17A9A6-172C-41CB-B971-B592E9A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Handle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A90D17-CBC6-4093-A911-CB3109A5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457D36-5F50-4EA0-8542-2C881F7C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Escalate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EFA1E7-0FFA-4EB3-9274-B9A43B44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74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9C5CED-4042-4A03-872A-5C41853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59B4A5-D67E-4AE4-A50D-F3FFFEB2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598" y="6819900"/>
            <a:ext cx="2268474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8FF54A-8E37-4372-8702-DE3E0318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934200"/>
            <a:ext cx="203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SOC Mgr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35A40F-01F5-4FBD-AC91-D5457F4E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2286000"/>
            <a:ext cx="750112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D36B55-70EF-4BB4-BC67-F8726BD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C66"/>
                </a:solidFill>
              </a:defRPr>
            </a:pPr>
            <a:r>
              <a:rPr sz="1350" b="1">
                <a:solidFill>
                  <a:srgbClr val="0D7C66"/>
                </a:solidFill>
              </a:rPr>
              <a:t>Facilitator cue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B109E7-3F93-4EB5-B326-5109FC7A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Training is ready when performance evidence exists.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66D853-1A0E-4618-968D-DB715E80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50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66"/>
                </a:solidFill>
              </a:defRPr>
            </a:pPr>
            <a:r>
              <a:rPr sz="1650" b="1">
                <a:solidFill>
                  <a:srgbClr val="0D7C66"/>
                </a:solidFill>
              </a:rPr>
              <a:t>Use this 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3A801C-0D7D-426C-9471-8E44151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40576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0635B5-12A8-45C5-91AB-D2E68FE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00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Certifications support a skill path but do not replace hands-on operating practice.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3358AF-8B8C-46AA-A4ED-91DCA2E1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51244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A047CF-4717-4393-A803-1B1AB01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Match training to role: analyst fundamentals, engineering depth, IR practice, manager governance.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1990D5-1AD8-4A08-8C7B-A8E958E7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6191250"/>
            <a:ext cx="7501128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4781C9-4E40-48BA-B108-3634062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Use practical assessment before independent production work.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892838-E42F-4329-B046-F0AAB2F0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822" y="7258050"/>
            <a:ext cx="7501128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0C292B-5230-4101-B89A-94FFC80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104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7285"/>
                </a:solidFill>
              </a:defRPr>
            </a:pPr>
            <a:r>
              <a:rPr sz="1575" b="1">
                <a:solidFill>
                  <a:srgbClr val="0B7285"/>
                </a:solidFill>
              </a:rPr>
              <a:t>Minimum output: Skill + Evidence + Coach + Gate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2CE7B5-DF1E-4FFE-843E-E08D9413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134 / 142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C9CE77-5A3E-4249-9DE8-B33BA9E8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7F2E79-D13E-435E-9D17-4F5E9BF5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36906597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6BBDAF-E96A-4198-9244-1D51EB07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Lessons learned into operational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657A5-8B92-41D3-8EFA-3CC8996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0A934-C195-4F63-B815-41AA8757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58256-18D7-45B8-9DC7-6DC8B86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B111-108C-479E-9B1B-E6366A9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938AA-1B7D-4F76-A681-A4F9AC3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B0AB4-F502-4766-9C11-9F80E2F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66358-8448-4F8B-8019-80E60C54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9CE89-82F1-4AD1-AD7F-9D5D03C7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9A85B-619C-4B71-BABE-4E81B0D6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5E719-D14A-4327-8E21-0E71B883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Lessons learned should create owned actions with due dates and governance follow-up.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A8E3C-69D7-478B-9FBA-9CEE2B3E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CBC22-EF62-4316-A8F3-6F176A24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BD2E6-7D79-4F28-9DDB-775FAEA2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Route detection gaps, telemetry gaps, process gaps, and control gaps to the right backlog.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30216-FD2A-4F32-92CB-A199992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35350-E83A-4782-A556-BE4EBE2E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93864-2875-48F1-B11F-103299A8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Measure whether the same weakness repeats.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D4F5C-7F5E-4195-900A-DAD9A6C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Workshop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7C38D-F95E-46D4-A855-63FE9C2E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705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F9236-B0BA-4C4B-8C12-294C3AFE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95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EAE08E-567A-4A2A-8E76-FDC0C96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848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BA29A-C960-4992-9A4D-34A6DAFD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38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12584-60D8-421F-81D7-5FD72384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9911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1DBDE-5871-4BE6-8662-22E2FB3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816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0A4C5-14AA-4E1C-8B3C-161C5CC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1341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816CA-F717-4F28-A115-45997B8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135 / 142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C2F92-84C2-4B6F-98BE-B297F19A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91E6B-75F7-460A-B068-BA5C8BC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519156852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646201-CF3D-45BF-B6C8-448A71A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training and maturity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FEAC-8B4A-4C50-8A1D-B7D9712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CE7D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2EA75-6D35-495F-8FCE-F7AF69B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BF049-9965-4A1B-8A45-E6DC237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35249-07C8-4108-A147-7BF14D1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3721B-4460-4BB0-9798-68A80C92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57242-3FBA-4E86-BE6E-26C56E6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5F910-4B07-4A49-9EBE-88996A5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 need facts, assumptions, decisions, and next review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A1898-9322-4AF2-A1BD-0741732F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D05DE-AED2-42D8-97AA-0CA9B927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Maturity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5C676-D24E-4A8A-9C19-889084DB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CF900-F1B1-491B-9428-B9705442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Training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33D73-AFF8-4461-955D-D61AA3EA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2410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E41BB-ED28-49C5-A054-E117B90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90831-AE77-40B0-A017-7B8DDBAB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F8509-C517-42D3-8853-70804ED0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Foundation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48B1E-2CB1-4873-8CB2-11B579C7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5ED7D-60FA-4341-BBEE-9D8AA80C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Triage + SOP basics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D2A34-C243-4AEA-8C27-3305E1F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9337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E6FE9-3F8B-47D2-BC30-68EF155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0480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Checklist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57C7B-5F91-4C29-9327-305D968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8C9EF-80BE-4220-9476-4E97951F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Operational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68345-6302-4CE1-88B9-6998BC88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30EEB-A696-4472-9335-BF759894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Investigation + playbooks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B0517-427F-4A41-BD18-7DA8F9AA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7338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6896A-C09A-4A76-9FA8-31E23BA9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481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Lab 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B65F7-316D-4052-86F8-433A4E2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5F80F-BCEC-4BA7-BB78-9EE3DBB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Managed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128CE3-D9B1-4AFD-87B3-C7E37512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7EF0D-A739-4DD2-ADC4-56D961C8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 + IR exercises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66A1D-A8F9-4733-A9BF-7FFF65EC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5339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9D3038-44E6-453A-B82D-C031F14D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482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Simulation 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05E186-6DD4-411A-B0DB-6515DBF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EEE6E-DF33-44BA-9884-5FFAC5F1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D81CE-171C-478E-8596-C56C5715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92ED78-7B98-45E3-9AA6-D4FE2671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Threat-led 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D5DCEA-EE3F-4C2E-B416-F22E89B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533400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525CD6-C4B3-46F0-9191-54E632D9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44830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Purple-team findings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FA9194-7720-4474-92C9-9FB81A8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136 / 142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6C34B5-2D58-4F9B-B4F7-7F26766F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865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2D5BF2-1AB2-41EB-9BE4-A200B86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2865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717524704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D09D7-F5FE-4EA1-99EF-DD86280F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836158" cy="918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4482-029A-498E-85DA-2E535F1F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71550"/>
            <a:ext cx="502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7285"/>
                </a:solidFill>
              </a:defRPr>
            </a:pPr>
            <a:r>
              <a:rPr sz="2550" b="1">
                <a:solidFill>
                  <a:srgbClr val="0B7285"/>
                </a:solidFill>
              </a:rPr>
              <a:t>137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50D1C-28DE-48F7-97B7-05AEF89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50292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ADEE8-E25A-41F7-AB41-327EF6AA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5CFF9-9331-4195-B5C2-F335E523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502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7E5"/>
                </a:solidFill>
              </a:defRPr>
            </a:pPr>
            <a:r>
              <a:rPr sz="2100" b="0">
                <a:solidFill>
                  <a:srgbClr val="DDE7E5"/>
                </a:solidFill>
              </a:rPr>
              <a:t>Use the whole operating model on one realistic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DB114-DE62-4C4A-876E-9B0D2AF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036058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BA8B5-3421-4D13-B7C7-3198FA5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Scenario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9AC2C-2D17-4913-96C2-C89EA9B0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57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Capstone: teams make the full architecture, staffing, detection, IR, legal, and reporting call.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938E6-C5C2-4702-A341-A1BA593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2450"/>
            <a:ext cx="870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Capstone scenario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16C2A-1CEA-4C87-B2D6-DE1DD387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BE5E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FC62D-5B7B-4422-99CD-3E0F9D2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DEBRIEF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9707A-4344-4BA4-83E2-CC4D9F2D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B9D8-9796-4A15-9C09-3063620B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Module opening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4F91F-A7B9-40DD-AF7E-31464956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038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Teaching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1EE27-9401-4F46-A554-DCE5D2F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171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A4978-071F-42C4-B5C3-26F137BA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2E912-E162-4AFF-96CD-C532B06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Scenario: credential stuffing on a public customer portal followed by successful logins and invoice downloads.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AF1AB-51DF-44E2-93BC-DE9B7DAD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2933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F4954-C25A-4EA0-AC6D-AF34527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4AF61-43F8-4F9C-A804-F3700C36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Customer screenshots appear on social media; business asks whether regulators must be notified.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6978C-2E11-462E-B627-48F5D57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3695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D65F0-EDF3-4B1B-85E8-230F6870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E4EF7-4232-4B4F-B231-C873283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981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Teams must make architecture, staffing, detection, IR, legal, and reporting decisions from incomplete facts.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4BDE0-0D72-43D6-915D-CC284B32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558" y="4552950"/>
            <a:ext cx="10375392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B2960-A1A9-4E32-A4D1-6018D32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8E3EB-1E78-4188-A684-4C88DA1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8496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One decision, one owner, one evidence path, and one backlog item before moving 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E557F-F640-4CCD-A564-D526018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626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137 / 142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B75DC-0619-47EE-BB92-94065BCF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62650"/>
            <a:ext cx="430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7ED3A-351C-4047-9464-E4AD18F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96265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395563094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2C021F-63B6-43D7-B880-5AA1B850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2A"/>
                </a:solidFill>
              </a:defRPr>
            </a:pPr>
            <a:r>
              <a:rPr sz="3225" b="1">
                <a:solidFill>
                  <a:srgbClr val="17202A"/>
                </a:solidFill>
              </a:rPr>
              <a:t>Team task: architecture, staffing, detection, IR, legal, reporting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269CB-EF55-4D4B-B297-73075121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C7F7C-8EF8-4362-9109-65DA9A4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60530-BB6A-4267-906E-87EE6486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8A121-97DB-449F-AEBF-73764CD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049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FFEC6-1DDA-4B61-8F52-B818EB77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3EA82-B4E9-4D6A-8494-6037D91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801C0-7A1A-4D6E-90FC-282EA508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Capstone: teams make the full architecture, staffing, detection, IR, legal, and reporting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36024-348E-4C38-A5B7-66A49D5F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520B4-0958-467B-B06F-C59D3E5B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</a:defRPr>
            </a:pPr>
            <a:r>
              <a:rPr sz="12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8F4CE-C815-4007-A400-2F02B3BC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BD401-C98F-4523-A491-0E5AA2B4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2C6EB-42E8-4A47-9E34-C6D2242F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B55C1-E3C7-4311-A6B1-56742380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Identify missing telemetry, current owners, shift path, and required containment decision.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CD501-905D-4F0D-9E59-3D230124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AB3CB-4DDB-4D23-B831-E57E3DB7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9BD8E-9715-431B-85C6-622F9E38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Map detections and playbooks that should activate.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9B81B-3ABF-4447-BA55-BDA2627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36E1B-A159-4075-8D1E-5F7F4406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D1512-FD83-4F40-A352-8089C41F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who briefs executives and who owns next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C0FAA-73B7-4199-B591-E0D52FBF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143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5A00A-A774-48DC-AD0A-EC28C0E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86E82-0EAD-4E3A-8611-69BA987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143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73FC6-10F4-4D3E-8C61-64852E76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324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37C7F-A1CE-4A70-A8AB-2E7B928B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196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98CE2-853F-403A-8AA7-C5E5EF7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2770E-3BCE-4930-9E8B-1F8AB4C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196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9EB28-603D-4225-BBE0-C4D69EF4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006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BE274E-95A9-47B6-A15F-6B08FA90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096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6C2E9-2A66-4F94-BB5C-2CE8630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77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4ECB5-5F0B-426E-8CBF-189932C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09612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7E3F6-E97D-44A4-9FE2-8D23B517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7710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BA29E-9275-47BF-B22C-72DA1DE0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138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F93994-3C7C-480E-B40D-425AFE46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C054B4-457A-455E-8B33-AE2DCC7D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408083916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78CB55-A896-4EC4-9233-9A388B8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Team task: evidence and escalation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9D220-0654-4B0E-89F3-FC318EE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7282-CDAB-42C2-8E1B-22554C7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E63FD-1AEC-452D-AC73-722C3F0D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65E54-4F8A-4347-AE0F-68BD912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E3177-E855-4709-8EB6-D0DCE57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13986-29B8-46A1-8CC7-B96846F4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5E33B-1CFB-4232-9CB0-A46EEAEA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Capstone: teams make the full architecture, staffing, detection, IR, legal, and reporting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43B74-DC46-4C50-8B63-270DBC0F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3E60B-AEA9-41DB-AC03-550F39A2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</a:defRPr>
            </a:pPr>
            <a:r>
              <a:rPr sz="12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5007-EEC9-4813-A05C-8EFE02C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4FA16-3D3E-401A-99F1-EA6F074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57502-4333-407C-ABBF-77CAC0F1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6E260-C1CE-423B-9BF0-A79E418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List the first evidence package: timeline, accounts, IPs, user actions, data accessed, logs, and custody.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D38EB-838C-4EEF-AFA1-928B5B5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D6E39-5290-46BB-830F-518D6611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73AC7-92FD-407D-BB38-4C5274B0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Decide legal-impact checkpoint and notification status.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836C0-EDF2-47BC-BB69-8E5B9891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70BD6-1A76-4E39-AD2F-5EB9FCA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E83A9-D446-45D2-B421-DEE69E1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769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Write assumptions separately from confirmed facts.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9B888-A9FA-4009-A965-2008794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36729-0318-4807-AF01-2A6FCDD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A7173-A866-4186-BF12-F75F1356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9AFF8-7A1D-4D9C-A9ED-BB2F39E4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CD080-528E-4991-AFE5-1EE03652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D8932-F8FF-4288-A25C-F77E919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49889-22B0-43FC-984F-EA4F1495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FF22D-2309-44BD-8898-1DB945AD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93B1EC-849B-4444-9564-A5170A2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71EEA-548E-4EC7-A3DA-874484C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478F1-8A82-41B0-986F-996B46F0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4B674E-8952-4733-BA9A-CC9EE048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094E3-455F-4EEC-88A7-48F70B9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139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E35217-C142-479D-A8FE-00AB585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005FC8-F143-4554-9DDD-F2C8F9F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299785626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3F64C0-3DA3-41B3-B8BE-049CC11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Debrief framework by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45269-EA4E-4E06-A646-0BBD68AD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BE5E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66315-4B8B-45C5-BD48-B48E2A3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DEBRIEF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77748-0B20-4BD9-A727-5D19A8E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47476-8C36-4587-8140-63F94DD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084A6-8435-46A1-86D7-23BD4E9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5D84A-363B-411F-B1A9-80661DDD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DDDFC-0F7E-4B24-9381-E39DF2A8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Capstone: teams make the full architecture, staffing, detection, IR, legal, and reporting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8EA95-68FC-437B-AA30-95F7F0F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134350" cy="7058025"/>
          </a:xfrm>
          <a:prstGeom xmlns:a="http://schemas.openxmlformats.org/drawingml/2006/main" prst="roundRect">
            <a:avLst>
              <a:gd name="adj" fmla="val 1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B2558-A112-49E8-B730-FC0FA69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285"/>
                </a:solidFill>
              </a:defRPr>
            </a:pPr>
            <a:r>
              <a:rPr sz="1650" b="1">
                <a:solidFill>
                  <a:srgbClr val="0B7285"/>
                </a:solidFill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58160-E0C2-47C4-AFB0-1AF2F56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71750"/>
            <a:ext cx="622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49181-7B1D-48AF-8B1D-2C7B3AC9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BB814-5495-456E-8119-32245C0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9B5DA-0230-48B0-9966-0D173F64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15C51-27CB-4F6C-A1D6-C0A540D1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55C35-7D2D-4170-80A0-DFE24B77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903C3-5394-4D32-893F-12E7B77C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3027B-1BE7-46F0-BD6E-CEBA84E8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15D04-DCF3-4245-8A82-7BA8D3F4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02B87-6F94-4895-B040-F61D087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30D67-F014-4B3E-A0F6-1442F0B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D66C0-67A7-4DAB-ABD0-438259C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285"/>
                </a:solidFill>
              </a:defRPr>
            </a:pPr>
            <a:r>
              <a:rPr sz="1350" b="1">
                <a:solidFill>
                  <a:srgbClr val="0B72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9EDF9-9C6A-4077-BDA3-CDF7EEF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22277-996D-4747-97EB-253CAD19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this slide as the shape of the document, dashboard, queue, or checklist participants should create.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8A59A-EF00-4E93-909C-0686C29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What participants should take away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A495B-85FC-4BE3-B8F8-13A2AD2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21C8F-C06B-4FDA-9D13-38741F36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771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CISO: risk decision, executive message, and external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00BFB-A4E8-42A7-A593-238A6892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502F1-318A-4E22-B547-A64BCB86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771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SOC Manager: workflow, staffing, handoff, and escalation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8FFC93-F2A6-4C81-97E1-B77BD071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48250"/>
            <a:ext cx="813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023B8-4835-4528-9079-C5C5BAE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771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Analyst, engineer, and IR: evidence, detection, containment, and recovery actions.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7D3233-B8AD-4761-B1AE-B1AE6F19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140 / 142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96DE8-EB2B-46D9-BDCB-A8A69ACA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23C85-1ECC-4398-A478-87EF2AB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538592137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AD3D69-A8A2-4F54-8237-B07FBE3F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30/60/90-day action plan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63EFA-36F2-464A-A49C-34A7A317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4E04-973B-431E-B4DE-A1C16EBF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7C66"/>
                </a:solidFill>
              </a:defRPr>
            </a:pPr>
            <a:r>
              <a:rPr sz="1050" b="1">
                <a:solidFill>
                  <a:srgbClr val="0D7C66"/>
                </a:solidFill>
              </a:rPr>
              <a:t>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CDCF3-722B-4F1D-9BBC-8085C32F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ADE9-0C38-456D-A16A-3EB06B4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Team work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721F1-0E65-4A00-A6B5-0A934A28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69A08-4982-43A5-A0D2-29C3B57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FDEFC-7934-45FF-89B3-72116BCF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Capstone: teams make the full architecture, staffing, detection, IR, legal, and reporting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A1C89-C8CC-4335-A144-0CC27F7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693599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A175F-8D67-494A-B57D-2ABA31F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191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285"/>
                </a:solidFill>
              </a:defRPr>
            </a:pPr>
            <a:r>
              <a:rPr sz="1200" b="1">
                <a:solidFill>
                  <a:srgbClr val="0B7285"/>
                </a:solidFill>
              </a:rPr>
              <a:t>WORKSHOP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7C474-0969-4964-BBFB-BE6878E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Produce an artifact, not an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B9C8E-A2B6-4C74-B8A7-1ADDF278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F6CB3-6611-4CED-9C00-7FCE14B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FD3A5-23D7-4BF5-A70E-65170E86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30 days: fix critical visibility, severity, handoff, and top playbooks.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F02F5-4991-4F74-BD90-B95B6AB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BC5BA-1581-4992-A345-E7EC565C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ABF38-135B-4D59-A5A1-77FCA1DD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60 days: strengthen detection lifecycle, reporting, exercises, and ownership.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2607A-AD6F-4555-8CD0-6ED13071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67749-DA41-496C-A798-EF336731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CA102-9B06-4FEF-B63F-1BAA78D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90 days: mature governance cadence, metrics, training path, and roadmap funding.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6E53D-334F-4D21-BF46-D46CB09E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806C7-267D-4CEA-AB0D-79948B0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D7A06-95DB-4673-880E-5D356C76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224790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2865D-0ED3-49FA-8C19-2AFFA4C0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193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FB6D7-DAE2-4D49-80BE-D8D8A9E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BC3CC-2CBC-478C-9FF9-25A3CBDD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8883B-6EA4-4383-ACEE-31066E9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4689475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642B41-D4CC-410D-B1BD-1A8ED4B9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577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Missing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4EB80-A0F0-4C9E-AE77-3E04F6D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99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07AC2-4BCE-4385-8240-8F8CB3B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6DF60-B000-4B17-8A85-4930E4BE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7024" y="7131050"/>
            <a:ext cx="4739926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5ACD7-111E-406E-A9F3-FEA3FB65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2961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17B833-BEF4-4E1A-ABDE-420B04B8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141 / 142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AB252-7948-47E3-A3C1-5F61E1D3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F9E6B5-87F1-477E-AC78-05D88D59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061863506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22E85A-1EE4-49A7-BCC9-9D5D79E8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504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Final takeaways and repo re-entry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CC7CE-6A19-479F-BC6B-EE8F0B6A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524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161F1-B368-4164-8E15-3EEDB03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628650"/>
            <a:ext cx="1200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4B028-DC38-4C22-9B8D-6561679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D4678-85B7-41C7-8AFA-9096CD78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Visual repo anchor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92054-C60D-4B93-810C-40CC1230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672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3607B-9595-4FE0-9BD3-20F23864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314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285"/>
                </a:solidFill>
              </a:defRPr>
            </a:pPr>
            <a:r>
              <a:rPr sz="1050" b="1">
                <a:solidFill>
                  <a:srgbClr val="0B7285"/>
                </a:solidFill>
              </a:rPr>
              <a:t>CASE 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EDC30-7B5F-4779-930D-54EA5A3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1493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Capstone: teams make the full architecture, staffing, detection, IR, legal, and reporting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FEE6B-C1C7-4DB1-AE0F-E07E64DA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716661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pic>
        <p:nvPicPr>
          <p:cNvPr id="10" name="repo-soc-header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58a22fcb4442b"/>
          <a:srcRect xmlns:a="http://schemas.openxmlformats.org/drawingml/2006/main" l="0" t="16773" r="0" b="16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324100"/>
            <a:ext cx="7166610" cy="4762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36D5B-2929-4BBA-9882-732833F9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19950"/>
            <a:ext cx="7162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Use visuals from the GitHub repo as proof that each module points back to a reusable SOP asset.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F2988-63C5-4C26-9213-A86E050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912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85"/>
                </a:solidFill>
              </a:defRPr>
            </a:pPr>
            <a:r>
              <a:rPr sz="1875" b="1">
                <a:solidFill>
                  <a:srgbClr val="0B7285"/>
                </a:solidFill>
              </a:rPr>
              <a:t>Final takeaways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A42E-AC0D-4565-86E7-A4E6AD84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695575"/>
            <a:ext cx="912114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DC253-E207-4EC2-A2D6-5ECBB1F8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878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Use the repo as the operating manual, not as a document archive.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FFA4B-DECF-42ED-A8C9-5398FC1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476625"/>
            <a:ext cx="912114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B79AF-722A-4F40-87CF-F293C25F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19500"/>
            <a:ext cx="878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Start with scope, telemetry, people, workflow, and decision authority.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24642-1ED6-47DD-9094-68D2D508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4257675"/>
            <a:ext cx="912114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3960A-FED2-48B6-8B28-2403F2D9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878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Return to the right SOP whenever a workshop artifact becomes a real backlog item.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D1704-B95B-43AF-9548-515903E5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48250"/>
            <a:ext cx="912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Repo re-entry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F89B9-D609-4C7F-BF22-CB55BEE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5400675"/>
            <a:ext cx="819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7325E-6839-4512-909F-C8E0C108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86400"/>
            <a:ext cx="628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00-01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72829-205C-479C-AD8F-8C0B6ACC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102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Foundations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697F4-99CD-4F3D-8D12-E8A41441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102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scope, roadmap, budget, stack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AF56C-3F98-4807-A1A1-085956D3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6086475"/>
            <a:ext cx="819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620C4-7CFB-4B53-9343-C54FC89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172200"/>
            <a:ext cx="628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DDD6E-D749-428F-B571-AB8EF30A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960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FC5EA-E2AB-43FD-A194-708F8824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0960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framework, runbooks, 50+ playbooks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6BF20-599B-4074-B4B2-14105FA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6772275"/>
            <a:ext cx="819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F160A-5EED-40CD-8F13-F9D709A2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858000"/>
            <a:ext cx="628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45CFA-E5C4-48F4-88BA-0A3D4FA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7818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6EE4A5-A4AE-4591-BC19-D1F1A24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818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handoff, metrics, governance, services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3D3FC-8921-44BA-9445-CBD599F7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7458075"/>
            <a:ext cx="819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475BB4-C57B-4828-AA03-54D525A0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543800"/>
            <a:ext cx="628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8EEA9-3E2B-44CE-8D11-9B430635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676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Detection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3A18EC-E7C4-4E9F-99F0-A16AA45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676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coverage, Sigma, YARA, use cases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173D5-AAD1-4715-AA82-BE11E2A7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8143875"/>
            <a:ext cx="912114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F144F-9BC5-4175-88B2-197107AC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324850"/>
            <a:ext cx="870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Facilitator cue: point to the repo section participants should open after each exercise.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B287F-3139-45A3-8462-31BC64CA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142 / 142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761907-A637-4919-B21E-07D734D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4C4C4B-9065-477C-89BD-4AF87B2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122111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2026-04-26T18:06:57.9450000Z</dcterms:created>
  <dcterms:modified xsi:type="dcterms:W3CDTF">2026-04-26T18:06:57.9450000Z</dcterms:modified>
</coreProperties>
</file>